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10:09–10:14 · 5분</a:t>
            </a:r>
          </a:p>
          <a:p>
            <a:r>
              <a:t>발화 약 120초 · 시연/화면 확인/활동 170초 · 전환 10초 = 5분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10:14–10:15 · 1분</a:t>
            </a:r>
          </a:p>
          <a:p>
            <a:r>
              <a:t>발화 약 40초 · 시연/화면 확인/활동 10초 · 전환 10초 = 1분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10:15–10:16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10:16–10:17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10:17–10:18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10:18–10:19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10:19–10:21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10:21–10:22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10:22–10:24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10:24–10:25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10:25–10:26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10:26–10:27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10:27–10:28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10:28–10:30 · 2분</a:t>
            </a:r>
          </a:p>
          <a:p>
            <a:r>
              <a:t>발화 약 75초 · 시연/화면 확인/활동 35초 · 전환 10초 = 2분</a:t>
            </a:r>
          </a:p>
          <a:p/>
          <a:p>
            <a:r>
              <a:t>발화 대본</a:t>
            </a:r>
          </a:p>
          <a:p>
            <a:r>
              <a:t>방금 말씀드린 원리를 1분짜리 한국어 영상 두 편으로 보겠습니다. 첫 번째는 AI가 글을 쓰는 원리가 결국 다음 단어 맞히기라는 이야기입니다. 두 번째는 챗GPT가 답을 쓸 때 매번 20만 개쯤 되는 조각, 토큰 가운데 다음 하나를 확률로 고른다는 내용입니다. 같은 질문에 답이 매번 조금씩 다른 이유도 여기서 나옵니다.</a:t>
            </a:r>
          </a:p>
          <a:p/>
          <a:p>
            <a:r>
              <a:t>진행·활동</a:t>
            </a:r>
          </a:p>
          <a:p>
            <a:r>
              <a:t>영상 두 편을 틀고, 앞 장의 「한 단어씩 이어 쓰기」와 연결해 짧게 설명합니다.</a:t>
            </a:r>
          </a:p>
          <a:p/>
          <a:p>
            <a:r>
              <a:t>예상 답·검수 기준</a:t>
            </a:r>
          </a:p>
          <a:p>
            <a:r>
              <a:t>다음 단어(토큰)를 확률로 하나씩 고른다 → 수백 번 반복해 답이 된다 → 온도에 따라 답이 달라진다.</a:t>
            </a:r>
          </a:p>
          <a:p/>
          <a:p>
            <a:r>
              <a:t>공식 확인일 2026-10-09</a:t>
            </a:r>
          </a:p>
          <a:p>
            <a:r>
              <a:t>[Y1] 실용주의자 · AI가 글 쓰는 원리, 사실 이게 다예요</a:t>
            </a:r>
          </a:p>
          <a:p>
            <a:r>
              <a:t>https://www.youtube.com/shorts/r2BPBrL6-ew</a:t>
            </a:r>
          </a:p>
          <a:p>
            <a:r>
              <a:t>[Y2] 코드샌드 · LLM 원리, 챗GPT는 매번 20만 개 중 하나를 고른다</a:t>
            </a:r>
          </a:p>
          <a:p>
            <a:r>
              <a:t>https://www.youtube.com/shorts/1w2ltkVRQLg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10:32–10:34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10:34–10:35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10:35–10:36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10:36–10:37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대표적인 네 곳</a:t>
            </a:r>
          </a:p>
          <a:p>
            <a:r>
              <a:t>시간 10:37–10:38 · 1분</a:t>
            </a:r>
          </a:p>
          <a:p>
            <a:r>
              <a:t>발화 약 40초 · 시연/화면 확인/활동 10초 · 전환 10초 = 1분</a:t>
            </a:r>
          </a:p>
          <a:p/>
          <a:p>
            <a:r>
              <a:t>발화 대본</a:t>
            </a:r>
          </a:p>
          <a:p>
            <a:r>
              <a:t>업무용 AI는 대표적인 네 곳을 알아 두면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10:38–10:39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10:39–10:40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Google은 이미지와 노트북으로, Microsoft는 엑셀과 PPT로 갑니다</a:t>
            </a:r>
          </a:p>
          <a:p>
            <a:r>
              <a:t>시간 10:40–10:41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Claude vs GPT · 모델과 가격 비교</a:t>
            </a:r>
          </a:p>
          <a:p>
            <a:r>
              <a:t>시간 10:41–10:43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가장 강력한 모델이 늘 가장 잘 맞지는 않습니다</a:t>
            </a:r>
          </a:p>
          <a:p>
            <a:r>
              <a:t>시간 10:43–10:44 · 1분</a:t>
            </a:r>
          </a:p>
          <a:p>
            <a:r>
              <a:t>발화 약 40초 · 시연/화면 확인/활동 10초 · 전환 10초 = 1분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같은 모델도 「얼마나 생각할지」를 고릅니다</a:t>
            </a:r>
          </a:p>
          <a:p>
            <a:r>
              <a:t>시간 10:44–10:45 · 1분</a:t>
            </a:r>
          </a:p>
          <a:p>
            <a:r>
              <a:t>발화 약 40초 · 시연/화면 확인/활동 10초 · 전환 10초 = 1분</a:t>
            </a:r>
          </a:p>
          <a:p/>
          <a:p>
            <a:r>
              <a:t>발화 대본</a:t>
            </a:r>
          </a:p>
          <a:p>
            <a:r>
              <a:t>모델을 골랐으면 하나 더 고를 게 있습니다. 얼마나 생각하게 할지, 추론 수준입니다. 영어로 effort라고 합니다. 요즘 모델은 답하기 전에 속으로 단계를 밟아 생각합니다. 이걸 체인 오브 소트, 생각의 사슬이라고 부릅니다. effort는 이 생각을 얼마나 길게 할지 정하는 손잡이입니다. 그래프는 Anthropic이 발표한 자료입니다. 점 하나가 effort 한 단계인데, 오른쪽으로 갈수록 비용이 늘고 위로 갈수록 점수가 높습니다. 대체로 올라가지만 Opus 5를 보시면 맨 끝 max가 그 앞보다 조금 낮습니다. 무조건 최고로 올린다고 좋아지지 않는다는 뜻입니다. Claude Code는 /effort나 모델 고르는 화면에서, Codex는 모델 메뉴에서 바꿉니다. 맨 끝의 ultra는 조금 다릅니다. 혼자 더 오래 생각하는 게 아니라 하위 에이전트 여럿에게 일을 나눠 맡기는 방식인데, 뒤의 그래프 부분에서 자세히 보겠습니다. 평소에는 기본값으로 쓰시고, 여러 파일을 대조하는 어려운 일만 한 단계 올려 보세요.</a:t>
            </a:r>
          </a:p>
          <a:p/>
          <a:p>
            <a:r>
              <a:t>진행·활동</a:t>
            </a:r>
          </a:p>
          <a:p>
            <a:r>
              <a:t>화면의 완료 기준을 확인하고 다음 장으로 이동합니다.</a:t>
            </a:r>
          </a:p>
          <a:p/>
          <a:p>
            <a:r>
              <a:t>예상 답·검수 기준</a:t>
            </a:r>
          </a:p>
          <a:p>
            <a:r>
              <a:t>effort = 생각의 길이. 높을수록 비싸고 느리며 늘 더 좋지는 않다. 평소 medium, 어려운 대조는 high부터.</a:t>
            </a:r>
          </a:p>
          <a:p/>
          <a:p>
            <a:r>
              <a:t>공식 확인일 2026-10-09</a:t>
            </a:r>
          </a:p>
          <a:p>
            <a:r>
              <a:t>[N3] Anthropic · Introducing Claude Opus 5 (Frontier-Bench v0.1 effort plot)</a:t>
            </a:r>
          </a:p>
          <a:p>
            <a:r>
              <a:t>https://www.anthropic.com/news/claude-opus-5</a:t>
            </a:r>
          </a:p>
          <a:p>
            <a:r>
              <a:t>[N4] Claude Code · 모델 설정(effort 단계와 바꾸는 법)</a:t>
            </a:r>
          </a:p>
          <a:p>
            <a:r>
              <a:t>https://code.claude.com/docs/en/model-config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개인 · 조직 · API, 요금 내는 방식이 다릅니다</a:t>
            </a:r>
          </a:p>
          <a:p>
            <a:r>
              <a:t>시간 10:45–10:46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조직은 관리 화면이 있는 대신, 쓰는 만큼 냅니다</a:t>
            </a:r>
          </a:p>
          <a:p>
            <a:r>
              <a:t>시간 10:46–10:47 · 1분</a:t>
            </a:r>
          </a:p>
          <a:p>
            <a:r>
              <a:t>발화 약 40초 · 시연/화면 확인/활동 10초 · 전환 10초 = 1분</a:t>
            </a:r>
          </a:p>
          <a:p/>
          <a:p>
            <a:r>
              <a:t>발화 대본</a:t>
            </a:r>
          </a:p>
          <a:p>
            <a:r>
              <a:t>그럼 조직 요금제는 개인 구독과 뭐가 다를까요. 가장 큰 차이는 관리 화면입니다. 이걸 거버넌스라고 하는데, 관리자 대시보드에서 누가 얼마나 쓰는지, 어떤 모델에 비용이 얼마 나갔는지 사람별로 봅니다. 사람이나 팀마다 지출 한도를 정해서 얼마나 쓰게 할지도 정할 수 있습니다. Enterprise에서는 감사 로그와 Compliance API로 어떤 요청을 보냈고 어떤 답을 받았는지까지 확인할 수 있고, 기본적으로 학습에도 쓰지 않습니다. 보안 쪽으로는 훨씬 강합니다. 대신 비용이 다릅니다. 개인은 월 20달러 정액이지만 조직은 좌석값에 쓰는 만큼이 더해집니다. Anthropic이 공개한 숫자로, 기업에서 Claude Code를 쓰는 만큼 내면 개발자 한 명에 한 달 평균 150에서 250달러가 나옵니다. 정액 20달러의 7배에서 12배입니다. 코딩처럼 많이 쓰는 경우 기준이라 문서 작업만 하면 이보다 적습니다. 그래서 회사에서 도입할 때는 기능보다 한도부터 정합니다. 요금제마다 어떤 관리 기능이 있는지는 다음 장에서 보겠습니다.</a:t>
            </a:r>
          </a:p>
          <a:p/>
          <a:p>
            <a:r>
              <a:t>진행·활동</a:t>
            </a:r>
          </a:p>
          <a:p>
            <a:r>
              <a:t>화면의 완료 기준을 확인하고 다음 장으로 이동합니다.</a:t>
            </a:r>
          </a:p>
          <a:p/>
          <a:p>
            <a:r>
              <a:t>예상 답·검수 기준</a:t>
            </a:r>
          </a:p>
          <a:p>
            <a:r>
              <a:t>조직 요금제: 관리 대시보드(사람별 사용량·비용), 지출 한도, 감사 로그·Compliance API, 기본 학습 안 함. 대신 쓰는 만큼 내서 개인 정액보다 비쌀 수 있음.</a:t>
            </a:r>
          </a:p>
          <a:p/>
          <a:p>
            <a:r>
              <a:t>공식 확인일 2026-10-09</a:t>
            </a:r>
          </a:p>
          <a:p>
            <a:r>
              <a:t>[N7] Claude Code · 비용 관리(기업 배포 평균 1인 월 $150~250, 조직 지출 한도·분석)</a:t>
            </a:r>
          </a:p>
          <a:p>
            <a:r>
              <a:t>https://code.claude.com/docs/en/costs</a:t>
            </a:r>
          </a:p>
          <a:p>
            <a:r>
              <a:t>[N8] OpenAI · ChatGPT Enterprise 지출 관리·사용자별 크레딧 분석(2026.6)</a:t>
            </a:r>
          </a:p>
          <a:p>
            <a:r>
              <a:t>https://openai.com/index/chatgpt-enterprise-spend-controls</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요금제마다 쓸 수 있는 관리 기능이 다릅니다</a:t>
            </a:r>
          </a:p>
          <a:p>
            <a:r>
              <a:t>시간 10:47–10:48 · 1분</a:t>
            </a:r>
          </a:p>
          <a:p>
            <a:r>
              <a:t>발화 약 40초 · 시연/화면 확인/활동 10초 · 전환 10초 = 1분</a:t>
            </a:r>
          </a:p>
          <a:p/>
          <a:p>
            <a:r>
              <a:t>발화 대본</a:t>
            </a:r>
          </a:p>
          <a:p>
            <a:r>
              <a:t>그럼 조직 요금제의 관리 기능을 조금 더 보겠습니다. 요금제마다 쓸 수 있는 게 다릅니다. 회사 계정으로만 로그인하게 하는 SSO는 네 요금제 모두 됩니다. 입사와 퇴사를 자동으로 반영하는 SCIM, 관리자와 일반 사용자를 나누는 역할 권한, 누가 언제 무엇을 했는지 남기는 감사 로그와 Compliance API, 보관 기간 설정은 Enterprise에만 있습니다. 노션이나 메일 같은 커넥터와 MCP를 관리자가 허용한 것만 쓰게 하는 기능은 Claude는 Team부터 있습니다. 조직 요금제는 기본적으로 대화를 학습에 쓰지 않지만, 처리 계약서인 DPA도 함께 받아 두세요. 작은 팀은 Team이나 Business로 시작하고, 감사 기록과 보관 규정이 필요해지면 Enterprise를 검토합니다. 처음부터 다 켤 필요는 없습니다. 로그인, 지출 한도, 연결 허용 세 가지만 확실히 정하면 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 · 20달러 요금제를 기준으로 보면 위 단계는 얼마나 더 쓰나</a:t>
            </a:r>
          </a:p>
          <a:p>
            <a:r>
              <a:t>시간 10:48–10:49 · 1분</a:t>
            </a:r>
          </a:p>
          <a:p>
            <a:r>
              <a:t>발화 약 40초 · 시연/화면 확인/활동 10초 · 전환 10초 = 1분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두어서, 요청문이 짧아도 대체로 이런 모양으로 나옵니다. 실행할 때마다 문구와 배치는 조금씩 달라집니다.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11:08–11:11 · 3분</a:t>
            </a:r>
          </a:p>
          <a:p>
            <a:r>
              <a:t>발화 약 100초 · 시연/화면 확인/활동 70초 · 전환 10초 = 3분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작은 부탁도 바로 쓸 수 있는 도구가 됩니다</a:t>
            </a:r>
          </a:p>
          <a:p>
            <a:r>
              <a:t>시간 11:11–11:12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AI에게 일을 맡기는 방법은 다섯 단계로 발전했습니다</a:t>
            </a:r>
          </a:p>
          <a:p>
            <a:r>
              <a:t>시간 11:12–11:13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1단계 · 프롬프트</a:t>
            </a:r>
          </a:p>
          <a:p>
            <a:r>
              <a:t>시간 11:13–11:14 · 1분</a:t>
            </a:r>
          </a:p>
          <a:p>
            <a:r>
              <a:t>발화 약 40초 · 시연/화면 확인/활동 10초 · 전환 10초 = 1분</a:t>
            </a:r>
          </a:p>
          <a:p/>
          <a:p>
            <a:r>
              <a:t>발화 대본</a:t>
            </a:r>
          </a:p>
          <a:p>
            <a:r>
              <a:t>첫 번째 단계는 프롬프트입니다. 한 문장을 어떻게 쓰느냐에 따라 결과가 달라집니다. 잘 써 달라고만 하면 AI는 그럴듯한 걸 내놓고, 무엇이 맞는지는 사람이 다시 봐야 합니다. 그래서 목적, 자료, 결과 형식, 완료 기준을 적어 부탁합니다. 이 단계에서는 완료 기준 주기, 되묻는 AI에 답하기, 업무 지시서 다섯 칸을 보겠습니다.</a:t>
            </a:r>
          </a:p>
          <a:p/>
          <a:p>
            <a:r>
              <a:t>진행·활동</a:t>
            </a:r>
          </a:p>
          <a:p>
            <a:r>
              <a:t>화면의 완료 기준을 확인하고 다음 장으로 이동합니다.</a:t>
            </a:r>
          </a:p>
          <a:p/>
          <a:p>
            <a:r>
              <a:t>예상 답·검수 기준</a:t>
            </a:r>
          </a:p>
          <a:p>
            <a:r>
              <a:t>1단계 프롬프트: 원하는 결과를 분명한 말로 시키는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업무 지시서는 다섯 칸입니다. 목적, 입력, 규칙, 출력, 검수. 오른쪽은 그 칸이 빠졌을 때 생기는 일입니다. 목적이 없으면 그럴듯하지만 쓸 데 없는 결과가 나옵니다. 입력을 안 정하면 엉뚱한 파일이나 옛 버전을 읽습니다. 규칙이 없으면 AI가 기준을 짐작해서 계산하고, 출력을 안 정하면 결과를 다시 옮기고 고쳐야 합니다. 마지막으로 검수 기준이 없으면 틀려도 다 됐다고 끝납니다. 프롬프트를 길게 쓰는 기술보다 이 다섯 칸을 빠뜨리지 않는 게 훨씬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실제로 채우면 이렇습니다. 오후에 직접 해 볼 매장 매출 정리입니다. 목적은 10월 매장별 매출을 운영회의에 보고할 한 장으로 만드는 것입니다. 입력은 A, B, C 세 매장 엑셀과 상품 기준표입니다. 규칙은 처리규칙 파일의 순서대로 검사하고, 오류가 있는 행은 빼되 사유와 함께 따로 남깁니다. 출력은 결과 폴더의 요약 엑셀이고 합계는 수식으로 넣게 합니다. 검수는 원본 150행이 통과와 제외의 합과 같은지, 원본 파일이 그대로인지 봅니다. 이건 예시입니다. 여러분 업무에 맞게 다섯 칸의 내용만 바꿔 쓰시면 되고, 칸을 비워 두면 AI가 그 칸을 짐작해서 채운다는 점만 기억하세요.</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2단계 · 컨텍스트</a:t>
            </a:r>
          </a:p>
          <a:p>
            <a:r>
              <a:t>시간 11:18–11:19 · 1분</a:t>
            </a:r>
          </a:p>
          <a:p>
            <a:r>
              <a:t>발화 약 40초 · 시연/화면 확인/활동 10초 · 전환 10초 = 1분</a:t>
            </a:r>
          </a:p>
          <a:p/>
          <a:p>
            <a:r>
              <a:t>발화 대본</a:t>
            </a:r>
          </a:p>
          <a:p>
            <a:r>
              <a:t>두 번째 단계는 컨텍스트입니다. 아무리 말을 잘해도 AI는 우리 회사 규정이나 지난달 매출을 모릅니다. 그래서 이번 일에 필요한 자료를 골라서 함께 줘야 합니다. 이 단계에서는 맞는 자료를 고르는 법, AI가 한 번에 볼 수 있는 양, 그리고 문서에서 찾아 붙이는 RAG를 보겠습니다.</a:t>
            </a:r>
          </a:p>
          <a:p/>
          <a:p>
            <a:r>
              <a:t>진행·활동</a:t>
            </a:r>
          </a:p>
          <a:p>
            <a:r>
              <a:t>화면의 완료 기준을 확인하고 다음 장으로 이동합니다.</a:t>
            </a:r>
          </a:p>
          <a:p/>
          <a:p>
            <a:r>
              <a:t>예상 답·검수 기준</a:t>
            </a:r>
          </a:p>
          <a:p>
            <a:r>
              <a:t>2단계 컨텍스트: 이번 일에 맞는 자료를 골라 함께 주는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컨텍스트(Context)는 AI에게 줄 자료를 고르는 일입니다</a:t>
            </a:r>
          </a:p>
          <a:p>
            <a:r>
              <a:t>시간 11:19–11:20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AI가 한 번에 볼 수 있는 양에는 한도가 있습니다</a:t>
            </a:r>
          </a:p>
          <a:p>
            <a:r>
              <a:t>시간 11:20–11:21 · 1분</a:t>
            </a:r>
          </a:p>
          <a:p>
            <a:r>
              <a:t>발화 약 40초 · 시연/화면 확인/활동 10초 · 전환 10초 = 1분</a:t>
            </a:r>
          </a:p>
          <a:p/>
          <a:p>
            <a:r>
              <a:t>발화 대본</a:t>
            </a:r>
          </a:p>
          <a:p>
            <a:r>
              <a:t>여기서 꼭 알아 두실 게 하나 있습니다. AI가 한 번에 볼 수 있는 양에는 한도가 있습니다. 이걸 컨텍스트 창이라고 하고, 토큰이라는 단위로 셉니다. 토큰은 AI가 글을 잘게 나눈 조각입니다. 지금 Claude 최신 모델은 한 번에 100만 토큰, Codex 기본 모델은 27만 토큰 정도를 봅니다. 꽤 많아 보이지만 회사 자료를 몽땅 넣으면 금방 찹니다. 가득 채울수록 앞쪽 내용을 놓치기 쉽고 비용도 늘어납니다. 그래서 앞에서 배운 프롬프트는 짧고 분명하게, 자료는 이번 일에 필요한 것만 골라 넣는 게 중요합니다. 이걸 잘하는 게 컨텍스트 관리입니다. 그럼 필요한 자료를 누가 골라 줄까요. 질문이 오면 문서함에서 찾고, 질문 옆에 붙이고, 그 근거로 답하게 하는 길을 미리 이어 둔 것을 RAG 파이프라인이라고 합니다. 어렵게 들리지만, 뒤에서 배울 MCP로 노션이나 컨플루언스 같은 회사 문서함을 AI에 연결하면 AI가 필요할 때 거기서 찾아 붙여 답합니다. 우리 입장에서는 그게 RAG입니다.</a:t>
            </a:r>
          </a:p>
          <a:p/>
          <a:p>
            <a:r>
              <a:t>진행·활동</a:t>
            </a:r>
          </a:p>
          <a:p>
            <a:r>
              <a:t>화면의 완료 기준을 확인하고 다음 장으로 이동합니다.</a:t>
            </a:r>
          </a:p>
          <a:p/>
          <a:p>
            <a:r>
              <a:t>예상 답·검수 기준</a:t>
            </a:r>
          </a:p>
          <a:p>
            <a:r>
              <a:t>컨텍스트 창(토큰 한도) 때문에 프롬프트와 자료를 골라 넣는다. RAG 파이프라인은 찾기·붙이기·답하기를 자동으로 잇는 길이고, 회사 문서를 MCP로 연결하면 같은 원리다.</a:t>
            </a:r>
          </a:p>
          <a:p/>
          <a:p>
            <a:r>
              <a:t>공식 확인일 2026-10-09</a:t>
            </a:r>
          </a:p>
          <a:p>
            <a:r>
              <a:t>[N9] Anthropic · 모델 개요(컨텍스트 창 100만 토큰)</a:t>
            </a:r>
          </a:p>
          <a:p>
            <a:r>
              <a:t>https://platform.claude.com/docs/en/about-claude/models/overview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RAG(검색 증강 생성), 답하기 전에 우리 문서를 찾아 붙입니다</a:t>
            </a:r>
          </a:p>
          <a:p>
            <a:r>
              <a:t>시간 11:21–11:22 · 1분</a:t>
            </a:r>
          </a:p>
          <a:p>
            <a:r>
              <a:t>발화 약 40초 · 시연/화면 확인/활동 10초 · 전환 10초 = 1분</a:t>
            </a:r>
          </a:p>
          <a:p/>
          <a:p>
            <a:r>
              <a:t>발화 대본</a:t>
            </a:r>
          </a:p>
          <a:p>
            <a:r>
              <a:t>RAG는 우리말로 검색 증강 생성입니다. 영어 Retrieval, Augmented, Generation의 앞 글자입니다. 순서대로 보겠습니다. 질문이 들어옵니다. 9월 행사 신청 마감이 언제냐. 이건 AI가 공부한 지식으로는 알 수 없는 우리 회사 일입니다. 그래서 먼저 검색합니다. 승인된 문서함에서 관련 문서, 여기서는 운영안 v3를 찾습니다. 다음이 증강입니다. 찾은 문서에서 신청 마감 9월 8일이라는 문장을 뽑아 질문에 덧붙입니다. 질문을 근거로 보강한다고 해서 증강입니다. 마지막으로 생성입니다. AI가 그 근거를 보고 9월 8일입니다, 운영안 v3, 3쪽이라고 출처까지 붙여 답합니다. 근거를 못 찾으면 없다고 답하게 해야 지어내지 않습니다. 모델을 다시 학습시키는 게 아니라 시험 볼 때 책을 펴 주는 것, 오픈북 시험이라고 생각하시면 됩니다. 이 찾기, 덧붙이기, 답하기를 자동으로 이어 둔 것이 RAG 파이프라인이고, 회사 문서함을 MCP로 연결해 AI가 찾아 읽게 하면 우리 쪽에서 보기에는 같은 일을 하는 겁니다.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1분 영상 · RAG는 AI에게 오픈북 시험을 보게 하는 방법입니다</a:t>
            </a:r>
          </a:p>
          <a:p>
            <a:r>
              <a:t>시간 11:22–11:23 · 1분</a:t>
            </a:r>
          </a:p>
          <a:p>
            <a:r>
              <a:t>발화 약 40초 · 시연/화면 확인/활동 10초 · 전환 10초 = 1분</a:t>
            </a:r>
          </a:p>
          <a:p/>
          <a:p>
            <a:r>
              <a:t>발화 대본</a:t>
            </a:r>
          </a:p>
          <a:p>
            <a:r>
              <a:t>1분짜리 한국어 영상으로 한 번 더 보겠습니다. RAG를 오픈북 시험에 비유한 영상입니다. AI는 원래 외운 것으로 답하는데, RAG는 질문이 올 때마다 관련 문서를 찾아 펴 주고 그걸 보면서 답하게 합니다. 영상 끝에 나오는 것처럼, 엉뚱한 문서를 찾아 오면 답도 엉뚱해질 수 있습니다. 그래서 어떤 문서함을 찾게 할지 정하는 게 중요합니다.</a:t>
            </a:r>
          </a:p>
          <a:p/>
          <a:p>
            <a:r>
              <a:t>진행·활동</a:t>
            </a:r>
          </a:p>
          <a:p>
            <a:r>
              <a:t>영상을 틀고, 앞 장의 질문 → 검색 → 증강 → 생성과 이어서 짧게 정리합니다.</a:t>
            </a:r>
          </a:p>
          <a:p/>
          <a:p>
            <a:r>
              <a:t>예상 답·검수 기준</a:t>
            </a:r>
          </a:p>
          <a:p>
            <a:r>
              <a:t>RAG = 오픈북 시험. 질문마다 문서를 찾아 펴 주고 그걸 보고 답한다. 엉뚱한 문서를 찾으면 답도 엉뚱해진다.</a:t>
            </a:r>
          </a:p>
          <a:p/>
          <a:p>
            <a:r>
              <a:t>공식 확인일 2026-10-09</a:t>
            </a:r>
          </a:p>
          <a:p>
            <a:r>
              <a:t>[Y10] 로빈테크(RobinTech) · RAG: AI한테 오픈북 시험을 보게 하는 법</a:t>
            </a:r>
          </a:p>
          <a:p>
            <a:r>
              <a:t>https://www.youtube.com/shorts/Gm0VmDJNBAU</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3단계 · 하네스</a:t>
            </a:r>
          </a:p>
          <a:p>
            <a:r>
              <a:t>시간 11:23–11:24 · 1분</a:t>
            </a:r>
          </a:p>
          <a:p>
            <a:r>
              <a:t>발화 약 40초 · 시연/화면 확인/활동 10초 · 전환 10초 = 1분</a:t>
            </a:r>
          </a:p>
          <a:p/>
          <a:p>
            <a:r>
              <a:t>발화 대본</a:t>
            </a:r>
          </a:p>
          <a:p>
            <a:r>
              <a:t>세 번째 단계는 하네스입니다. 말과 자료를 잘 줘도 매번 같은 주의사항을 반복하기는 어렵습니다. 그래서 AI가 일하는 환경 자체를 만들어 둡니다. 지킬 규칙, 쓸 도구, 허락할 권한, 남길 기록입니다. 이 단계에서는 규칙 파일인 AGENTS.md를 보고, 같은 부탁을 AGENTS.md가 있을 때와 없을 때 보내서 AI가 어떻게 다르게 일하는지 직접 보여 드리겠습니다.</a:t>
            </a:r>
          </a:p>
          <a:p/>
          <a:p>
            <a:r>
              <a:t>진행·활동</a:t>
            </a:r>
          </a:p>
          <a:p>
            <a:r>
              <a:t>화면의 완료 기준을 확인하고 다음 장으로 이동합니다.</a:t>
            </a:r>
          </a:p>
          <a:p/>
          <a:p>
            <a:r>
              <a:t>예상 답·검수 기준</a:t>
            </a:r>
          </a:p>
          <a:p>
            <a:r>
              <a:t>3단계 하네스: AI가 일하는 환경, 곧 규칙·도구·권한·기록을 갖추는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하네스(Harness)는 매번 지킬 규칙을 적어 두는 일입니다</a:t>
            </a:r>
          </a:p>
          <a:p>
            <a:r>
              <a:t>시간 11:24–11:25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LLM에 하네스를 입히면 AI 에이전트가 됩니다</a:t>
            </a:r>
          </a:p>
          <a:p>
            <a:r>
              <a:t>시간 11:25–11:26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AGENTS.md 한 장이면 Claude Code와 Codex가 같은 규칙을 읽습니다</a:t>
            </a:r>
          </a:p>
          <a:p>
            <a:r>
              <a:t>시간 11:26–11:27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선택 시연(예시) · 같은 부탁을 AGENTS.md 없이, 있게 보냅니다</a:t>
            </a:r>
          </a:p>
          <a:p>
            <a:r>
              <a:t>시간 11:27–11:29 · 2분</a:t>
            </a:r>
          </a:p>
          <a:p>
            <a:r>
              <a:t>발화 약 75초 · 시연/화면 확인/활동 35초 · 전환 10초 = 2분</a:t>
            </a:r>
          </a:p>
          <a:p/>
          <a:p>
            <a:r>
              <a:t>발화 대본</a:t>
            </a:r>
          </a:p>
          <a:p>
            <a:r>
              <a:t>이 시연은 필수가 아니라 예시입니다. 시간이 되면 직접 보여 드리고, 없으면 다음 장의 결과로 설명하겠습니다. 이 시연만 따로 하는 폴더입니다. 입력자료에는 행사 메모 하나만 있고 AGENTS.md는 아직 없습니다. 먼저 행사 메모로 조합원 공지문을 만들어 달라고 보내 보겠습니다. 공지문이 잘 나옵니다. 요즘 AI는 이 정도는 원래 잘합니다. 이번엔 오른쪽 요청문으로 우리 팀 규칙을 AGENTS.md에 적겠습니다. 파일 이름은 날짜_업무_v1, 맨 위에는 초안 표시, 끝에는 담당자가 확인할 것. 이런 건 AI가 알아서 맞힐 수 없는 우리 팀만의 약속입니다. 그리고 새 대화에서 아까와 똑같은 부탁을 보냅니다. 두 공지문을 나란히 놓고 보겠습니다.</a:t>
            </a:r>
          </a:p>
          <a:p/>
          <a:p>
            <a:r>
              <a:t>진행·활동</a:t>
            </a:r>
          </a:p>
          <a:p>
            <a:r>
              <a:t>화면의 완료 기준을 확인하고 다음 장으로 이동합니다.</a:t>
            </a:r>
          </a:p>
          <a:p/>
          <a:p>
            <a:r>
              <a:t>예상 답·검수 기준</a:t>
            </a:r>
          </a:p>
          <a:p>
            <a:r>
              <a:t>같은 부탁도 AGENTS.md가 있으면 파일 이름 · 맨 위 표시 · 확인 목록 같은 팀 규칙을 매번 지킨다.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예시 결과 · AGENTS.md 여섯 줄이 팀 방식을 매번 지키게 합니다</a:t>
            </a:r>
          </a:p>
          <a:p>
            <a:r>
              <a:t>시간 11:29–11:30 · 1분</a:t>
            </a:r>
          </a:p>
          <a:p>
            <a:r>
              <a:t>발화 약 40초 · 시연/화면 확인/활동 10초 · 전환 10초 = 1분</a:t>
            </a:r>
          </a:p>
          <a:p/>
          <a:p>
            <a:r>
              <a:t>발화 대본</a:t>
            </a:r>
          </a:p>
          <a:p>
            <a:r>
              <a:t>리허설에서 실제로 돌려 본 예시 결과입니다. 왼쪽이 그때 만든 AGENTS.md 전문입니다. 여섯 줄입니다. AGENTS.md가 없을 때도 공지문 자체는 잘 나왔습니다. 시간과 장소는 확인 필요로 남겼고요. 그런데 파일 이름은 제각각이었고, 맨 위 초안 표시도, 끝의 확인 목록도 없었습니다. 메모에 없는 「정해지는 대로 다시 알려 드리겠습니다」 같은 약속 문장도 들어갔습니다. 규칙이 있을 때는 파일 이름이 날짜_공지_v1로 나왔고, 맨 위에 초안 표시가, 끝에는 담당자가 확인할 것 세 줄이 들어갔습니다. 하네스는 AI를 더 똑똑하게 만드는 게 아니라, 우리 팀 방식대로 매번 같게 일하게 만드는 장치입니다. 팀이 같은 AGENTS.md를 쓰면 누가 맡겨도 결과물 모양이 같습니다.</a:t>
            </a:r>
          </a:p>
          <a:p/>
          <a:p>
            <a:r>
              <a:t>진행·활동</a:t>
            </a:r>
          </a:p>
          <a:p>
            <a:r>
              <a:t>화면의 완료 기준을 확인하고 다음 장으로 이동합니다.</a:t>
            </a:r>
          </a:p>
          <a:p/>
          <a:p>
            <a:r>
              <a:t>예상 답·검수 기준</a:t>
            </a:r>
          </a:p>
          <a:p>
            <a:r>
              <a:t>AGENTS.md 있음: 날짜_업무_v1 이름, [초안] 표시, 담당자 확인 목록. 없음: 공지문은 잘 나왔지만 팀 규칙은 하나도 없음.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4단계 · 루프와 목표</a:t>
            </a:r>
          </a:p>
          <a:p>
            <a:r>
              <a:t>시간 11:30–11:31 · 1분</a:t>
            </a:r>
          </a:p>
          <a:p>
            <a:r>
              <a:t>발화 약 40초 · 시연/화면 확인/활동 10초 · 전환 10초 = 1분</a:t>
            </a:r>
          </a:p>
          <a:p/>
          <a:p>
            <a:r>
              <a:t>발화 대본</a:t>
            </a:r>
          </a:p>
          <a:p>
            <a:r>
              <a:t>네 번째 단계는 루프와 목표입니다. 한 번 시키고 끝내는 게 아니라, 확인할 기준을 정해 두고 그걸 통과할 때까지 AI가 스스로 고치게 합니다. 예를 들면 원본 150행이 통과와 제외의 합과 맞을 때까지 다시 계산하게 하는 겁니다. 기준 정하기, 목표 걸기, 계속 맡겨 두는 모습을 차례로 보겠습니다.</a:t>
            </a:r>
          </a:p>
          <a:p/>
          <a:p>
            <a:r>
              <a:t>진행·활동</a:t>
            </a:r>
          </a:p>
          <a:p>
            <a:r>
              <a:t>화면의 완료 기준을 확인하고 다음 장으로 이동합니다.</a:t>
            </a:r>
          </a:p>
          <a:p/>
          <a:p>
            <a:r>
              <a:t>예상 답·검수 기준</a:t>
            </a:r>
          </a:p>
          <a:p>
            <a:r>
              <a:t>4단계 루프 · 목표: 확인할 기준을 통과할 때까지 스스로 고치게 하는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루프(Loop)는 기준을 채울 때까지 스스로 고치게 합니다</a:t>
            </a:r>
          </a:p>
          <a:p>
            <a:r>
              <a:t>시간 11:31–11:32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목표(Goal)를 걸면 기준을 채울 때까지 반복합니다</a:t>
            </a:r>
          </a:p>
          <a:p>
            <a:r>
              <a:t>시간 11:32–11:33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계속 맡겨 두는 AI, 영상으로 봅니다</a:t>
            </a:r>
          </a:p>
          <a:p>
            <a:r>
              <a:t>시간 11:33–11:34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5단계 · 그래프</a:t>
            </a:r>
          </a:p>
          <a:p>
            <a:r>
              <a:t>시간 11:34–11:35 · 1분</a:t>
            </a:r>
          </a:p>
          <a:p>
            <a:r>
              <a:t>발화 약 40초 · 시연/화면 확인/활동 10초 · 전환 10초 = 1분</a:t>
            </a:r>
          </a:p>
          <a:p/>
          <a:p>
            <a:r>
              <a:t>발화 대본</a:t>
            </a:r>
          </a:p>
          <a:p>
            <a:r>
              <a:t>마지막 다섯 번째 단계는 그래프입니다. 일 하나를 AI 하나에게 다 맡기지 않고, 역할을 나눠 여러 AI를 잇습니다. 작성은 Claude, 검수는 Codex처럼요. 오후 실습에서도 직접 해 봅니다. 이 단계에서는 역할 나누기, 하위 에이전트에게 나눠 맡기는 울트라, 그리고 마지막 확인은 사람이 한다는 원칙을 보겠습니다.</a:t>
            </a:r>
          </a:p>
          <a:p/>
          <a:p>
            <a:r>
              <a:t>진행·활동</a:t>
            </a:r>
          </a:p>
          <a:p>
            <a:r>
              <a:t>화면의 완료 기준을 확인하고 다음 장으로 이동합니다.</a:t>
            </a:r>
          </a:p>
          <a:p/>
          <a:p>
            <a:r>
              <a:t>예상 답·검수 기준</a:t>
            </a:r>
          </a:p>
          <a:p>
            <a:r>
              <a:t>5단계 그래프: 여러 AI에게 역할을 나눠 순서대로, 또는 동시에 잇는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역할은 나눠도, 마지막 확인은 한 사람이 책임집니다</a:t>
            </a:r>
          </a:p>
          <a:p>
            <a:r>
              <a:t>시간 11:35–11:36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울트라(ultra): 대장 AI가 하위 에이전트에게 나눠 맡깁니다</a:t>
            </a:r>
          </a:p>
          <a:p>
            <a:r>
              <a:t>시간 11:36–11:37 · 1분</a:t>
            </a:r>
          </a:p>
          <a:p>
            <a:r>
              <a:t>발화 약 40초 · 시연/화면 확인/활동 10초 · 전환 10초 = 1분</a:t>
            </a:r>
          </a:p>
          <a:p/>
          <a:p>
            <a:r>
              <a:t>발화 대본</a:t>
            </a:r>
          </a:p>
          <a:p>
            <a:r>
              <a:t>앞에서 추론 수준을 보여 드릴 때 맨 끝에 ultra가 있었죠. 이제 그래프 이야기를 했으니 자세히 보겠습니다. max는 AI 하나가 한 대화 안에서 오래 생각하는 겁니다. ultra는 다릅니다. 대장 AI가 일을 쪼개서 하위 에이전트 여럿에게 동시에 맡기고, 결과를 모아 서로 교차 확인합니다. 방금 본 그래프를 AI가 스스로 짜는 셈입니다. Codex에서는 추론 수준 메뉴에서 ultra를 고르고, Claude Code에서는 /effort ultracode를 켜거나 요청문에 ultracode라고 씁니다. 계정과 모델에 따라 안 보일 수도 있습니다. 주의할 점은 비용입니다. 여러 AI가 동시에 일하니 토큰을 몇 배 쓰고 사용량 한도도 빨리 찹니다. 매장 파일 여러 개를 대조하는 것처럼 나눌 수 있는 큰일에만 쓰세요. 오후 실습에서 하위 에이전트에게 매장 파일을 나눠 맡기는 것도 같은 원리입니다.</a:t>
            </a:r>
          </a:p>
          <a:p/>
          <a:p>
            <a:r>
              <a:t>진행·활동</a:t>
            </a:r>
          </a:p>
          <a:p>
            <a:r>
              <a:t>화면의 완료 기준을 확인하고 다음 장으로 이동합니다.</a:t>
            </a:r>
          </a:p>
          <a:p/>
          <a:p>
            <a:r>
              <a:t>예상 답·검수 기준</a:t>
            </a:r>
          </a:p>
          <a:p>
            <a:r>
              <a:t>max = 한 AI가 오래 생각. ultra = 대장 AI가 하위 에이전트에게 나눠 맡기고 모아서 검수. 비용이 크니 큰일에만.</a:t>
            </a:r>
          </a:p>
          <a:p/>
          <a:p>
            <a:r>
              <a:t>공식 확인일 2026-10-09</a:t>
            </a:r>
          </a:p>
          <a:p>
            <a:r>
              <a:t>[N5] OpenAI Codex · Subagents(ultra 위임)</a:t>
            </a:r>
          </a:p>
          <a:p>
            <a:r>
              <a:t>https://developers.openai.com/codex/subagents</a:t>
            </a:r>
          </a:p>
          <a:p>
            <a:r>
              <a:t>[N6] Claude Code · 동적 워크플로(ultracode)</a:t>
            </a:r>
          </a:p>
          <a:p>
            <a:r>
              <a:t>https://code.claude.com/docs/en/workflows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도구 연결 · MCP와 스킬</a:t>
            </a:r>
          </a:p>
          <a:p>
            <a:r>
              <a:t>시간 11:37–11:38 · 1분</a:t>
            </a:r>
          </a:p>
          <a:p>
            <a:r>
              <a:t>발화 약 40초 · 시연/화면 확인/활동 10초 · 전환 10초 = 1분</a:t>
            </a:r>
          </a:p>
          <a:p/>
          <a:p>
            <a:r>
              <a:t>발화 대본</a:t>
            </a:r>
          </a:p>
          <a:p>
            <a:r>
              <a:t>AI에게 일을 맡기는 다섯 단계를 봤습니다. 이제부터는 AI 손에 쥐여 줄 도구입니다. 네 가지입니다. 첫째, MCP와 앱 연결. 노션이나 드라이브, 메일처럼 우리가 쓰는 서비스를 AI에 꽂는 공통 규격입니다. 둘째, 메모리. 지난 대화에서 알게 된 것을 기억합니다. 셋째, 컴퓨터 사용. AI가 화면을 보고 직접 앱을 조작합니다. 넷째, 스킬. 엑셀이나 PPT, 그림 만들기처럼 일하는 방법을 담아 둔 설명서 파일입니다. 하나씩 보겠습니다.</a:t>
            </a:r>
          </a:p>
          <a:p/>
          <a:p>
            <a:r>
              <a:t>진행·활동</a:t>
            </a:r>
          </a:p>
          <a:p>
            <a:r>
              <a:t>화면의 완료 기준을 확인하고 다음 장으로 이동합니다.</a:t>
            </a:r>
          </a:p>
          <a:p/>
          <a:p>
            <a:r>
              <a:t>예상 답·검수 기준</a:t>
            </a:r>
          </a:p>
          <a:p>
            <a:r>
              <a:t>도구 연결 = MCP·앱(자료 연결), 메모리(기억), 컴퓨터 사용(화면 조작), 스킬(일하는 방법).</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앱 · MCP · 스킬로 AI를 우리 도구에 연결합니다</a:t>
            </a:r>
          </a:p>
          <a:p>
            <a:r>
              <a:t>시간 11:38–11:39 · 1분</a:t>
            </a:r>
          </a:p>
          <a:p>
            <a:r>
              <a:t>발화 약 40초 · 시연/화면 확인/활동 10초 · 전환 10초 = 1분</a:t>
            </a:r>
          </a:p>
          <a:p/>
          <a:p>
            <a:r>
              <a:t>발화 대본</a:t>
            </a:r>
          </a:p>
          <a:p>
            <a:r>
              <a:t>다섯 단계를 다 봤으니, 이제 AI에 붙여 쓰는 도구를 보겠습니다. MCP, 메모리, 컴퓨터 사용, 그리고 스킬입니다. 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MCP로 팀의 지식 창고를 AI에게 보여 줍니다</a:t>
            </a:r>
          </a:p>
          <a:p>
            <a:r>
              <a:t>시간 11:39–11:40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메모리로 기억하고 컴퓨터 사용으로 화면까지 다룹니다</a:t>
            </a:r>
          </a:p>
          <a:p>
            <a:r>
              <a:t>시간 11:40–11:41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강사 시연 · AI에게 계산기를 눌러 보게 합니다</a:t>
            </a:r>
          </a:p>
          <a:p>
            <a:r>
              <a:t>시간 11:41–11:43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스킬 = 에이전트에게 쥐여 주는 추가 도구</a:t>
            </a:r>
          </a:p>
          <a:p>
            <a:r>
              <a:t>시간 11:43–11:44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스킬을 열어 보면 설명서 한 장(SKILL.md)이 나옵니다</a:t>
            </a:r>
          </a:p>
          <a:p>
            <a:r>
              <a:t>시간 11:44–11:45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요즘 제가 자주 쓰는 스킬은 ELI5입니다</a:t>
            </a:r>
          </a:p>
          <a:p>
            <a:r>
              <a:t>시간 11:45–11:46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ELI5 말고도 제가 자주 쓰는 스킬 네 가지</a:t>
            </a:r>
          </a:p>
          <a:p>
            <a:r>
              <a:t>시간 11:46–11:47 · 1분</a:t>
            </a:r>
          </a:p>
          <a:p>
            <a:r>
              <a:t>발화 약 40초 · 시연/화면 확인/활동 10초 · 전환 10초 = 1분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번째는 OpenAI가 만든 이미지 생성 스킬, imagegen입니다. Codex에는 기본으로 들어 있어서 따로 설치하지 않아도 됩니다. 행사 포스터 그림이나 안내문 삽화를 만들어 달라고 하면 그림 파일로 저장해 줍니다. 오후 손풀기에서 직접 해 봅니다.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지우기)·엑셀·파워포인트·이미지 만들기(imagegen).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[N10] skills.sh · OpenAI 이미지 생성 스킬(imagegen)</a:t>
            </a:r>
          </a:p>
          <a:p>
            <a:r>
              <a:t>https://www.skills.sh/openai/skills/imagegen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모르면 거꾸로 물어 가며 배웁니다 (탑다운 학습)</a:t>
            </a:r>
          </a:p>
          <a:p>
            <a:r>
              <a:t>시간 11:47–11:48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바로 쓰는 질문 스킬 여섯 가지</a:t>
            </a:r>
          </a:p>
          <a:p>
            <a:r>
              <a:t>시간 11:48–11:49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앱에서는 스킬을 이렇게 켜고 끕니다</a:t>
            </a:r>
          </a:p>
          <a:p>
            <a:r>
              <a:t>시간 11:49–11:50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개인정보를 지키며</a:t>
            </a:r>
          </a:p>
          <a:p>
            <a:r>
              <a:t>우리 업무에 적용합니다</a:t>
            </a:r>
          </a:p>
          <a:p>
            <a:r>
              <a:t>시간 12:00–12:01 · 1분</a:t>
            </a:r>
          </a:p>
          <a:p>
            <a:r>
              <a:t>발화 약 40초 · 시연/화면 확인/활동 10초 · 전환 10초 = 1분</a:t>
            </a:r>
          </a:p>
          <a:p/>
          <a:p>
            <a:r>
              <a:t>발화 대본</a:t>
            </a:r>
          </a:p>
          <a:p>
            <a:r>
              <a:t>마지막 한 시간입니다. 먼저 실제 업무 엑셀처럼 시트가 나뉘고 ID가 안 맞는 자료를 AI로 매칭하고 정리하는 방법을 봅니다. 그런데 그 표에 이름이나 전화번호 같은 개인정보가 있으면 어떻게 할지, 가명처리와 국외 이전, 계정과 권한을 이어서 보겠습니다. 마지막으로 우리 부서의 작은 업무부터 시작하는 방법을 정리합니다. 시연에는 가상 자료만 씁니다.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같은 상품인데 매장마다 이름과 코드가 다릅니다</a:t>
            </a:r>
          </a:p>
          <a:p>
            <a:r>
              <a:t>시간 12:01–12:02 · 1분</a:t>
            </a:r>
          </a:p>
          <a:p>
            <a:r>
              <a:t>발화 약 40초 · 시연/화면 확인/활동 10초 · 전환 10초 = 1분</a:t>
            </a:r>
          </a:p>
          <a:p/>
          <a:p>
            <a:r>
              <a:t>발화 대본</a:t>
            </a:r>
          </a:p>
          <a:p>
            <a:r>
              <a:t>3부는 실제 업무 데이터를 AI로 다루는 이야기로 시작하겠습니다. 매장 세 곳에서 9월 판매 파일을 받았다고 해 보겠습니다. 그런데 같은 두부인데 A매장은 P01 유기농 두부, B매장은 띄어쓰기 없이 유기농두부, C점은 자기네 코드 0001에 두부 유기농이라고 적었습니다. 콩나물은 무농약이 빠지기도 하고, 달걀은 10구, 10알로 단위가 다릅니다. 참기름 옆에는 비슷한 들기름도 있습니다. 실제 업무 엑셀이 대부분 이렇습니다. 사람이 하나씩 맞추면 오래 걸리고 실수합니다. 이걸 AI에게 시켜 보겠습니다.</a:t>
            </a:r>
          </a:p>
          <a:p/>
          <a:p>
            <a:r>
              <a:t>진행·활동</a:t>
            </a:r>
          </a:p>
          <a:p>
            <a:r>
              <a:t>화면의 완료 기준을 확인하고 다음 장으로 이동합니다.</a:t>
            </a:r>
          </a:p>
          <a:p/>
          <a:p>
            <a:r>
              <a:t>예상 답·검수 기준</a:t>
            </a:r>
          </a:p>
          <a:p>
            <a:r>
              <a:t>같은 상품도 매장마다 이름·코드가 다르다. 사람이 하나씩 맞추면 오래 걸리고 실수한다.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AI에게 같은 상품을 찾아 한 파일로 합치게 합니다</a:t>
            </a:r>
          </a:p>
          <a:p>
            <a:r>
              <a:t>시간 12:02–12:04 · 2분</a:t>
            </a:r>
          </a:p>
          <a:p>
            <a:r>
              <a:t>발화 약 75초 · 시연/화면 확인/활동 35초 · 전환 10초 = 2분</a:t>
            </a:r>
          </a:p>
          <a:p/>
          <a:p>
            <a:r>
              <a:t>발화 대본</a:t>
            </a:r>
          </a:p>
          <a:p>
            <a:r>
              <a:t>요청은 이렇게 합니다. 세 파일을 하나로 합치되, 표준 상품목록의 상품ID 하나로 맞추라고 합니다. 중요한 건 두 가지입니다. 같은 상품이라고 판단한 근거를 적게 하고, 확실하지 않은 건 확인 필요로 남기게 합니다. AI는 이름의 띄어쓰기와 단어 순서, 단위 표기를 비교하고, 금액을 수량으로 나눈 단가가 기준단가와 같은지까지 봅니다. 제가 실제로 돌려 보니 13건이 한 파일로 합쳐졌고, 11건은 근거와 함께 맞췄고, 2건은 확인 필요로 남았습니다.</a:t>
            </a:r>
          </a:p>
          <a:p/>
          <a:p>
            <a:r>
              <a:t>진행·활동</a:t>
            </a:r>
          </a:p>
          <a:p>
            <a:r>
              <a:t>거래행 10개가 고객 10명을 의미하는지 질문.</a:t>
            </a:r>
          </a:p>
          <a:p/>
          <a:p>
            <a:r>
              <a:t>예상 답·검수 기준</a:t>
            </a:r>
          </a:p>
          <a:p>
            <a:r>
              <a:t>표준 ID를 기준으로, 근거를 적고, 모르면 [확인 필요]. 원본은 그대로 두고 새 파일로.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AI가 맞춘 결과 · 근거를 남기고, 모르면 멈춥니다</a:t>
            </a:r>
          </a:p>
          <a:p>
            <a:r>
              <a:t>시간 12:04–12:06 · 2분</a:t>
            </a:r>
          </a:p>
          <a:p>
            <a:r>
              <a:t>발화 약 75초 · 시연/화면 확인/활동 35초 · 전환 10초 = 2분</a:t>
            </a:r>
          </a:p>
          <a:p/>
          <a:p>
            <a:r>
              <a:t>발화 대본</a:t>
            </a:r>
          </a:p>
          <a:p>
            <a:r>
              <a:t>실제 결과입니다. 왼쪽부터 매장, 원래 이름, AI가 맞춘 상품ID, 판정, 그리고 AI가 적은 근거입니다. 띄어쓰기만 다른 유기농두부, 순서만 다른 두부 유기농, 10알과 10구를 모두 같은 상품으로 맞췄고 단가가 같은지도 확인했습니다. 재미있는 건 아래 두 줄입니다. 들기름은 참기름과 비슷하지만 다른 상품이라 표준목록에 없다고 멈췄고, 현미 잡곡은 후보는 있지만 용량이 없고 단가가 달라서 확인 필요로 남겼습니다. 사람은 이 두 줄만 확인하면 됩니다. 이게 AI에게 정리를 맡기는 방식입니다. 근거를 남기게 하고, 모르면 멈추게 합니다.</a:t>
            </a:r>
          </a:p>
          <a:p/>
          <a:p>
            <a:r>
              <a:t>진행·활동</a:t>
            </a:r>
          </a:p>
          <a:p>
            <a:r>
              <a:t>S09를 어느 매장에 넣을지 질문하고 “보류” 선택 이유 듣기.</a:t>
            </a:r>
          </a:p>
          <a:p/>
          <a:p>
            <a:r>
              <a:t>예상 답·검수 기준</a:t>
            </a:r>
          </a:p>
          <a:p>
            <a:r>
              <a:t>AI는 근거와 함께 맞추고, 단가·용량이 다르면 [확인 필요]로 멈춘다. 사람은 그 두 줄만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보기 좋은 표, 숫자도 맞을까요?</a:t>
            </a:r>
          </a:p>
          <a:p>
            <a:r>
              <a:t>시간 12:06–12:08 · 2분</a:t>
            </a:r>
          </a:p>
          <a:p>
            <a:r>
              <a:t>발화 약 75초 · 시연/화면 확인/활동 35초 · 전환 10초 = 2분</a:t>
            </a:r>
          </a:p>
          <a:p/>
          <a:p>
            <a:r>
              <a:t>발화 대본</a:t>
            </a:r>
          </a:p>
          <a:p>
            <a:r>
              <a:t>결과가 보기 좋다고 끝이 아닙니다. 숫자로 확인합니다. 원본 세 파일이 4건, 5건, 4건이니 합친 파일도 13건이어야 합니다. 금액도 세 파일을 더한 99,200원과 같아야 합니다. 그리고 확인 필요로 남긴 2건이 빠지지 않고 들어 있는지 봅니다. 합계가 맞더라도 들기름을 참기름으로 묶어 버렸다면 틀린 결과입니다.</a:t>
            </a:r>
          </a:p>
          <a:p/>
          <a:p>
            <a:r>
              <a:t>진행·활동</a:t>
            </a:r>
          </a:p>
          <a:p>
            <a:r>
              <a:t>합계가 같은데 다른 행을 제외한 결과가 맞는지 물어보기.</a:t>
            </a:r>
          </a:p>
          <a:p/>
          <a:p>
            <a:r>
              <a:t>예상 답·검수 기준</a:t>
            </a:r>
          </a:p>
          <a:p>
            <a:r>
              <a:t>건수·금액·보류 건이 원본과 맞는지 함께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결과가 이상하면 이렇게 다시 요청합니다</a:t>
            </a:r>
          </a:p>
          <a:p>
            <a:r>
              <a:t>시간 12:08–12:09 · 1분</a:t>
            </a:r>
          </a:p>
          <a:p>
            <a:r>
              <a:t>발화 약 40초 · 시연/화면 확인/활동 10초 · 전환 10초 = 1분</a:t>
            </a:r>
          </a:p>
          <a:p/>
          <a:p>
            <a:r>
              <a:t>발화 대본</a:t>
            </a:r>
          </a:p>
          <a:p>
            <a:r>
              <a:t>결과가 마음에 안 들 때 이상한데 다시 해 줘라고 하면 AI는 무엇을 고쳐야 할지 모릅니다. 처음부터 다시 하면서 맞던 것까지 바뀔 수 있습니다. 오른쪽처럼 콕 집어 말합니다. 참기름은 국산인지 모르니 확인 필요로 바꿔 달라, 0007 현미 잡곡은 매장에 물어보니 P06 1kg이 맞다, 원본은 두고 v2로 저장해 달라. 그러면 그 두 줄만 고칩니다.</a:t>
            </a:r>
          </a:p>
          <a:p/>
          <a:p>
            <a:r>
              <a:t>진행·활동</a:t>
            </a:r>
          </a:p>
          <a:p>
            <a:r>
              <a:t>잘못된 결과를 고치는 요청 한 문장 작성.</a:t>
            </a:r>
          </a:p>
          <a:p/>
          <a:p>
            <a:r>
              <a:t>예상 답·검수 기준</a:t>
            </a:r>
          </a:p>
          <a:p>
            <a:r>
              <a:t>어느 줄을, 무엇으로, 왜 바꾸는지 말하면 AI가 그 부분만 고친다.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이름·전화번호 같은 민감한 정보가 있다면?</a:t>
            </a:r>
          </a:p>
          <a:p>
            <a:r>
              <a:t>시간 12:09–12:10 · 1분</a:t>
            </a:r>
          </a:p>
          <a:p>
            <a:r>
              <a:t>발화 약 40초 · 시연/화면 확인/활동 10초 · 전환 10초 = 1분</a:t>
            </a:r>
          </a:p>
          <a:p/>
          <a:p>
            <a:r>
              <a:t>발화 대본</a:t>
            </a:r>
          </a:p>
          <a:p>
            <a:r>
              <a:t>그런데 실제 업무에서는 여기서 막힙니다. 회원 시트와 주문 시트가 따로 있고 ID도 제각각이면, 같은 사람인지 확인하려고 이름이나 전화번호로 맞추고 싶어집니다. 바로 그게 개인정보입니다. 그 표를 그대로 AI에 올리면 안 됩니다. 방법이 있습니다. 이름과 전화번호를 가명 ID로 바꾼 표를 만들고, AI는 그 가명 자료로만 매칭하게 합니다. 누가 누구인지 잇는 연결표는 내 PC에만 둡니다. 지금부터 그 방법을 보겠습니다.</a:t>
            </a:r>
          </a:p>
          <a:p/>
          <a:p>
            <a:r>
              <a:t>진행·활동</a:t>
            </a:r>
          </a:p>
          <a:p>
            <a:r>
              <a:t>화면의 완료 기준을 확인하고 다음 장으로 이동합니다.</a:t>
            </a:r>
          </a:p>
          <a:p/>
          <a:p>
            <a:r>
              <a:t>예상 답·검수 기준</a:t>
            </a:r>
          </a:p>
          <a:p>
            <a:r>
              <a:t>개인정보가 섞인 표는 그대로 넣지 않는다. 가명 ID로 바꾼 뒤 AI는 가명 자료로 매칭하고, 연결표는 내 PC에 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왜 개인정보를 넣지 않나요?</a:t>
            </a:r>
          </a:p>
          <a:p>
            <a:r>
              <a:t>시간 12:10–12:12 · 2분</a:t>
            </a:r>
          </a:p>
          <a:p>
            <a:r>
              <a:t>발화 약 75초 · 시연/화면 확인/활동 35초 · 전환 10초 = 2분</a:t>
            </a:r>
          </a:p>
          <a:p/>
          <a:p>
            <a:r>
              <a:t>발화 대본</a:t>
            </a:r>
          </a:p>
          <a:p>
            <a:r>
              <a:t>그럼 왜 개인정보를 그대로 넣으면 안 될까요. 회원 이름과 전화번호가 든 표를 AI에 붙여 넣었다고 해 보겠습니다. 입력하는 순간 그 이름과 번호가 그대로 들어갑니다. 한 번 보내면 되돌릴 수 없습니다. 전송될 때는 인터넷으로 AI 회사 서버에 가는데, 해외 서버일 수 있어서 국외 이전 검토 대상이 됩니다. 처리 단계에서는 설정에 따라 30일에서 길게는 몇 년까지 보관되고, 안전 검토에 쓰일 수도 있습니다. 우리가 누가 볼지 다 알 수 없습니다. 결과에서는 답이나 대화 기록, 공유 링크에 다시 나올 수 있습니다. 그래서 보내기 전에 네 가지를 묻습니다. 꼭 필요한가, 누가 처리하나, 어디로 가나, 언제 지우나. 대부분은 첫 질문에서 답이 나옵니다. 매칭에 이름이 꼭 필요하지 않다는 거죠.</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개인정보(PII)는 지우거나, 가명으로 바꾸거나, 범위를 줄입니다</a:t>
            </a:r>
          </a:p>
          <a:p>
            <a:r>
              <a:t>시간 12:12–12:15 · 3분</a:t>
            </a:r>
          </a:p>
          <a:p>
            <a:r>
              <a:t>발화 약 100초 · 시연/화면 확인/활동 70초 · 전환 10초 = 3분</a:t>
            </a:r>
          </a:p>
          <a:p/>
          <a:p>
            <a:r>
              <a:t>발화 대본</a:t>
            </a:r>
          </a:p>
          <a:p>
            <a:r>
              <a:t>용어가 어려우니 간단히 정리하겠습니다. 이름이나 전화번호처럼 사람을 알아볼 수 있는 정보를 PII라고 합니다. 이걸 AI에 보내기 전에 세 가지 방법 중 하나를 씁니다. 첫째, 분석에 필요 없으면 열을 통째로 지웁니다. 둘째, 같은 사람끼리 묶어야 하면 이름을 회원_017 같은 가명으로 바꿉니다. 누가 회원_017인지 적은 연결표는 내 PC에만 둡니다. 셋째, 통계만 보면 되면 30대, 성남시처럼 범위를 줄입니다. 다만 범위를 줄였다고 바로 익명이 되는 건 아닙니다. 작은 동네나 드문 구매 기록과 합치면 다시 누군지 알 수 있어서, 익명인지는 따로 판단해야 합니다. 하나 더 기억할 것은, 가명은 연결표만 있으면 되돌릴 수 있어서 가명 자료도 여전히 개인정보라는 점입니다. 그래서 연결표는 절대 AI에 보내지 않습니다.</a:t>
            </a:r>
          </a:p>
          <a:p/>
          <a:p>
            <a:r>
              <a:t>진행·활동</a:t>
            </a:r>
          </a:p>
          <a:p>
            <a:r>
              <a:t>작은 매장+정확한 시간+특이 구매 품목이 왜 식별 단서인지 토론.</a:t>
            </a:r>
          </a:p>
          <a:p/>
          <a:p>
            <a:r>
              <a:t>예상 답·검수 기준</a:t>
            </a:r>
          </a:p>
          <a:p>
            <a:r>
              <a:t>필요 없으면 지우고, 사람끼리 묶어야 하면 가명(연결표는 내 PC), 통계만 보면 범위 줄이기(그것만으로 익명은 아님). 가명 자료도 개인정보.</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필요한 열만 내 PC에서 먼저 골라냅니다</a:t>
            </a:r>
          </a:p>
          <a:p>
            <a:r>
              <a:t>시간 12:15–12:17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가명처리 ① AI에게는 엑셀의 「형태」만 보여 줍니다</a:t>
            </a:r>
          </a:p>
          <a:p>
            <a:r>
              <a:t>시간 12:17–12:19 · 2분</a:t>
            </a:r>
          </a:p>
          <a:p>
            <a:r>
              <a:t>발화 약 75초 · 시연/화면 확인/활동 35초 · 전환 10초 = 2분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가명처리 ② AI가 만든 파이썬을 내 PC에서 돌립니다</a:t>
            </a:r>
          </a:p>
          <a:p>
            <a:r>
              <a:t>시간 12:19–12:21 · 2분</a:t>
            </a:r>
          </a:p>
          <a:p>
            <a:r>
              <a:t>발화 약 75초 · 시연/화면 확인/활동 35초 · 전환 10초 = 2분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가명처리 ③ 이름 없는 가명 자료로만 분석합니다</a:t>
            </a:r>
          </a:p>
          <a:p>
            <a:r>
              <a:t>시간 12:21–12:23 · 2분</a:t>
            </a:r>
          </a:p>
          <a:p>
            <a:r>
              <a:t>발화 약 75초 · 시연/화면 확인/활동 35초 · 전환 10초 = 2분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가명처리 ④ 필요할 때만, 내 PC에서 이름을 되돌립니다</a:t>
            </a:r>
          </a:p>
          <a:p>
            <a:r>
              <a:t>시간 12:23–12:24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국외 이전은 해외 저장만 말하는 게 아닙니다</a:t>
            </a:r>
          </a:p>
          <a:p>
            <a:r>
              <a:t>시간 12:24–12:26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처리위탁은 도구 구매와 따로 검토합니다</a:t>
            </a:r>
          </a:p>
          <a:p>
            <a:r>
              <a:t>시간 12:26–12:28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같은 앱이라도 요금제마다 데이터 기준이 다릅니다</a:t>
            </a:r>
          </a:p>
          <a:p>
            <a:r>
              <a:t>시간 12:28–12:30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개인 계정이면 학습 설정부터 끄세요</a:t>
            </a:r>
          </a:p>
          <a:p>
            <a:r>
              <a:t>시간 12:30–12:31 · 1분</a:t>
            </a:r>
          </a:p>
          <a:p>
            <a:r>
              <a:t>발화 약 40초 · 시연/화면 확인/활동 10초 · 전환 10초 = 1분</a:t>
            </a:r>
          </a:p>
          <a:p/>
          <a:p>
            <a:r>
              <a:t>발화 대본</a:t>
            </a:r>
          </a:p>
          <a:p>
            <a:r>
              <a:t>앞 장에서 개인 요금제는 학습 설정을 내가 확인한다고 했습니다. 실제로 어디서 끄는지 제 계정 화면으로 보여 드리겠습니다. 보시면 세 곳 모두 켜져 있습니다. ChatGPT는 설정의 데이터 관리에서 모델 개선을 위한 데이터 학습 허용을 끕니다. Codex도 같은 설정을 따릅니다. Claude는 설정의 개인정보보호에서 Help improve our AI models를 끕니다. Claude Code도 여기를 따릅니다. Gemini는 내 활동 페이지의 Gemini 앱 활동에서 사용을 눌러 사용 중지로 바꿉니다. 꺼도 72시간은 보관된다고 적혀 있습니다. 그럼 VS Code 확장은 어떨까요. Claude Code와 Codex 확장에는 따로 끄는 스위치가 없고, 로그인한 계정의 이 설정을 그대로 따릅니다. 그래서 계정에서 한 번 끄면 됩니다. 다만 좋아요, 싫어요를 누르거나 대화를 봐도 되냐는 질문에 예를 누르면 그 대화는 회사로 보내집니다. 오후 실습에서는 컴퓨터 사용으로 이 설정부터 끄고 시작하겠습니다.</a:t>
            </a:r>
          </a:p>
          <a:p/>
          <a:p>
            <a:r>
              <a:t>진행·활동</a:t>
            </a:r>
          </a:p>
          <a:p>
            <a:r>
              <a:t>각자 휴대폰이나 노트북에서 세 화면 중 쓰는 곳을 열어 켜져 있는지 봅니다.</a:t>
            </a:r>
          </a:p>
          <a:p/>
          <a:p>
            <a:r>
              <a:t>예상 답·검수 기준</a:t>
            </a:r>
          </a:p>
          <a:p>
            <a:r>
              <a:t>ChatGPT 데이터 관리 · Claude 개인정보보호 · Gemini 앱 활동에서 학습을 끈다. VS Code 확장은 계정 설정을 따른다.</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[N1] Claude Code · 데이터 사용(개인 요금제 학습 설정 포함)</a:t>
            </a:r>
          </a:p>
          <a:p>
            <a:r>
              <a:t>https://code.claude.com/docs/en/data-usage</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유료 계정이 약속하는 것, 내가 더 켜야 하는 것</a:t>
            </a:r>
          </a:p>
          <a:p>
            <a:r>
              <a:t>시간 12:31–12:32 · 1분</a:t>
            </a:r>
          </a:p>
          <a:p>
            <a:r>
              <a:t>발화 약 40초 · 시연/화면 확인/활동 10초 · 전환 10초 = 1분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가장 안전한 건 우리 서버의 AI(sLLM)지만, 현실적으론 아직 어렵습니다</a:t>
            </a:r>
          </a:p>
          <a:p>
            <a:r>
              <a:t>시간 12:32–12:34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보안만 보면 이게 정답입니다. 하지만 현실적으로는 두 가지가 걸립니다. 첫째, 성능이 프런티어 모델만큼 나오지 않습니다. 서버 한두 대에 올라가는 모델은 지금 Claude나 GPT 최신 모델보다 반년에서 1년쯤 뒤처진 수준입니다. 둘째, 초기 투자가 너무 큽니다. 엔비디아 H200 한두 장 넣은 서버 한 대가 1억 원 가까이 들고, 전기와 관리할 사람도 필요합니다. 그래서 현실적인 순서는 이렇습니다. 지금은 가명 자료로 클라우드 AI를 쓰고,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개인정보보호법 개정과 AI 기본법, 무엇이 바뀌었나</a:t>
            </a:r>
          </a:p>
          <a:p>
            <a:r>
              <a:t>시간 12:34–12:37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에이전트의 권한은 작게 시작합니다</a:t>
            </a:r>
          </a:p>
          <a:p>
            <a:r>
              <a:t>시간 12:37–12:39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잘못 넣었다면 바로 알립니다</a:t>
            </a:r>
          </a:p>
          <a:p>
            <a:r>
              <a:t>시간 12:39–12:41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써도 될지, 확인할지, 멈출지 판단해 봅니다</a:t>
            </a:r>
          </a:p>
          <a:p>
            <a:r>
              <a:t>시간 12:41–12:43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우리 부서에서 작게 시작할 일 고르기</a:t>
            </a:r>
          </a:p>
          <a:p>
            <a:r>
              <a:t>시간 12:43–12:46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자료가 쌓이면 대시보드로 이어집니다</a:t>
            </a:r>
          </a:p>
          <a:p>
            <a:r>
              <a:t>시간 12:46–12:49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도입 전에 네 가지를 먼저 점검합니다</a:t>
            </a:r>
          </a:p>
          <a:p>
            <a:r>
              <a:t>시간 12:49–12:52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오후 실습 진행 방법</a:t>
            </a:r>
          </a:p>
          <a:p>
            <a:r>
              <a:t>시간 14:00–14:02 · 2분</a:t>
            </a:r>
          </a:p>
          <a:p>
            <a:r>
              <a:t>발화 약 75초 · 시연/화면 확인/활동 35초 · 전환 10초 = 2분</a:t>
            </a:r>
          </a:p>
          <a:p/>
          <a:p>
            <a:r>
              <a:t>발화 대본</a:t>
            </a:r>
          </a:p>
          <a:p>
            <a:r>
              <a:t>제 화면 먼저 보세요. 제가 한 단계씩 먼저 해 보이면 각자 노트북에서 똑같이 따라 하시면 됩니다. 공통 과정은 가명처리, 매출 정리와 검수, 1쪽 보고 세 가지이고, 끝나면 선택 실습 하나를 골라 20분 동안 해 봅니다. 본인 계정이 있는 도구 하나로 끝까지 할 수 있습니다. 슬라이드에 Codex라고 적힌 단계는, Codex가 없으시면 같은 도구의 새 대화에서 하시면 됩니다. 막히면 손을 들어 주세요.</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준비 1 · 블로그에서 실습 자료 받기</a:t>
            </a:r>
          </a:p>
          <a:p>
            <a:r>
              <a:t>시간 14:02–14:03 · 1분</a:t>
            </a:r>
          </a:p>
          <a:p>
            <a:r>
              <a:t>발화 약 40초 · 시연/화면 확인/활동 10초 · 전환 10초 = 1분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준비 1-2 · 압축 풀어 바탕화면에 두고 VS Code로 열기</a:t>
            </a:r>
          </a:p>
          <a:p>
            <a:r>
              <a:t>시간 14:03–14:04 · 1분</a:t>
            </a:r>
          </a:p>
          <a:p>
            <a:r>
              <a:t>발화 약 40초 · 시연/화면 확인/활동 10초 · 전환 10초 = 1분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 준비 2 · 확장 두 개 설치하고 로그인</a:t>
            </a:r>
          </a:p>
          <a:p>
            <a:r>
              <a:t>시간 14:04–14:07 · 3분</a:t>
            </a:r>
          </a:p>
          <a:p>
            <a:r>
              <a:t>발화 약 100초 · 시연/화면 확인/활동 70초 · 전환 10초 = 3분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아이콘이 생기면 본인 계정이 있는 도구를 눌러 로그인합니다. 둘 다 계정이 있으면 둘 다 로그인합니다. 권한은 물어보고 실행하는 기본값 그대로 둡니다. 본인 도구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본인 도구 패널에 입력창이 보이면 됩니다. 다른 도구는 계정이 있을 때만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손풀기 1 · 실습 폴더 파일 이름 확인</a:t>
            </a:r>
          </a:p>
          <a:p>
            <a:r>
              <a:t>시간 14:07–14:08 · 1분</a:t>
            </a:r>
          </a:p>
          <a:p>
            <a:r>
              <a:t>발화 약 40초 · 시연/화면 확인/활동 10초 · 전환 10초 = 1분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실습 데이터 둘러보기 1 · 폴더 하나에 담긴 가상 상황</a:t>
            </a:r>
          </a:p>
          <a:p>
            <a:r>
              <a:t>시간 14:08–14:09 · 1분</a:t>
            </a:r>
          </a:p>
          <a:p>
            <a:r>
              <a:t>발화 약 40초 · 시연/화면 확인/활동 10초 · 전환 10초 = 1분</a:t>
            </a:r>
          </a:p>
          <a:p/>
          <a:p>
            <a:r>
              <a:t>발화 대본</a:t>
            </a:r>
          </a:p>
          <a:p>
            <a:r>
              <a:t>요청을 보내기 전에 오늘 쓸 자료부터 보겠습니다. 모두 가상 생협의 9월 자료입니다. 02, 03, 04번은 세 매장의 상품 거래 파일이고 50줄씩 들어 있습니다. 이 안에 실수 10줄을 일부러 넣어 두었습니다. 05번 기준표에는 매장 세 곳과 상품 여섯 가지가 있고, 06번 처리규칙은 오류를 어떤 순서로 거를지 적은 우리 업무 규칙입니다. 00번은 이름과 전화번호가 섞인 회원 거래라서 가명처리 실습에만 씁니다. 엑셀은 열어 보기만 하고 고치지 마세요.</a:t>
            </a:r>
          </a:p>
          <a:p/>
          <a:p>
            <a:r>
              <a:t>진행·활동</a:t>
            </a:r>
          </a:p>
          <a:p>
            <a:r>
              <a:t>VS Code 왼쪽 입력자료 폴더를 펼쳐 파일 이름을 함께 짚습니다. 엑셀은 열어 보기만 하고 고치지 않습니다.</a:t>
            </a:r>
          </a:p>
          <a:p/>
          <a:p>
            <a:r>
              <a:t>예상 답·검수 기준</a:t>
            </a:r>
          </a:p>
          <a:p>
            <a:r>
              <a:t>02·03·04 매장 거래(오류 10줄 포함), 05 기준표, 06 처리규칙, 00 개인정보 원본, 행사메모·지식보관함.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실습 데이터 둘러보기 2 · 매장 거래 파일을 열면 이렇게 보입니다</a:t>
            </a:r>
          </a:p>
          <a:p>
            <a:r>
              <a:t>시간 14:09–14:10 · 1분</a:t>
            </a:r>
          </a:p>
          <a:p>
            <a:r>
              <a:t>발화 약 40초 · 시연/화면 확인/활동 10초 · 전환 10초 = 1분</a:t>
            </a:r>
          </a:p>
          <a:p/>
          <a:p>
            <a:r>
              <a:t>발화 대본</a:t>
            </a:r>
          </a:p>
          <a:p>
            <a:r>
              <a:t>A매장 파일을 직접 열어 보겠습니다. 한 줄이 상품 거래 한 건입니다. 12행을 보시면 10행과 똑같은 거래가 한 번 더 있습니다. 중복입니다. 25행은 콩나물 1개에 2천 원인데 장부금액이 2만 원으로 적혀 있습니다. 이런 줄이 세 파일에 10개 숨어 있습니다. 눈으로 다 찾기는 어렵죠. 그래서 규칙을 주고 AI에게 맡깁니다. 파일은 저장하지 말고 닫아 주세요.</a:t>
            </a:r>
          </a:p>
          <a:p/>
          <a:p>
            <a:r>
              <a:t>진행·활동</a:t>
            </a:r>
          </a:p>
          <a:p>
            <a:r>
              <a:t>각자 02_가상_A매장.xlsx를 열어 12행과 25행을 찾아봅니다. 저장하지 않고 닫습니다.</a:t>
            </a:r>
          </a:p>
          <a:p/>
          <a:p>
            <a:r>
              <a:t>예상 답·검수 기준</a:t>
            </a:r>
          </a:p>
          <a:p>
            <a:r>
              <a:t>12행 중복(S01-TX-009), 25행 금액 불일치(1×2000≠20000).</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실습 데이터 둘러보기 3 · 두 표를 같은 열로 잇는 JOIN</a:t>
            </a:r>
          </a:p>
          <a:p>
            <a:r>
              <a:t>시간 14:10–14:11 · 1분</a:t>
            </a:r>
          </a:p>
          <a:p>
            <a:r>
              <a:t>발화 약 40초 · 시연/화면 확인/활동 10초 · 전환 10초 = 1분</a:t>
            </a:r>
          </a:p>
          <a:p/>
          <a:p>
            <a:r>
              <a:t>발화 대본</a:t>
            </a:r>
          </a:p>
          <a:p>
            <a:r>
              <a:t>데이터를 다룰 때 가장 많이 쓰는 개념 하나만 알고 가겠습니다. 거래표에는 상품ID만 있고 상품 이름은 없습니다. 이름은 기준표에 있죠. 두 표를 상품ID라는 같은 열로 이어서 이름을 붙이는 걸 JOIN이라고 합니다. 엑셀에서 XLOOKUP이나 VLOOKUP으로 하던 일과 같습니다. 그런데 B매장 38행의 P99는 기준표에 없습니다. 짝이 없으니 미등록 상품으로 빠집니다. 매장ID도 같은 방법으로 매장마스터와 잇고, C매장의 S09가 미등록 매장으로 빠집니다. 이따 AI가 이 일을 해 줄 때 무엇을 하는지 이제 보이실 겁니다.</a:t>
            </a:r>
          </a:p>
          <a:p/>
          <a:p>
            <a:r>
              <a:t>진행·활동</a:t>
            </a:r>
          </a:p>
          <a:p>
            <a:r>
              <a:t>기준표 파일을 열어 상품마스터에 P99가 없는 것을 함께 확인합니다.</a:t>
            </a:r>
          </a:p>
          <a:p/>
          <a:p>
            <a:r>
              <a:t>예상 답·검수 기준</a:t>
            </a:r>
          </a:p>
          <a:p>
            <a:r>
              <a:t>JOIN = 같은 열(상품ID·매장ID)로 두 표를 잇기. 짝이 없으면 미등록(P99 상품, S09 매장) → 제외.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손풀기 2 · 모르는 말은 「다섯 살에게 설명해 줘」</a:t>
            </a:r>
          </a:p>
          <a:p>
            <a:r>
              <a:t>시간 14:11–14:13 · 2분</a:t>
            </a:r>
          </a:p>
          <a:p>
            <a:r>
              <a:t>발화 약 75초 · 시연/화면 확인/활동 35초 · 전환 10초 = 2분</a:t>
            </a:r>
          </a:p>
          <a:p/>
          <a:p>
            <a:r>
              <a:t>발화 대본</a:t>
            </a:r>
          </a:p>
          <a:p>
            <a:r>
              <a:t>본격적으로 하기 전에 가볍게 몇 가지 해 보겠습니다. 오전에 본 ELI5, 다섯 살에게 설명하듯 물어보기입니다. 오후에 나올 가명처리와 JOIN을 먼저 쉽게 들어 보세요. 어려우면 더 쉽게라고 한 번 더 보내면 됩니다.</a:t>
            </a:r>
          </a:p>
          <a:p/>
          <a:p>
            <a:r>
              <a:t>진행·활동</a:t>
            </a:r>
          </a:p>
          <a:p>
            <a:r>
              <a:t>참가자는 슬라이드의 요청문을 복사해 붙여 넣고, 강사는 돌아다니며 막힌 사람을 돕습니다.</a:t>
            </a:r>
          </a:p>
          <a:p/>
          <a:p>
            <a:r>
              <a:t>예상 답·검수 기준</a:t>
            </a:r>
          </a:p>
          <a:p>
            <a:r>
              <a:t>ELI5 = 다섯 살에게 설명하듯. 가명처리·JOIN을 비유로.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하네스 확인 · 두 도구가 같은 규칙을 읽나요</a:t>
            </a:r>
          </a:p>
          <a:p>
            <a:r>
              <a:t>시간 14:13–14:15 · 2분</a:t>
            </a:r>
          </a:p>
          <a:p>
            <a:r>
              <a:t>발화 약 75초 · 시연/화면 확인/활동 35초 · 전환 10초 = 2분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 · 가명처리 1 · 원본은 읽지 말고 열 정보로 코드 받기</a:t>
            </a:r>
          </a:p>
          <a:p>
            <a:r>
              <a:t>시간 14:15–14:21 · 6분</a:t>
            </a:r>
          </a:p>
          <a:p>
            <a:r>
              <a:t>발화 약 120초 · 시연/화면 확인/활동 230초 · 전환 10초 = 6분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챌린지 · AI에게 파이썬 설치 맡기기</a:t>
            </a:r>
          </a:p>
          <a:p>
            <a:r>
              <a:t>시간 14:21–14:25 · 4분</a:t>
            </a:r>
          </a:p>
          <a:p>
            <a:r>
              <a:t>발화 약 110초 · 시연/화면 확인/활동 120초 · 전환 10초 = 4분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설치해도 되냐고 물으면 응, 설치해 줘라고 답하시면 됩니다. 설치가 끝나면 VS Code를 한 번 껐다 켜야 새 파이썬을 찾습니다. 다시 켠 뒤 버전이 나오고 엑셀 도구 openpyxl과 PPT 도구 python-pptx까지 설치되면 다음 장으로 넘어갑니다. 이걸 건너뛰면 뒤의 가명처리와 매출 정리가 멈춥니다.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 python-pptx (Mac은 막히면 가상환경).</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2 · 내 PC에서 실행하기</a:t>
            </a:r>
          </a:p>
          <a:p>
            <a:r>
              <a:t>시간 14:25–14:31 · 6분</a:t>
            </a:r>
          </a:p>
          <a:p>
            <a:r>
              <a:t>발화 약 120초 · 시연/화면 확인/활동 230초 · 전환 10초 = 6분</a:t>
            </a:r>
          </a:p>
          <a:p/>
          <a:p>
            <a:r>
              <a:t>발화 대본</a:t>
            </a:r>
          </a:p>
          <a:p>
            <a:r>
              <a:t>이제 만든 코드를 실행합니다. AI에게는 원본을 열지 말라고 했고, 화면에는 행 수와 사람 수만 나오게 했습니다. 요청문만으로 완전히 막을 수는 없어서 실제 업무에서는 승인된 PC와 접근 권한으로 나눕니다.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3 · Codex에는 가명 자료만</a:t>
            </a:r>
          </a:p>
          <a:p>
            <a:r>
              <a:t>시간 14:31–14:40 · 9분</a:t>
            </a:r>
          </a:p>
          <a:p>
            <a:r>
              <a:t>발화 약 120초 · 시연/화면 확인/활동 410초 · 전환 10초 = 9분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스킬 준비 · Claude와 Codex에 설치 요청</a:t>
            </a:r>
          </a:p>
          <a:p>
            <a:r>
              <a:t>시간 14:40–14:43 · 3분</a:t>
            </a:r>
          </a:p>
          <a:p>
            <a:r>
              <a:t>발화 약 100초 · 시연/화면 확인/활동 70초 · 전환 10초 = 3분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매출 정리 1 · 계획부터 받기</a:t>
            </a:r>
          </a:p>
          <a:p>
            <a:r>
              <a:t>시간 14:43–14:47 · 4분</a:t>
            </a:r>
          </a:p>
          <a:p>
            <a:r>
              <a:t>발화 약 110초 · 시연/화면 확인/활동 120초 · 전환 10초 = 4분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계획 확인 · 세 가지만 보면 됩니다</a:t>
            </a:r>
          </a:p>
          <a:p>
            <a:r>
              <a:t>시간 14:47–14:48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매출 정리 2 · 엑셀 스킬로 요약 엑셀 받기</a:t>
            </a:r>
          </a:p>
          <a:p>
            <a:r>
              <a:t>시간 14:48–14:55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요약 엑셀 직접 열어 보기</a:t>
            </a:r>
          </a:p>
          <a:p>
            <a:r>
              <a:t>시간 14:55–14:57 · 2분</a:t>
            </a:r>
          </a:p>
          <a:p>
            <a:r>
              <a:t>발화 약 75초 · 시연/화면 확인/활동 35초 · 전환 10초 = 2분</a:t>
            </a:r>
          </a:p>
          <a:p/>
          <a:p>
            <a:r>
              <a:t>발화 대본</a:t>
            </a:r>
          </a:p>
          <a:p>
            <a:r>
              <a:t>제 화면 먼저 보세요. 왼쪽 탐색기에서 결과 › 요약.xlsx를 오른쪽 클릭 › 「파일 탐색기에 표시」(Mac은 「Finder에 표시」). 엑셀로 열어 요약·통과행·오류목록·검수 네 시트를 봅니다. 오류목록에서 한 줄을 골라 원본 엑셀의 같은 행을 찾아봅니다. 네 시트가 있고 합계 칸에 수식이 보이면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 · 검수 1 · Codex가 처음부터 다시 세기</a:t>
            </a:r>
          </a:p>
          <a:p>
            <a:r>
              <a:t>시간 14:57–15:06 · 9분</a:t>
            </a:r>
          </a:p>
          <a:p>
            <a:r>
              <a:t>발화 약 120초 · 시연/화면 확인/활동 410초 · 전환 10초 = 9분</a:t>
            </a:r>
          </a:p>
          <a:p/>
          <a:p>
            <a:r>
              <a:t>발화 대본</a:t>
            </a:r>
          </a:p>
          <a:p>
            <a:r>
              <a:t>제 화면 먼저 보세요. 아래 요청문을 Codex에 보냅니다. Claude Code가 만든 처리코드.py는 보지 말라고 했습니다. 기존 결과와 새로 센 결과를 나란히 놓은 표가 나옵니다. 요청문은 슬라이드에 있는 글을 그대로 복사해서 Codex에 붙여 넣으시면 됩니다. 행 수와 매출뿐 아니라 오류 줄의 원본 위치와 사유까지 맞아야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검수 2 · 숫자가 다를 때</a:t>
            </a:r>
          </a:p>
          <a:p>
            <a:r>
              <a:t>시간 15:06–15:10 · 4분</a:t>
            </a:r>
          </a:p>
          <a:p>
            <a:r>
              <a:t>발화 약 110초 · 시연/화면 확인/활동 120초 · 전환 10초 = 4분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잠시 쉬겠습니다</a:t>
            </a:r>
          </a:p>
          <a:p>
            <a:r>
              <a:t>시간 15:10–15:18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보고 1 · 1쪽 보고 만들기</a:t>
            </a:r>
          </a:p>
          <a:p>
            <a:r>
              <a:t>시간 15:18–15:28 · 10분</a:t>
            </a:r>
          </a:p>
          <a:p>
            <a:r>
              <a:t>발화 약 120초 · 시연/화면 확인/활동 470초 · 전환 10초 = 10분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보고 2 · 휴머나이저로 AI 슬롭 지우기</a:t>
            </a:r>
          </a:p>
          <a:p>
            <a:r>
              <a:t>시간 15:28–15:34 · 6분</a:t>
            </a:r>
          </a:p>
          <a:p>
            <a:r>
              <a:t>발화 약 120초 · 시연/화면 확인/활동 230초 · 전환 10초 = 6분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막힐 때 쓰는 질문</a:t>
            </a:r>
          </a:p>
          <a:p>
            <a:r>
              <a:t>시간 15:34–15:35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선택 실습 · 하나만 골라 20분</a:t>
            </a:r>
          </a:p>
          <a:p>
            <a:r>
              <a:t>시간 15:35–15:55 · 20분</a:t>
            </a:r>
          </a:p>
          <a:p>
            <a:r>
              <a:t>발화 약 120초 · 시연/화면 확인/활동 1070초 · 전환 10초 = 20분</a:t>
            </a:r>
          </a:p>
          <a:p/>
          <a:p>
            <a:r>
              <a:t>발화 대본</a:t>
            </a:r>
          </a:p>
          <a:p>
            <a:r>
              <a:t>여기까지가 모두 함께하는 공통 과정입니다. 남은 20분은 아래 여섯 가지 중 하나만 골라서 해 보세요. 보고서를 자주 쓰시면 A, 홍보나 안내를 맡으시면 B, 매달 같은 일을 하시면 C를 추천합니다. D는 Node.js와 MCP 연결을 미리 준비하신 분만 하세요. 연결이 안 되면 강사 화면으로 같이 봅니다. 공통 과정을 아직 못 끝내신 분은 선택 실습 대신 공통 과정을 마저 하시면 됩니다. 이어지는 장들이 묶음별 안내이니, 고른 묶음의 장만 보시면 됩니다.</a:t>
            </a:r>
          </a:p>
          <a:p/>
          <a:p>
            <a:r>
              <a:t>진행·활동</a:t>
            </a:r>
          </a:p>
          <a:p>
            <a:r>
              <a:t>공통 과정을 마친 참가자가 하나를 고르게 하고, 강사는 고른 묶음별로 돌아다닙니다.</a:t>
            </a:r>
          </a:p>
          <a:p/>
          <a:p>
            <a:r>
              <a:t>예상 답·검수 기준</a:t>
            </a:r>
          </a:p>
          <a:p>
            <a:r>
              <a:t>선택 실습은 하나만: A PPT · B 그림·전단지 · C 규칙·스킬 · D Obsidian·MCP · E 역할 나누기 · F 컴퓨터 사용.</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보고 3 준비 · PPT 글꼴 설치하기</a:t>
            </a:r>
          </a:p>
          <a:p>
            <a:r>
              <a:t>시간 15:35–15:55 중 선택 · 0분</a:t>
            </a:r>
          </a:p>
          <a:p>
            <a:r>
              <a:t>선택 참고 · 300분에 포함하지 않음</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글꼴은 실습 자료를 받을 때 함께 들어 있습니다. 한살림_AI실습 안의 글꼴 폴더를 여세요. 윈도우는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실습 폴더/글꼴에서 필요한 글꼴 설치 → PowerPoint 재시작. 이미 설치되어 있으면 넘어갑니다.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보고 3 · PPT 스킬로 회의 자료 만들기</a:t>
            </a:r>
          </a:p>
          <a:p>
            <a:r>
              <a:t>시간 15:35–15:55 중 선택 · 0분</a:t>
            </a:r>
          </a:p>
          <a:p>
            <a:r>
              <a:t>선택 참고 · 300분에 포함하지 않음</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손풀기 3 · 그림 한 장 만들기</a:t>
            </a:r>
          </a:p>
          <a:p>
            <a:r>
              <a:t>시간 15:35–15:55 중 선택 · 0분</a:t>
            </a:r>
          </a:p>
          <a:p>
            <a:r>
              <a:t>선택 참고 · 300분에 포함하지 않음</a:t>
            </a:r>
          </a:p>
          <a:p/>
          <a:p>
            <a:r>
              <a:t>발화 대본</a:t>
            </a:r>
          </a:p>
          <a:p>
            <a:r>
              <a:t>이번엔 그림입니다. Codex는 그림 파일을 직접 만들 수 있습니다. 왼쪽 요청문을 Codex에 보내면 결과 폴더에 포스터 그림이 생깁니다. Claude Code만 쓰시는 분은 오른쪽 요청문으로 도형을 이어 그린 SVG 그림을 받습니다. 결과 폴더에서 눌러 열어 보세요. 실제 로고나 사람 얼굴은 쓰지 않습니다.</a:t>
            </a:r>
          </a:p>
          <a:p/>
          <a:p>
            <a:r>
              <a:t>진행·활동</a:t>
            </a:r>
          </a:p>
          <a:p>
            <a:r>
              <a:t>참가자는 슬라이드의 요청문을 복사해 붙여 넣고, 강사는 돌아다니며 막힌 사람을 돕습니다.</a:t>
            </a:r>
          </a:p>
          <a:p/>
          <a:p>
            <a:r>
              <a:t>예상 답·검수 기준</a:t>
            </a:r>
          </a:p>
          <a:p>
            <a:r>
              <a:t>Codex 이미지 생성 → 결과/포스터.png, Claude Code → SVG. 실제 로고·얼굴은 쓰지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손풀기 5 · 말로 웹페이지 만들기(바이브 코딩)</a:t>
            </a:r>
          </a:p>
          <a:p>
            <a:r>
              <a:t>시간 15:35–15:55 중 선택 · 0분</a:t>
            </a:r>
          </a:p>
          <a:p>
            <a:r>
              <a:t>선택 참고 · 300분에 포함하지 않음</a:t>
            </a:r>
          </a:p>
          <a:p/>
          <a:p>
            <a:r>
              <a:t>발화 대본</a:t>
            </a:r>
          </a:p>
          <a:p>
            <a:r>
              <a:t>마지막 손풀기는 웹페이지입니다. 코드를 몰라도 말로 부탁해서 화면을 만드는 걸 요즘 바이브 코딩이라고 부릅니다. 확정된 행사 문서만 보고 전단지를 만들게 하고, 앞에서 만든 그림을 위에 넣습니다. AGENTS.md에 화면 규칙이 있어서 색과 글자 크기가 맞춰집니다. 열어 보시고 고칠 곳은 제목을 더 크게처럼 한 줄로 다시 부탁하세요.</a:t>
            </a:r>
          </a:p>
          <a:p/>
          <a:p>
            <a:r>
              <a:t>진행·활동</a:t>
            </a:r>
          </a:p>
          <a:p>
            <a:r>
              <a:t>참가자는 슬라이드의 요청문을 복사해 붙여 넣고, 강사는 돌아다니며 막힌 사람을 돕습니다.</a:t>
            </a:r>
          </a:p>
          <a:p/>
          <a:p>
            <a:r>
              <a:t>예상 답·검수 기준</a:t>
            </a:r>
          </a:p>
          <a:p>
            <a:r>
              <a:t>바이브 코딩 = 말로 부탁해 화면을 만들고, 고칠 곳도 말로 다시 부탁.</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손풀기 4 · 검색해서 출처와 함께 정리하기</a:t>
            </a:r>
          </a:p>
          <a:p>
            <a:r>
              <a:t>시간 15:35–15:55 중 선택 · 0분</a:t>
            </a:r>
          </a:p>
          <a:p>
            <a:r>
              <a:t>선택 참고 · 300분에 포함하지 않음</a:t>
            </a:r>
          </a:p>
          <a:p/>
          <a:p>
            <a:r>
              <a:t>발화 대본</a:t>
            </a:r>
          </a:p>
          <a:p>
            <a:r>
              <a:t>오전에 학습 마감 시점 얘기를 했죠. 그 뒤의 일은 AI가 검색해서 찾아옵니다. 요청문을 보내면 인터넷을 찾아 표로 정리하고 출처 링크를 붙입니다. 링크 하나는 직접 눌러서 정말 그런 내용이 있는지 확인해 보세요. 검색 결과도 확인은 사람이 합니다.</a:t>
            </a:r>
          </a:p>
          <a:p/>
          <a:p>
            <a:r>
              <a:t>진행·활동</a:t>
            </a:r>
          </a:p>
          <a:p>
            <a:r>
              <a:t>참가자는 슬라이드의 요청문을 복사해 붙여 넣고, 강사는 돌아다니며 막힌 사람을 돕습니다.</a:t>
            </a:r>
          </a:p>
          <a:p/>
          <a:p>
            <a:r>
              <a:t>예상 답·검수 기준</a:t>
            </a:r>
          </a:p>
          <a:p>
            <a:r>
              <a:t>검색 결과는 출처 링크와 함께, 사람이 링크 하나는 직접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재사용 1 · 스킬 만들기로 「매출검수」 스킬 만들기</a:t>
            </a:r>
          </a:p>
          <a:p>
            <a:r>
              <a:t>시간 15:35–15:55 중 선택 · 0분</a:t>
            </a:r>
          </a:p>
          <a:p>
            <a:r>
              <a:t>선택 참고 · 300분에 포함하지 않음</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줘」라고 하면 AI가 이 스킬을 찾아 읽습니다. 실제로 읽었는지는 재사용 확인에서 봅니다.</a:t>
            </a:r>
          </a:p>
          <a:p/>
          <a:p>
            <a:r>
              <a:t>진행·활동</a:t>
            </a:r>
          </a:p>
          <a:p>
            <a:r>
              <a:t>참가자는 슬라이드의 요청문을 복사해 붙여 넣고 강사는 돌아다니며 막힌 사람을 돕습니다.</a:t>
            </a:r>
          </a:p>
          <a:p/>
          <a:p>
            <a:r>
              <a:t>예상 답·검수 기준</a:t>
            </a:r>
          </a:p>
          <a:p>
            <a:r>
              <a:t>다음에 「매출검수 스킬로 해 줘」라고 하면 AI가 이 스킬을 찾아 읽습니다. 실제로 읽었는지는 재사용 확인에서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재사용 2 · AGENTS.md 만들기</a:t>
            </a:r>
          </a:p>
          <a:p>
            <a:r>
              <a:t>시간 15:35–15:55 중 선택 · 0분</a:t>
            </a:r>
          </a:p>
          <a:p>
            <a:r>
              <a:t>선택 참고 · 300분에 포함하지 않음</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재사용 3 · 만든 스킬을 팀과 나누기</a:t>
            </a:r>
          </a:p>
          <a:p>
            <a:r>
              <a:t>시간 15:35–15:55 중 선택 · 0분</a:t>
            </a:r>
          </a:p>
          <a:p>
            <a:r>
              <a:t>선택 참고 · 300분에 포함하지 않음</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 담당자도 같은 스킬로 시작할 수 있습니다. 받은 쪽에서도 스킬이 보이는지 꼭 확인하세요.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재사용 4 · 팀 전체가 같은 규칙과 스킬을 쓰게 나누기</a:t>
            </a:r>
          </a:p>
          <a:p>
            <a:r>
              <a:t>시간 15:35–15:55 중 선택 · 0분</a:t>
            </a:r>
          </a:p>
          <a:p>
            <a:r>
              <a:t>선택 참고 · 300분에 포함하지 않음</a:t>
            </a:r>
          </a:p>
          <a:p/>
          <a:p>
            <a:r>
              <a:t>발화 대본</a:t>
            </a:r>
          </a:p>
          <a:p>
            <a:r>
              <a:t>마지막으로 오늘 만든 규칙과 스킬을 팀과 나누겠습니다. 중요한 건 팀 전체가 같은 걸 쓰는 겁니다. 누구는 옛날 규칙, 누구는 자기가 고친 스킬을 쓰면 같은 엑셀을 넣어도 결과가 사람마다 달라집니다. 요청문을 보내면 AGENTS.md와 매출검수 스킬을 v1이라는 버전 이름을 붙인 ZIP 하나로 묶고, 메신저에 붙일 짧은 안내와 노션이나 컨플루언스 팀 페이지에 올릴 글을 써 줍니다. ZIP은 사내 메신저 팀방에, 안내 글은 팀 페이지에 올리시면 됩니다. 고칠 일이 생기면 담당자 한 사람이 원본을 고쳐 v2로 다시 올립니다. 개발 팀이 있는 곳이라면 같은 묶음을 GitHub에 두셔도 됩니다.</a:t>
            </a:r>
          </a:p>
          <a:p/>
          <a:p>
            <a:r>
              <a:t>진행·활동</a:t>
            </a:r>
          </a:p>
          <a:p>
            <a:r>
              <a:t>참가자는 요청문을 보내고 생긴 파일 세 개를 엽니다. 실제 업로드는 교육 뒤 팀 규칙에 맞춰 합니다.</a:t>
            </a:r>
          </a:p>
          <a:p/>
          <a:p>
            <a:r>
              <a:t>예상 답·검수 기준</a:t>
            </a:r>
          </a:p>
          <a:p>
            <a:r>
              <a:t>팀 공유 = 같은 AGENTS.md + 같은 스킬(버전 v1) + 담당자 한 명. 메신저 팀방·노션/컨플루언스 팀 페이지, 개발 팀은 GitHub.</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Obsidian · 내 PC 폴더에 쌓는 메모장, AI가 바로 읽습니다</a:t>
            </a:r>
          </a:p>
          <a:p>
            <a:r>
              <a:t>시간 15:35–15:55 중 선택 · 0분</a:t>
            </a:r>
          </a:p>
          <a:p>
            <a:r>
              <a:t>선택 참고 · 300분에 포함하지 않음</a:t>
            </a:r>
          </a:p>
          <a:p/>
          <a:p>
            <a:r>
              <a:t>발화 대본</a:t>
            </a:r>
          </a:p>
          <a:p>
            <a:r>
              <a:t>MCP 실습에 들어가기 전에 Obsidian이 뭔지 잠깐 보겠습니다. 공식 화면입니다. 왼쪽이 폴더, 가운데가 노트입니다. 메모 앱인데 특별한 점이 있습니다. 노트 하나가 내 PC 폴더의 파일 하나입니다. 앱을 지워도 메모는 폴더에 그대로 남습니다. 노트끼리는 대괄호 두 개로 링크를 걸고, 태그로 묶어서 찾습니다. 무료이고 윈도우, 맥, 휴대폰에서 다 됩니다. AI와 잘 맞는 이유가 여기 있습니다. 회의록, 업무 규칙, 행사 메모를 이 폴더에 쌓아 두고 AI에 연결하면, 오전에 본 검색 증강, RAG처럼 AI가 필요할 때 찾아 읽고 답합니다. 지금부터 실습 폴더의 지식보관함을 Obsidian으로 열어 보겠습니다.</a:t>
            </a:r>
          </a:p>
          <a:p/>
          <a:p>
            <a:r>
              <a:t>진행·활동</a:t>
            </a:r>
          </a:p>
          <a:p>
            <a:r>
              <a:t>Obsidian 화면을 띄우고, 이어지는 MCP 실습 1에서 실습 폴더의 지식보관함을 엽니다.</a:t>
            </a:r>
          </a:p>
          <a:p/>
          <a:p>
            <a:r>
              <a:t>예상 답·검수 기준</a:t>
            </a:r>
          </a:p>
          <a:p>
            <a:r>
              <a:t>Obsidian = 내 PC 폴더에 Markdown 노트를 쌓는 무료 앱. 노트끼리 링크·태그로 잇고, 폴더째 AI에 연결하면 RAG 자료가 된다.</a:t>
            </a:r>
          </a:p>
          <a:p/>
          <a:p>
            <a:r>
              <a:t>공식 확인일 2026-10-09</a:t>
            </a:r>
          </a:p>
          <a:p>
            <a:r>
              <a:t>[N14] Obsidian 공식 사이트(무료 · Windows·Mac·휴대폰)</a:t>
            </a:r>
          </a:p>
          <a:p>
            <a:r>
              <a:t>https://obsidian.md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MCP 실습 1 · Obsidian에 가상 노트 열기</a:t>
            </a:r>
          </a:p>
          <a:p>
            <a:r>
              <a:t>시간 15:35–15:55 중 선택 · 0분</a:t>
            </a:r>
          </a:p>
          <a:p>
            <a:r>
              <a:t>선택 참고 · 300분에 포함하지 않음</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MCP 실습 2 · 본인 AI에 연결 준비 요청</a:t>
            </a:r>
          </a:p>
          <a:p>
            <a:r>
              <a:t>시간 15:35–15:55 중 선택 · 0분</a:t>
            </a:r>
          </a:p>
          <a:p>
            <a:r>
              <a:t>선택 참고 · 300분에 포함하지 않음</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MCP 실습 3 · 실제 연결과 범위 확인</a:t>
            </a:r>
          </a:p>
          <a:p>
            <a:r>
              <a:t>시간 15:35–15:55 중 선택 · 0분</a:t>
            </a:r>
          </a:p>
          <a:p>
            <a:r>
              <a:t>선택 참고 · 300분에 포함하지 않음</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MCP 실습 4 · 변경된 행사 정보 찾기</a:t>
            </a:r>
          </a:p>
          <a:p>
            <a:r>
              <a:t>시간 15:35–15:55 중 선택 · 0분</a:t>
            </a:r>
          </a:p>
          <a:p>
            <a:r>
              <a:t>선택 참고 · 300분에 포함하지 않음</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MCP 실습 5 · 공지 초안을 새 노트로</a:t>
            </a:r>
          </a:p>
          <a:p>
            <a:r>
              <a:t>시간 15:35–15:55 중 선택 · 0분</a:t>
            </a:r>
          </a:p>
          <a:p>
            <a:r>
              <a:t>선택 참고 · 300분에 포함하지 않음</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MCP 실습 6 · Notion·Confluence로 확장</a:t>
            </a:r>
          </a:p>
          <a:p>
            <a:r>
              <a:t>시간 15:35–15:55 중 선택 · 0분</a:t>
            </a:r>
          </a:p>
          <a:p>
            <a:r>
              <a:t>선택 참고 · 300분에 포함하지 않음</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확장 1 · 그래프: 작성·검수·수정을 다른 AI에게 나눠 맡기기</a:t>
            </a:r>
          </a:p>
          <a:p>
            <a:r>
              <a:t>시간 15:35–15:55 중 선택 · 0분</a:t>
            </a:r>
          </a:p>
          <a:p>
            <a:r>
              <a:t>선택 참고 · 300분에 포함하지 않음</a:t>
            </a:r>
          </a:p>
          <a:p/>
          <a:p>
            <a:r>
              <a:t>발화 대본</a:t>
            </a:r>
          </a:p>
          <a:p>
            <a:r>
              <a:t>오전에 AI에게 일을 맡기는 다섯 번째 단계로 그래프를 말씀드렸죠. 이번엔 직접 해 보겠습니다. 한 AI가 쓰고 스스로 검사하면 자기 실수를 잘 못 봅니다. 그래서 역할을 나눕니다. Claude Code가 확정 문서로 공지를 쓰면 Codex가 같은 문서와 한 줄씩 대조해 검수표만 만듭니다. 그 검수표를 다시 Claude Code에 주면 고친 두 번째 판이 나옵니다. 작성, 검수, 수정이 세 칸이고 파일로 이어집니다. 이게 그래프입니다. 앞 단계 파일이 생긴 걸 확인하고 다음 요청문을 보내세요.</a:t>
            </a:r>
          </a:p>
          <a:p/>
          <a:p>
            <a:r>
              <a:t>진행·활동</a:t>
            </a:r>
          </a:p>
          <a:p>
            <a:r>
              <a:t>참가자는 세 요청문을 순서대로 보냅니다. 앞 단계 파일이 생긴 뒤에 다음 요청문을 보냅니다.</a:t>
            </a:r>
          </a:p>
          <a:p/>
          <a:p>
            <a:r>
              <a:t>예상 답·검수 기준</a:t>
            </a:r>
          </a:p>
          <a:p>
            <a:r>
              <a:t>그래프 = 역할(작성·검수·수정)을 노드로 나누고 파일로 잇기. 만든 AI와 검수하는 AI를 다르게.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확장 2 · 하위 에이전트에게 매장 파일을 나눠 맡기기</a:t>
            </a:r>
          </a:p>
          <a:p>
            <a:r>
              <a:t>시간 15:35–15:55 중 선택 · 0분</a:t>
            </a:r>
          </a:p>
          <a:p>
            <a:r>
              <a:t>선택 참고 · 300분에 포함하지 않음</a:t>
            </a:r>
          </a:p>
          <a:p/>
          <a:p>
            <a:r>
              <a:t>발화 대본</a:t>
            </a:r>
          </a:p>
          <a:p>
            <a:r>
              <a:t>이번엔 Claude Code 안에서 일을 쪼개 보겠습니다. 하위 에이전트라는 기능입니다. 매장 파일 세 개를 하위 에이전트 세 개에 하나씩 맡기면 동시에 따로 검사합니다. Claude Code는 팀장처럼 세 보고를 받아 한 표로 합치고, 아까 만든 오류목록과 같은지 다시 확인합니다. 파일이 많거나 일이 클 때 쓰는 방법입니다.</a:t>
            </a:r>
          </a:p>
          <a:p/>
          <a:p>
            <a:r>
              <a:t>진행·활동</a:t>
            </a:r>
          </a:p>
          <a:p>
            <a:r>
              <a:t>참가자는 요청문을 보내고 하위 에이전트가 따로 일하는 화면을 봅니다.</a:t>
            </a:r>
          </a:p>
          <a:p/>
          <a:p>
            <a:r>
              <a:t>예상 답·검수 기준</a:t>
            </a:r>
          </a:p>
          <a:p>
            <a:r>
              <a:t>하위 에이전트 = 큰 일을 쪼개 따로 맡기는 작은 에이전트. 결과는 본 에이전트가 합치고 대조.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실습 준비 · 컴퓨터 사용은 VS Code 확장만으로는 안 됩니다</a:t>
            </a:r>
          </a:p>
          <a:p>
            <a:r>
              <a:t>시간 15:35–15:55 중 선택 · 0분</a:t>
            </a:r>
          </a:p>
          <a:p>
            <a:r>
              <a:t>선택 참고 · 300분에 포함하지 않음</a:t>
            </a:r>
          </a:p>
          <a:p/>
          <a:p>
            <a:r>
              <a:t>발화 대본</a:t>
            </a:r>
          </a:p>
          <a:p>
            <a:r>
              <a:t>시작하기 전에 많이 물어보시는 것부터 정리하겠습니다. VS Code에 Claude Code와 Codex 확장만 깔면 컴퓨터 사용, 그러니까 AI가 화면을 직접 누르는 기능도 되느냐. 안 됩니다. 화면 조작은 데스크톱 앱에서 합니다. Claude는 claude.ai/download에서 데스크톱 앱을 받아 설정, 이 컴퓨터, 시스템에서 컴퓨터 사용을 켭니다. Pro나 Max 요금제가 필요합니다. ChatGPT는 chatgpt.com/download에서 데스크톱 앱을 받고, Work나 Codex에서 플러그인의 Computer Use를 설치한 다음 입력창에 @Computer를 붙입니다. 이건 설정에서 직접 켜는 거라 요청문으로 켜 달라고 해도 켜지지 않습니다. Mac은 손쉬운 사용과 화면 기록 권한도 허용해야 합니다. VS Code의 Claude Code는 Chrome에 Claude 확장을 깔면 @browser로 브라우저만 다룰 수 있습니다. 오늘 VS Code 확장은 폴더 안의 파일 실습에 쓰고, 화면 조작은 앱이 있는 분만 선택으로 해 봅니다.</a:t>
            </a:r>
          </a:p>
          <a:p/>
          <a:p>
            <a:r>
              <a:t>진행·활동</a:t>
            </a:r>
          </a:p>
          <a:p>
            <a:r>
              <a:t>강사가 사용하는 앱과 확장 프로그램의 차이를 안내합니다. 화면 조작은 선택 활동입니다.</a:t>
            </a:r>
          </a:p>
          <a:p/>
          <a:p>
            <a:r>
              <a:t>예상 답·검수 기준</a:t>
            </a:r>
          </a:p>
          <a:p>
            <a:r>
              <a:t>VS Code 확장만으로는 화면 조작이 안 된다. Claude·ChatGPT 데스크톱 앱을 설치하고 설정에서 켠다(요청문으로 못 켬). VS Code Claude Code는 Chrome 확장으로 브라우저만.</a:t>
            </a:r>
          </a:p>
          <a:p/>
          <a:p>
            <a:r>
              <a:t>공식 확인일 2026-10-09</a:t>
            </a:r>
          </a:p>
          <a:p>
            <a:r>
              <a:t>[N11] Claude Code · 컴퓨터 사용(CLI는 macOS, Desktop은 macOS·Windows)</a:t>
            </a:r>
          </a:p>
          <a:p>
            <a:r>
              <a:t>https://code.claude.com/docs/en/computer-use</a:t>
            </a:r>
          </a:p>
          <a:p>
            <a:r>
              <a:t>[N12] ChatGPT · Computer Use(데스크톱 앱 Work·Codex, 플러그인, @Computer)</a:t>
            </a:r>
          </a:p>
          <a:p>
            <a:r>
              <a:t>https://learn.chatgpt.com/docs/computer-use</a:t>
            </a:r>
          </a:p>
          <a:p>
            <a:r>
              <a:t>[N13] Claude Code · VS Code 확장(Chrome 연결 @browser, /mcp)</a:t>
            </a:r>
          </a:p>
          <a:p>
            <a:r>
              <a:t>https://code.claude.com/docs/en/vs-code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컴퓨터 사용 1 · 내 브라우저에서 학습 설정부터 끄기</a:t>
            </a:r>
          </a:p>
          <a:p>
            <a:r>
              <a:t>시간 15:35–15:55 중 선택 · 0분</a:t>
            </a:r>
          </a:p>
          <a:p>
            <a:r>
              <a:t>선택 참고 · 300분에 포함하지 않음</a:t>
            </a:r>
          </a:p>
          <a:p/>
          <a:p>
            <a:r>
              <a:t>발화 대본</a:t>
            </a:r>
          </a:p>
          <a:p>
            <a:r>
              <a:t>컴퓨터 사용이 되는 분은 계산기보다 이걸 먼저 하겠습니다. 오전에 본 학습 설정 끄기를 AI에게 맡깁니다. 요청문을 보내면 AI가 브라우저를 열고 ChatGPT, Claude, Gemini 설정 화면을 차례로 엽니다. 켜져 있으면 끄기 전에 화면을 보여 주니, 확인하고 꺼 달라고 답하세요. 비밀번호나 결제는 건드리지 않게 했습니다. 끝나면 표로 알려 주는데, 표만 믿지 말고 화면을 직접 열어 꺼졌는지 보세요. 컴퓨터 사용이 안 되는 분은 오전에 본 세 화면을 직접 열어서 끄시면 됩니다.</a:t>
            </a:r>
          </a:p>
          <a:p/>
          <a:p>
            <a:r>
              <a:t>진행·활동</a:t>
            </a:r>
          </a:p>
          <a:p>
            <a:r>
              <a:t>참가자는 슬라이드의 요청문을 복사해 붙여 넣고 강사는 돌아다니며 막힌 사람을 돕습니다.</a:t>
            </a:r>
          </a:p>
          <a:p/>
          <a:p>
            <a:r>
              <a:t>예상 답·검수 기준</a:t>
            </a:r>
          </a:p>
          <a:p>
            <a:r>
              <a:t>ChatGPT·Claude·Gemini 학습 설정 끔(사람이 화면으로 확인). 비밀번호·결제·다른 설정은 손대지 않음.</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컴퓨터 사용 몸풀기 (선택) · 계산기</a:t>
            </a:r>
          </a:p>
          <a:p>
            <a:r>
              <a:t>시간 15:35–15:55 중 선택 · 0분</a:t>
            </a:r>
          </a:p>
          <a:p>
            <a:r>
              <a:t>선택 참고 · 300분에 포함하지 않음</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선택 · 메모장에 가상 안내문 쓰게 하기</a:t>
            </a:r>
          </a:p>
          <a:p>
            <a:r>
              <a:t>시간 15:35–15:55 중 선택 · 0분</a:t>
            </a:r>
          </a:p>
          <a:p>
            <a:r>
              <a:t>선택 참고 · 300분에 포함하지 않음</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 막혔을 때 · 연결 점검하고 파일 실습으로</a:t>
            </a:r>
          </a:p>
          <a:p>
            <a:r>
              <a:t>시간 15:35–15:55 중 선택 · 0분</a:t>
            </a:r>
          </a:p>
          <a:p>
            <a:r>
              <a:t>선택 참고 · 300분에 포함하지 않음</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결과 폴더 확인</a:t>
            </a:r>
          </a:p>
          <a:p>
            <a:r>
              <a:t>시간 15:55–15:58 · 3분</a:t>
            </a:r>
          </a:p>
          <a:p>
            <a:r>
              <a:t>발화 약 100초 · 시연/화면 확인/활동 70초 · 전환 10초 = 3분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 · 수고하셨습니다</a:t>
            </a:r>
          </a:p>
          <a:p>
            <a:r>
              <a:t>시간 15:58–16:00 · 2분</a:t>
            </a:r>
          </a:p>
          <a:p>
            <a:r>
              <a:t>발화 약 75초 · 시연/화면 확인/활동 35초 · 전환 10초 = 2분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r2BPBrL6-ew"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1w2ltkVRQLg"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60.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5.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37.png"/><Relationship Id="rId6" Type="http://schemas.openxmlformats.org/officeDocument/2006/relationships/image" Target="../media/image67.png"/><Relationship Id="rId7" Type="http://schemas.openxmlformats.org/officeDocument/2006/relationships/image" Target="../media/image1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7.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12.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12.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0.png"/><Relationship Id="rId8" Type="http://schemas.openxmlformats.org/officeDocument/2006/relationships/image" Target="../media/image16.png"/><Relationship Id="rId9" Type="http://schemas.openxmlformats.org/officeDocument/2006/relationships/image" Target="../media/image83.png"/><Relationship Id="rId10" Type="http://schemas.openxmlformats.org/officeDocument/2006/relationships/image" Target="../media/image89.png"/><Relationship Id="rId11" Type="http://schemas.openxmlformats.org/officeDocument/2006/relationships/image" Target="../media/image12.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9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58.png"/><Relationship Id="rId4" Type="http://schemas.openxmlformats.org/officeDocument/2006/relationships/image" Target="../media/image80.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2.png"/><Relationship Id="rId6" Type="http://schemas.openxmlformats.org/officeDocument/2006/relationships/image" Target="../media/image1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2.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7.png"/><Relationship Id="rId6" Type="http://schemas.openxmlformats.org/officeDocument/2006/relationships/image" Target="../media/image112.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1.png"/><Relationship Id="rId8" Type="http://schemas.openxmlformats.org/officeDocument/2006/relationships/image" Target="../media/image118.png"/><Relationship Id="rId9" Type="http://schemas.openxmlformats.org/officeDocument/2006/relationships/image" Target="../media/image13.png"/><Relationship Id="rId10" Type="http://schemas.openxmlformats.org/officeDocument/2006/relationships/image" Target="../media/image37.png"/><Relationship Id="rId1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image" Target="../media/image12.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22.png"/><Relationship Id="rId8" Type="http://schemas.openxmlformats.org/officeDocument/2006/relationships/image" Target="../media/image127.png"/><Relationship Id="rId9" Type="http://schemas.openxmlformats.org/officeDocument/2006/relationships/image" Target="../media/image90.png"/><Relationship Id="rId10" Type="http://schemas.openxmlformats.org/officeDocument/2006/relationships/image" Target="../media/image59.png"/><Relationship Id="rId1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127.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2.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image" Target="../media/image33.png"/><Relationship Id="rId4" Type="http://schemas.openxmlformats.org/officeDocument/2006/relationships/hyperlink" Target="https://www.youtube.com/watch?v=Gm0VmDJNBAU" TargetMode="External"/><Relationship Id="rId5" Type="http://schemas.openxmlformats.org/officeDocument/2006/relationships/image" Target="../media/image34.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34.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3.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2.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8.png"/><Relationship Id="rId6" Type="http://schemas.openxmlformats.org/officeDocument/2006/relationships/image" Target="../media/image12.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79.png"/><Relationship Id="rId4" Type="http://schemas.openxmlformats.org/officeDocument/2006/relationships/image" Target="../media/image140.png"/><Relationship Id="rId5" Type="http://schemas.openxmlformats.org/officeDocument/2006/relationships/image" Target="../media/image12.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2.png"/><Relationship Id="rId4" Type="http://schemas.openxmlformats.org/officeDocument/2006/relationships/image" Target="../media/image117.png"/><Relationship Id="rId5" Type="http://schemas.openxmlformats.org/officeDocument/2006/relationships/image" Target="../media/image67.png"/><Relationship Id="rId6" Type="http://schemas.openxmlformats.org/officeDocument/2006/relationships/image" Target="../media/image118.png"/><Relationship Id="rId7" Type="http://schemas.openxmlformats.org/officeDocument/2006/relationships/image" Target="../media/image121.png"/><Relationship Id="rId8" Type="http://schemas.openxmlformats.org/officeDocument/2006/relationships/image" Target="../media/image33.png"/><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24.png"/><Relationship Id="rId6" Type="http://schemas.openxmlformats.org/officeDocument/2006/relationships/image" Target="../media/image145.png"/><Relationship Id="rId7" Type="http://schemas.openxmlformats.org/officeDocument/2006/relationships/image" Target="../media/image12.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4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37.png"/><Relationship Id="rId6" Type="http://schemas.openxmlformats.org/officeDocument/2006/relationships/image" Target="../media/image151.png"/><Relationship Id="rId7" Type="http://schemas.openxmlformats.org/officeDocument/2006/relationships/image" Target="../media/image152.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image" Target="../media/image24.png"/><Relationship Id="rId4" Type="http://schemas.openxmlformats.org/officeDocument/2006/relationships/image" Target="../media/image150.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6.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36.png"/><Relationship Id="rId4" Type="http://schemas.openxmlformats.org/officeDocument/2006/relationships/image" Target="../media/image156.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 Id="rId6" Type="http://schemas.openxmlformats.org/officeDocument/2006/relationships/image" Target="../media/image160.png"/><Relationship Id="rId7" Type="http://schemas.openxmlformats.org/officeDocument/2006/relationships/image" Target="../media/image161.png"/><Relationship Id="rId8" Type="http://schemas.openxmlformats.org/officeDocument/2006/relationships/image" Target="../media/image12.png"/><Relationship Id="rId9"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image" Target="../media/image136.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88.png"/><Relationship Id="rId7" Type="http://schemas.openxmlformats.org/officeDocument/2006/relationships/image" Target="../media/image166.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69.png"/><Relationship Id="rId4" Type="http://schemas.openxmlformats.org/officeDocument/2006/relationships/image" Target="../media/image170.png"/><Relationship Id="rId5" Type="http://schemas.openxmlformats.org/officeDocument/2006/relationships/image" Target="../media/image171.png"/><Relationship Id="rId6" Type="http://schemas.openxmlformats.org/officeDocument/2006/relationships/image" Target="../media/image12.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85.png"/><Relationship Id="rId6" Type="http://schemas.openxmlformats.org/officeDocument/2006/relationships/image" Target="../media/image175.png"/><Relationship Id="rId7" Type="http://schemas.openxmlformats.org/officeDocument/2006/relationships/image" Target="../media/image166.png"/><Relationship Id="rId8" Type="http://schemas.openxmlformats.org/officeDocument/2006/relationships/image" Target="../media/image12.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10.png"/><Relationship Id="rId5" Type="http://schemas.openxmlformats.org/officeDocument/2006/relationships/image" Target="../media/image179.png"/><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24.png"/><Relationship Id="rId4" Type="http://schemas.openxmlformats.org/officeDocument/2006/relationships/image" Target="../media/image152.png"/><Relationship Id="rId5" Type="http://schemas.openxmlformats.org/officeDocument/2006/relationships/image" Target="../media/image180.png"/><Relationship Id="rId6" Type="http://schemas.openxmlformats.org/officeDocument/2006/relationships/image" Target="../media/image12.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24.png"/><Relationship Id="rId4" Type="http://schemas.openxmlformats.org/officeDocument/2006/relationships/image" Target="../media/image181.png"/><Relationship Id="rId5" Type="http://schemas.openxmlformats.org/officeDocument/2006/relationships/image" Target="../media/image182.png"/><Relationship Id="rId6" Type="http://schemas.openxmlformats.org/officeDocument/2006/relationships/image" Target="../media/image87.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37.png"/><Relationship Id="rId5" Type="http://schemas.openxmlformats.org/officeDocument/2006/relationships/image" Target="../media/image185.png"/><Relationship Id="rId6"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23.png"/><Relationship Id="rId5" Type="http://schemas.openxmlformats.org/officeDocument/2006/relationships/image" Target="../media/image125.png"/><Relationship Id="rId6" Type="http://schemas.openxmlformats.org/officeDocument/2006/relationships/image" Target="../media/image105.png"/><Relationship Id="rId7" Type="http://schemas.openxmlformats.org/officeDocument/2006/relationships/image" Target="../media/image1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38.png"/><Relationship Id="rId4" Type="http://schemas.openxmlformats.org/officeDocument/2006/relationships/image" Target="../media/image12.png"/><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38.png"/><Relationship Id="rId5" Type="http://schemas.openxmlformats.org/officeDocument/2006/relationships/image" Target="../media/image12.png"/><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1.png"/><Relationship Id="rId3" Type="http://schemas.openxmlformats.org/officeDocument/2006/relationships/image" Target="../media/image105.png"/><Relationship Id="rId4" Type="http://schemas.openxmlformats.org/officeDocument/2006/relationships/image" Target="../media/image182.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2.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39.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196.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9.png"/><Relationship Id="rId3" Type="http://schemas.openxmlformats.org/officeDocument/2006/relationships/image" Target="../media/image200.png"/><Relationship Id="rId4" Type="http://schemas.openxmlformats.org/officeDocument/2006/relationships/image" Target="../media/image138.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100.png"/><Relationship Id="rId4" Type="http://schemas.openxmlformats.org/officeDocument/2006/relationships/image" Target="../media/image140.png"/><Relationship Id="rId5" Type="http://schemas.openxmlformats.org/officeDocument/2006/relationships/image" Target="../media/image137.png"/><Relationship Id="rId6" Type="http://schemas.openxmlformats.org/officeDocument/2006/relationships/image" Target="../media/image12.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image" Target="../media/image12.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26.png"/><Relationship Id="rId4" Type="http://schemas.openxmlformats.org/officeDocument/2006/relationships/image" Target="../media/image205.png"/><Relationship Id="rId5" Type="http://schemas.openxmlformats.org/officeDocument/2006/relationships/image" Target="../media/image12.png"/><Relationship Id="rId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06.png"/><Relationship Id="rId4" Type="http://schemas.openxmlformats.org/officeDocument/2006/relationships/image" Target="../media/image100.png"/><Relationship Id="rId5" Type="http://schemas.openxmlformats.org/officeDocument/2006/relationships/image" Target="../media/image12.png"/><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66.png"/><Relationship Id="rId4" Type="http://schemas.openxmlformats.org/officeDocument/2006/relationships/image" Target="../media/image137.png"/><Relationship Id="rId5" Type="http://schemas.openxmlformats.org/officeDocument/2006/relationships/image" Target="../media/image208.png"/><Relationship Id="rId6" Type="http://schemas.openxmlformats.org/officeDocument/2006/relationships/image" Target="../media/image12.png"/><Relationship Id="rId7"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123.png"/><Relationship Id="rId4" Type="http://schemas.openxmlformats.org/officeDocument/2006/relationships/image" Target="../media/image80.png"/><Relationship Id="rId5" Type="http://schemas.openxmlformats.org/officeDocument/2006/relationships/image" Target="../media/image12.png"/><Relationship Id="rId6"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36.png"/><Relationship Id="rId4" Type="http://schemas.openxmlformats.org/officeDocument/2006/relationships/image" Target="../media/image211.png"/><Relationship Id="rId5" Type="http://schemas.openxmlformats.org/officeDocument/2006/relationships/image" Target="../media/image12.png"/><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12.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214.png"/><Relationship Id="rId4" Type="http://schemas.openxmlformats.org/officeDocument/2006/relationships/image" Target="../media/image153.png"/><Relationship Id="rId5" Type="http://schemas.openxmlformats.org/officeDocument/2006/relationships/image" Target="../media/image79.png"/><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41.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5.png"/><Relationship Id="rId4" Type="http://schemas.openxmlformats.org/officeDocument/2006/relationships/image" Target="../media/image37.png"/><Relationship Id="rId5" Type="http://schemas.openxmlformats.org/officeDocument/2006/relationships/image" Target="../media/image185.png"/><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37.png"/><Relationship Id="rId4" Type="http://schemas.openxmlformats.org/officeDocument/2006/relationships/image" Target="../media/image124.png"/><Relationship Id="rId5" Type="http://schemas.openxmlformats.org/officeDocument/2006/relationships/image" Target="../media/image88.png"/><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136.png"/><Relationship Id="rId4" Type="http://schemas.openxmlformats.org/officeDocument/2006/relationships/image" Target="../media/image217.png"/><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3746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73506"/>
            <a:ext cx="230886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76400"/>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907737"/>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95417"/>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83097"/>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
        <p:nvSpPr>
          <p:cNvPr id="15" name="footer · © 2026 colding · 김승찬. All ri"/>
          <p:cNvSpPr txBox="1"/>
          <p:nvPr/>
        </p:nvSpPr>
        <p:spPr>
          <a:xfrm>
            <a:off x="609600" y="6492240"/>
            <a:ext cx="685800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2026 colding · 김승찬.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255520"/>
            <a:ext cx="3124200" cy="377952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83920" y="2529840"/>
            <a:ext cx="457200" cy="45720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94409" y="2640330"/>
            <a:ext cx="236220" cy="236220"/>
          </a:xfrm>
          <a:prstGeom prst="rect">
            <a:avLst/>
          </a:prstGeom>
        </p:spPr>
      </p:pic>
      <p:sp>
        <p:nvSpPr>
          <p:cNvPr id="12" name="body · 김승찬"/>
          <p:cNvSpPr txBox="1"/>
          <p:nvPr/>
        </p:nvSpPr>
        <p:spPr>
          <a:xfrm>
            <a:off x="883920" y="3169920"/>
            <a:ext cx="2575560" cy="59436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김승찬</a:t>
            </a:r>
          </a:p>
        </p:txBody>
      </p:sp>
      <p:sp>
        <p:nvSpPr>
          <p:cNvPr id="13" name="body · Full-stack Developer&#10;AI Agen"/>
          <p:cNvSpPr txBox="1"/>
          <p:nvPr/>
        </p:nvSpPr>
        <p:spPr>
          <a:xfrm>
            <a:off x="883920" y="3916680"/>
            <a:ext cx="2575560" cy="54864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9FCF94"/>
                </a:solidFill>
                <a:latin typeface="Noto Sans KR"/>
                <a:ea typeface="Noto Sans KR"/>
                <a:cs typeface="Noto Sans KR"/>
              </a:rPr>
              <a:t>Full-stack Developer</a:t>
            </a:r>
          </a:p>
          <a:p>
            <a:pPr algn="l">
              <a:lnSpc>
                <a:spcPts val="1987"/>
              </a:lnSpc>
              <a:spcBef>
                <a:spcPts val="0"/>
              </a:spcBef>
              <a:spcAft>
                <a:spcPts val="0"/>
              </a:spcAft>
            </a:pPr>
            <a:r>
              <a:rPr sz="1439" b="1">
                <a:solidFill>
                  <a:srgbClr val="9FCF94"/>
                </a:solidFill>
                <a:latin typeface="Noto Sans KR"/>
                <a:ea typeface="Noto Sans KR"/>
                <a:cs typeface="Noto Sans KR"/>
              </a:rPr>
              <a:t>AI Agent Developer</a:t>
            </a:r>
          </a:p>
        </p:txBody>
      </p:sp>
      <p:sp>
        <p:nvSpPr>
          <p:cNvPr id="14" name="Rectangle 13"/>
          <p:cNvSpPr/>
          <p:nvPr/>
        </p:nvSpPr>
        <p:spPr>
          <a:xfrm>
            <a:off x="883920" y="4815840"/>
            <a:ext cx="2575560" cy="7620"/>
          </a:xfrm>
          <a:prstGeom prst="rect">
            <a:avLst/>
          </a:prstGeom>
          <a:solidFill>
            <a:srgbClr val="285A3E"/>
          </a:solidFill>
          <a:ln>
            <a:noFill/>
          </a:ln>
          <a:effectLst/>
        </p:spPr>
        <p:txBody>
          <a:bodyPr rtlCol="0" anchor="ctr"/>
          <a:lstStyle/>
          <a:p>
            <a:pPr algn="ctr"/>
          </a:p>
        </p:txBody>
      </p:sp>
      <p:pic>
        <p:nvPicPr>
          <p:cNvPr id="15" name="Picture 14" descr="globe-D3E8D5.png"/>
          <p:cNvPicPr>
            <a:picLocks noChangeAspect="1"/>
          </p:cNvPicPr>
          <p:nvPr/>
        </p:nvPicPr>
        <p:blipFill>
          <a:blip r:embed="rId3"/>
          <a:srcRect/>
          <a:stretch>
            <a:fillRect/>
          </a:stretch>
        </p:blipFill>
        <p:spPr>
          <a:xfrm>
            <a:off x="883920" y="5109667"/>
            <a:ext cx="182880" cy="182880"/>
          </a:xfrm>
          <a:prstGeom prst="rect">
            <a:avLst/>
          </a:prstGeom>
        </p:spPr>
      </p:pic>
      <p:sp>
        <p:nvSpPr>
          <p:cNvPr id="16" name="body · kscold.com 운영"/>
          <p:cNvSpPr txBox="1"/>
          <p:nvPr/>
        </p:nvSpPr>
        <p:spPr>
          <a:xfrm>
            <a:off x="1158240" y="5074920"/>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kscold.com 운영</a:t>
            </a:r>
          </a:p>
        </p:txBody>
      </p:sp>
      <p:pic>
        <p:nvPicPr>
          <p:cNvPr id="17" name="Picture 16" descr="globe-D3E8D5.png"/>
          <p:cNvPicPr>
            <a:picLocks noChangeAspect="1"/>
          </p:cNvPicPr>
          <p:nvPr/>
        </p:nvPicPr>
        <p:blipFill>
          <a:blip r:embed="rId3"/>
          <a:srcRect/>
          <a:stretch>
            <a:fillRect/>
          </a:stretch>
        </p:blipFill>
        <p:spPr>
          <a:xfrm>
            <a:off x="883920" y="5475427"/>
            <a:ext cx="182880" cy="182880"/>
          </a:xfrm>
          <a:prstGeom prst="rect">
            <a:avLst/>
          </a:prstGeom>
        </p:spPr>
      </p:pic>
      <p:sp>
        <p:nvSpPr>
          <p:cNvPr id="18" name="body · pawpong.kr 운영"/>
          <p:cNvSpPr txBox="1"/>
          <p:nvPr/>
        </p:nvSpPr>
        <p:spPr>
          <a:xfrm>
            <a:off x="1158240" y="5440680"/>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pawpong.kr 운영</a:t>
            </a:r>
          </a:p>
        </p:txBody>
      </p:sp>
      <p:sp>
        <p:nvSpPr>
          <p:cNvPr id="19" name="Rounded Rectangle 18"/>
          <p:cNvSpPr/>
          <p:nvPr/>
        </p:nvSpPr>
        <p:spPr>
          <a:xfrm>
            <a:off x="4038600" y="2255520"/>
            <a:ext cx="7543800" cy="853440"/>
          </a:xfrm>
          <a:prstGeom prst="roundRect">
            <a:avLst>
              <a:gd name="adj" fmla="val 12500"/>
            </a:avLst>
          </a:prstGeom>
          <a:solidFill>
            <a:srgbClr val="F3F7F3"/>
          </a:solidFill>
          <a:ln>
            <a:noFill/>
          </a:ln>
          <a:effectLst/>
        </p:spPr>
        <p:txBody>
          <a:bodyPr rtlCol="0" anchor="ctr"/>
          <a:lstStyle/>
          <a:p>
            <a:pPr algn="ctr"/>
          </a:p>
        </p:txBody>
      </p:sp>
      <p:sp>
        <p:nvSpPr>
          <p:cNvPr id="20" name="Rounded Rectangle 19"/>
          <p:cNvSpPr/>
          <p:nvPr/>
        </p:nvSpPr>
        <p:spPr>
          <a:xfrm>
            <a:off x="4282440" y="2529840"/>
            <a:ext cx="304800" cy="304800"/>
          </a:xfrm>
          <a:prstGeom prst="roundRect">
            <a:avLst>
              <a:gd name="adj" fmla="val 50000"/>
            </a:avLst>
          </a:prstGeom>
          <a:solidFill>
            <a:srgbClr val="2F7048"/>
          </a:solidFill>
          <a:ln>
            <a:noFill/>
          </a:ln>
          <a:effectLst/>
        </p:spPr>
        <p:txBody>
          <a:bodyPr rtlCol="0" anchor="ctr"/>
          <a:lstStyle/>
          <a:p>
            <a:pPr algn="ctr"/>
          </a:p>
        </p:txBody>
      </p:sp>
      <p:pic>
        <p:nvPicPr>
          <p:cNvPr id="21" name="Picture 20" descr="map-pin-FFFFFF.png"/>
          <p:cNvPicPr>
            <a:picLocks noChangeAspect="1"/>
          </p:cNvPicPr>
          <p:nvPr/>
        </p:nvPicPr>
        <p:blipFill>
          <a:blip r:embed="rId4"/>
          <a:srcRect/>
          <a:stretch>
            <a:fillRect/>
          </a:stretch>
        </p:blipFill>
        <p:spPr>
          <a:xfrm>
            <a:off x="4354830" y="2602230"/>
            <a:ext cx="160020" cy="160020"/>
          </a:xfrm>
          <a:prstGeom prst="rect">
            <a:avLst/>
          </a:prstGeom>
        </p:spPr>
      </p:pic>
      <p:sp>
        <p:nvSpPr>
          <p:cNvPr id="22" name="body · 현재"/>
          <p:cNvSpPr txBox="1"/>
          <p:nvPr/>
        </p:nvSpPr>
        <p:spPr>
          <a:xfrm>
            <a:off x="4724400" y="253502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현재</a:t>
            </a:r>
          </a:p>
        </p:txBody>
      </p:sp>
      <p:sp>
        <p:nvSpPr>
          <p:cNvPr id="23" name="body · 씨에스리 AI기술연구소 연구원&#10;풀스택 개발 · AI"/>
          <p:cNvSpPr txBox="1"/>
          <p:nvPr/>
        </p:nvSpPr>
        <p:spPr>
          <a:xfrm>
            <a:off x="6187440" y="2387803"/>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씨에스리 AI기술연구소 연구원</a:t>
            </a:r>
          </a:p>
          <a:p>
            <a:pPr algn="l">
              <a:lnSpc>
                <a:spcPts val="2318"/>
              </a:lnSpc>
              <a:spcBef>
                <a:spcPts val="0"/>
              </a:spcBef>
              <a:spcAft>
                <a:spcPts val="0"/>
              </a:spcAft>
            </a:pPr>
            <a:r>
              <a:rPr sz="1680" b="0">
                <a:solidFill>
                  <a:srgbClr val="17221B"/>
                </a:solidFill>
                <a:latin typeface="Noto Sans KR"/>
                <a:ea typeface="Noto Sans KR"/>
                <a:cs typeface="Noto Sans KR"/>
              </a:rPr>
              <a:t>풀스택 개발 · AI Agent 기획·개발</a:t>
            </a:r>
          </a:p>
        </p:txBody>
      </p:sp>
      <p:sp>
        <p:nvSpPr>
          <p:cNvPr id="24" name="Rounded Rectangle 23"/>
          <p:cNvSpPr/>
          <p:nvPr/>
        </p:nvSpPr>
        <p:spPr>
          <a:xfrm>
            <a:off x="4038600" y="3230880"/>
            <a:ext cx="7543800" cy="853440"/>
          </a:xfrm>
          <a:prstGeom prst="roundRect">
            <a:avLst>
              <a:gd name="adj" fmla="val 12500"/>
            </a:avLst>
          </a:prstGeom>
          <a:solidFill>
            <a:srgbClr val="F3F7F3"/>
          </a:solidFill>
          <a:ln>
            <a:noFill/>
          </a:ln>
          <a:effectLst/>
        </p:spPr>
        <p:txBody>
          <a:bodyPr rtlCol="0" anchor="ctr"/>
          <a:lstStyle/>
          <a:p>
            <a:pPr algn="ctr"/>
          </a:p>
        </p:txBody>
      </p:sp>
      <p:sp>
        <p:nvSpPr>
          <p:cNvPr id="25" name="Rounded Rectangle 24"/>
          <p:cNvSpPr/>
          <p:nvPr/>
        </p:nvSpPr>
        <p:spPr>
          <a:xfrm>
            <a:off x="4282440" y="350520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briefcase-FFFFFF.png"/>
          <p:cNvPicPr>
            <a:picLocks noChangeAspect="1"/>
          </p:cNvPicPr>
          <p:nvPr/>
        </p:nvPicPr>
        <p:blipFill>
          <a:blip r:embed="rId5"/>
          <a:srcRect/>
          <a:stretch>
            <a:fillRect/>
          </a:stretch>
        </p:blipFill>
        <p:spPr>
          <a:xfrm>
            <a:off x="4354830" y="3577590"/>
            <a:ext cx="160020" cy="160020"/>
          </a:xfrm>
          <a:prstGeom prst="rect">
            <a:avLst/>
          </a:prstGeom>
        </p:spPr>
      </p:pic>
      <p:sp>
        <p:nvSpPr>
          <p:cNvPr id="27" name="body · 개인 사업"/>
          <p:cNvSpPr txBox="1"/>
          <p:nvPr/>
        </p:nvSpPr>
        <p:spPr>
          <a:xfrm>
            <a:off x="4724400" y="351038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개인 사업</a:t>
            </a:r>
          </a:p>
        </p:txBody>
      </p:sp>
      <p:sp>
        <p:nvSpPr>
          <p:cNvPr id="28" name="body · 개인 사업자로 서비스 운영&#10;외주 개발 프로젝트 수행"/>
          <p:cNvSpPr txBox="1"/>
          <p:nvPr/>
        </p:nvSpPr>
        <p:spPr>
          <a:xfrm>
            <a:off x="6187440" y="3363163"/>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개인 사업자로 서비스 운영</a:t>
            </a:r>
          </a:p>
          <a:p>
            <a:pPr algn="l">
              <a:lnSpc>
                <a:spcPts val="2318"/>
              </a:lnSpc>
              <a:spcBef>
                <a:spcPts val="0"/>
              </a:spcBef>
              <a:spcAft>
                <a:spcPts val="0"/>
              </a:spcAft>
            </a:pPr>
            <a:r>
              <a:rPr sz="1680" b="0">
                <a:solidFill>
                  <a:srgbClr val="17221B"/>
                </a:solidFill>
                <a:latin typeface="Noto Sans KR"/>
                <a:ea typeface="Noto Sans KR"/>
                <a:cs typeface="Noto Sans KR"/>
              </a:rPr>
              <a:t>외주 개발 프로젝트 수행</a:t>
            </a:r>
          </a:p>
        </p:txBody>
      </p:sp>
      <p:sp>
        <p:nvSpPr>
          <p:cNvPr id="29" name="Rounded Rectangle 28"/>
          <p:cNvSpPr/>
          <p:nvPr/>
        </p:nvSpPr>
        <p:spPr>
          <a:xfrm>
            <a:off x="4038600" y="4206240"/>
            <a:ext cx="7543800" cy="853440"/>
          </a:xfrm>
          <a:prstGeom prst="roundRect">
            <a:avLst>
              <a:gd name="adj" fmla="val 12500"/>
            </a:avLst>
          </a:prstGeom>
          <a:solidFill>
            <a:srgbClr val="F3F7F3"/>
          </a:solidFill>
          <a:ln>
            <a:noFill/>
          </a:ln>
          <a:effectLst/>
        </p:spPr>
        <p:txBody>
          <a:bodyPr rtlCol="0" anchor="ctr"/>
          <a:lstStyle/>
          <a:p>
            <a:pPr algn="ctr"/>
          </a:p>
        </p:txBody>
      </p:sp>
      <p:sp>
        <p:nvSpPr>
          <p:cNvPr id="30" name="Rounded Rectangle 29"/>
          <p:cNvSpPr/>
          <p:nvPr/>
        </p:nvSpPr>
        <p:spPr>
          <a:xfrm>
            <a:off x="4282440" y="448056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history-FFFFFF.png"/>
          <p:cNvPicPr>
            <a:picLocks noChangeAspect="1"/>
          </p:cNvPicPr>
          <p:nvPr/>
        </p:nvPicPr>
        <p:blipFill>
          <a:blip r:embed="rId6"/>
          <a:srcRect/>
          <a:stretch>
            <a:fillRect/>
          </a:stretch>
        </p:blipFill>
        <p:spPr>
          <a:xfrm>
            <a:off x="4354830" y="4552950"/>
            <a:ext cx="160020" cy="160020"/>
          </a:xfrm>
          <a:prstGeom prst="rect">
            <a:avLst/>
          </a:prstGeom>
        </p:spPr>
      </p:pic>
      <p:sp>
        <p:nvSpPr>
          <p:cNvPr id="32" name="body · 이전 경력"/>
          <p:cNvSpPr txBox="1"/>
          <p:nvPr/>
        </p:nvSpPr>
        <p:spPr>
          <a:xfrm>
            <a:off x="4724400" y="448574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이전 경력</a:t>
            </a:r>
          </a:p>
        </p:txBody>
      </p:sp>
      <p:sp>
        <p:nvSpPr>
          <p:cNvPr id="33" name="body · 식품 커머스 풀스택 개발자"/>
          <p:cNvSpPr txBox="1"/>
          <p:nvPr/>
        </p:nvSpPr>
        <p:spPr>
          <a:xfrm>
            <a:off x="6187440" y="4485741"/>
            <a:ext cx="5151120" cy="294436"/>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식품 커머스 풀스택 개발자</a:t>
            </a:r>
          </a:p>
        </p:txBody>
      </p:sp>
      <p:sp>
        <p:nvSpPr>
          <p:cNvPr id="34" name="Rounded Rectangle 33"/>
          <p:cNvSpPr/>
          <p:nvPr/>
        </p:nvSpPr>
        <p:spPr>
          <a:xfrm>
            <a:off x="4038600" y="5181600"/>
            <a:ext cx="7543800" cy="853440"/>
          </a:xfrm>
          <a:prstGeom prst="roundRect">
            <a:avLst>
              <a:gd name="adj" fmla="val 12500"/>
            </a:avLst>
          </a:prstGeom>
          <a:solidFill>
            <a:srgbClr val="F3F7F3"/>
          </a:solidFill>
          <a:ln>
            <a:noFill/>
          </a:ln>
          <a:effectLst/>
        </p:spPr>
        <p:txBody>
          <a:bodyPr rtlCol="0" anchor="ctr"/>
          <a:lstStyle/>
          <a:p>
            <a:pPr algn="ctr"/>
          </a:p>
        </p:txBody>
      </p:sp>
      <p:sp>
        <p:nvSpPr>
          <p:cNvPr id="35" name="Rounded Rectangle 34"/>
          <p:cNvSpPr/>
          <p:nvPr/>
        </p:nvSpPr>
        <p:spPr>
          <a:xfrm>
            <a:off x="4282440" y="5455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trophy-FFFFFF.png"/>
          <p:cNvPicPr>
            <a:picLocks noChangeAspect="1"/>
          </p:cNvPicPr>
          <p:nvPr/>
        </p:nvPicPr>
        <p:blipFill>
          <a:blip r:embed="rId7"/>
          <a:srcRect/>
          <a:stretch>
            <a:fillRect/>
          </a:stretch>
        </p:blipFill>
        <p:spPr>
          <a:xfrm>
            <a:off x="4354830" y="5528310"/>
            <a:ext cx="160020" cy="160020"/>
          </a:xfrm>
          <a:prstGeom prst="rect">
            <a:avLst/>
          </a:prstGeom>
        </p:spPr>
      </p:pic>
      <p:sp>
        <p:nvSpPr>
          <p:cNvPr id="37" name="body · 수상"/>
          <p:cNvSpPr txBox="1"/>
          <p:nvPr/>
        </p:nvSpPr>
        <p:spPr>
          <a:xfrm>
            <a:off x="4724400" y="546110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수상</a:t>
            </a:r>
          </a:p>
        </p:txBody>
      </p:sp>
      <p:sp>
        <p:nvSpPr>
          <p:cNvPr id="38" name="body · OpenAI 해커톤 본선 진출&#10;AWS 해커톤 우수상"/>
          <p:cNvSpPr txBox="1"/>
          <p:nvPr/>
        </p:nvSpPr>
        <p:spPr>
          <a:xfrm>
            <a:off x="6187440" y="5313883"/>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OpenAI 해커톤 본선 진출</a:t>
            </a:r>
          </a:p>
          <a:p>
            <a:pPr algn="l">
              <a:lnSpc>
                <a:spcPts val="2318"/>
              </a:lnSpc>
              <a:spcBef>
                <a:spcPts val="0"/>
              </a:spcBef>
              <a:spcAft>
                <a:spcPts val="0"/>
              </a:spcAft>
            </a:pPr>
            <a:r>
              <a:rPr sz="1680" b="0">
                <a:solidFill>
                  <a:srgbClr val="17221B"/>
                </a:solidFill>
                <a:latin typeface="Noto Sans KR"/>
                <a:ea typeface="Noto Sans KR"/>
                <a:cs typeface="Noto Sans KR"/>
              </a:rPr>
              <a:t>AWS 해커톤 우수상</a:t>
            </a:r>
          </a:p>
        </p:txBody>
      </p:sp>
      <p:sp>
        <p:nvSpPr>
          <p:cNvPr id="3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83920" y="2468880"/>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83920" y="306324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83920" y="3133344"/>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32560" y="3070936"/>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83920" y="3764279"/>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83920" y="3834384"/>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32560" y="3771976"/>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83920" y="446532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83920" y="4535424"/>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32560" y="4473016"/>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83920" y="516636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83920" y="5236464"/>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32560" y="5174056"/>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68880"/>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306324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2880" y="3154680"/>
            <a:ext cx="289560" cy="289560"/>
          </a:xfrm>
          <a:prstGeom prst="rect">
            <a:avLst/>
          </a:prstGeom>
        </p:spPr>
      </p:pic>
      <p:sp>
        <p:nvSpPr>
          <p:cNvPr id="27" name="body · 맡기고"/>
          <p:cNvSpPr txBox="1"/>
          <p:nvPr/>
        </p:nvSpPr>
        <p:spPr>
          <a:xfrm>
            <a:off x="6979920" y="371856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22920" y="3810000"/>
            <a:ext cx="289560" cy="289560"/>
          </a:xfrm>
          <a:prstGeom prst="rect">
            <a:avLst/>
          </a:prstGeom>
        </p:spPr>
      </p:pic>
      <p:sp>
        <p:nvSpPr>
          <p:cNvPr id="29" name="body · 확인하고"/>
          <p:cNvSpPr txBox="1"/>
          <p:nvPr/>
        </p:nvSpPr>
        <p:spPr>
          <a:xfrm>
            <a:off x="6979920" y="437388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42960" y="4465320"/>
            <a:ext cx="289560" cy="289560"/>
          </a:xfrm>
          <a:prstGeom prst="rect">
            <a:avLst/>
          </a:prstGeom>
        </p:spPr>
      </p:pic>
      <p:sp>
        <p:nvSpPr>
          <p:cNvPr id="31" name="body · 다시 쓰기"/>
          <p:cNvSpPr txBox="1"/>
          <p:nvPr/>
        </p:nvSpPr>
        <p:spPr>
          <a:xfrm>
            <a:off x="6979920" y="502920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587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216548"/>
            <a:ext cx="4579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10;말하고&#10;바로 시키기 전에 "/>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a:t>
            </a:r>
          </a:p>
          <a:p>
            <a:pPr algn="l">
              <a:lnSpc>
                <a:spcPts val="2483"/>
              </a:lnSpc>
              <a:spcBef>
                <a:spcPts val="0"/>
              </a:spcBef>
              <a:spcAft>
                <a:spcPts val="0"/>
              </a:spcAft>
            </a:pPr>
            <a:r>
              <a:rPr sz="1800" b="0">
                <a:solidFill>
                  <a:srgbClr val="17221B"/>
                </a:solidFill>
                <a:latin typeface="Noto Sans KR"/>
                <a:ea typeface="Noto Sans KR"/>
                <a:cs typeface="Noto Sans KR"/>
              </a:rPr>
              <a:t>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 계획부터</a:t>
            </a:r>
          </a:p>
          <a:p>
            <a:pPr algn="l">
              <a:lnSpc>
                <a:spcPts val="2483"/>
              </a:lnSpc>
              <a:spcBef>
                <a:spcPts val="0"/>
              </a:spcBef>
              <a:spcAft>
                <a:spcPts val="0"/>
              </a:spcAft>
            </a:pPr>
            <a:r>
              <a:rPr sz="1800" b="0">
                <a:solidFill>
                  <a:srgbClr val="17221B"/>
                </a:solidFill>
                <a:latin typeface="Noto Sans KR"/>
                <a:ea typeface="Noto Sans KR"/>
                <a:cs typeface="Noto Sans KR"/>
              </a:rPr>
              <a:t>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 곳이&#10;없는지 보고&#10;고칠 게 있"/>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 곳이</a:t>
            </a:r>
          </a:p>
          <a:p>
            <a:pPr algn="l">
              <a:lnSpc>
                <a:spcPts val="2483"/>
              </a:lnSpc>
              <a:spcBef>
                <a:spcPts val="0"/>
              </a:spcBef>
              <a:spcAft>
                <a:spcPts val="0"/>
              </a:spcAft>
            </a:pPr>
            <a:r>
              <a:rPr sz="1800" b="0">
                <a:solidFill>
                  <a:srgbClr val="17221B"/>
                </a:solidFill>
                <a:latin typeface="Noto Sans KR"/>
                <a:ea typeface="Noto Sans KR"/>
                <a:cs typeface="Noto Sans KR"/>
              </a:rPr>
              <a:t>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5404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216548"/>
            <a:ext cx="5074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다섯 단계 · 도구와 스킬"/>
          <p:cNvSpPr txBox="1"/>
          <p:nvPr/>
        </p:nvSpPr>
        <p:spPr>
          <a:xfrm>
            <a:off x="452628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다섯 단계 · 도구와 스킬</a:t>
            </a:r>
          </a:p>
        </p:txBody>
      </p:sp>
      <p:sp>
        <p:nvSpPr>
          <p:cNvPr id="24" name="body · 11:50–12:00 휴식"/>
          <p:cNvSpPr txBox="1"/>
          <p:nvPr/>
        </p:nvSpPr>
        <p:spPr>
          <a:xfrm>
            <a:off x="452628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데이터 매칭 · 자료 보호 · 업무 적용"/>
          <p:cNvSpPr txBox="1"/>
          <p:nvPr/>
        </p:nvSpPr>
        <p:spPr>
          <a:xfrm>
            <a:off x="824484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데이터 매칭 · 자료 보호 · 업무 적용</a:t>
            </a:r>
          </a:p>
        </p:txBody>
      </p:sp>
      <p:sp>
        <p:nvSpPr>
          <p:cNvPr id="32" name="body · 12:55–13:00 오전 정리·질문"/>
          <p:cNvSpPr txBox="1"/>
          <p:nvPr/>
        </p:nvSpPr>
        <p:spPr>
          <a:xfrm>
            <a:off x="824484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120640"/>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516880"/>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204460"/>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73140"/>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922520"/>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64480"/>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56460"/>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2984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 Windows는</a:t>
            </a:r>
          </a:p>
          <a:p>
            <a:pPr algn="l">
              <a:lnSpc>
                <a:spcPts val="2152"/>
              </a:lnSpc>
              <a:spcBef>
                <a:spcPts val="0"/>
              </a:spcBef>
              <a:spcAft>
                <a:spcPts val="0"/>
              </a:spcAft>
            </a:pPr>
            <a:r>
              <a:rPr sz="1560" b="0">
                <a:solidFill>
                  <a:srgbClr val="17221B"/>
                </a:solidFill>
                <a:latin typeface="Noto Sans KR"/>
                <a:ea typeface="Noto Sans KR"/>
                <a:cs typeface="Noto Sans KR"/>
              </a:rPr>
              <a:t>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4169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 Windows·Mac·휴"/>
          <p:cNvSpPr txBox="1"/>
          <p:nvPr/>
        </p:nvSpPr>
        <p:spPr>
          <a:xfrm>
            <a:off x="5791200" y="3815079"/>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 Windows·Mac·휴대폰 어디서나</a:t>
            </a:r>
          </a:p>
          <a:p>
            <a:pPr algn="l">
              <a:lnSpc>
                <a:spcPts val="2152"/>
              </a:lnSpc>
              <a:spcBef>
                <a:spcPts val="0"/>
              </a:spcBef>
              <a:spcAft>
                <a:spcPts val="0"/>
              </a:spcAft>
            </a:pPr>
            <a:r>
              <a:rPr sz="1560" b="0">
                <a:solidFill>
                  <a:srgbClr val="17221B"/>
                </a:solidFill>
                <a:latin typeface="Noto Sans KR"/>
                <a:ea typeface="Noto Sans KR"/>
                <a:cs typeface="Noto Sans KR"/>
              </a:rPr>
              <a:t>그대로 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2693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 함께 "/>
          <p:cNvSpPr txBox="1"/>
          <p:nvPr/>
        </p:nvSpPr>
        <p:spPr>
          <a:xfrm>
            <a:off x="5791200" y="510032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 함께 있는 Noto Sans KR</a:t>
            </a:r>
          </a:p>
          <a:p>
            <a:pPr algn="l">
              <a:lnSpc>
                <a:spcPts val="2152"/>
              </a:lnSpc>
              <a:spcBef>
                <a:spcPts val="0"/>
              </a:spcBef>
              <a:spcAft>
                <a:spcPts val="0"/>
              </a:spcAft>
            </a:pPr>
            <a:r>
              <a:rPr sz="1560" b="0">
                <a:solidFill>
                  <a:srgbClr val="17221B"/>
                </a:solidFill>
                <a:latin typeface="Noto Sans KR"/>
                <a:ea typeface="Noto Sans KR"/>
                <a:cs typeface="Noto Sans KR"/>
              </a:rPr>
              <a:t>글꼴을 먼저 설치하세요.</a:t>
            </a:r>
          </a:p>
        </p:txBody>
      </p:sp>
      <p:sp>
        <p:nvSpPr>
          <p:cNvPr id="29" name="Rounded Rectangle 28"/>
          <p:cNvSpPr/>
          <p:nvPr/>
        </p:nvSpPr>
        <p:spPr>
          <a:xfrm>
            <a:off x="609600" y="6111240"/>
            <a:ext cx="85953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216548"/>
            <a:ext cx="801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 합계&#10;수식을"/>
          <p:cNvSpPr txBox="1"/>
          <p:nvPr/>
        </p:nvSpPr>
        <p:spPr>
          <a:xfrm>
            <a:off x="2636520" y="272049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 합계</a:t>
            </a:r>
          </a:p>
          <a:p>
            <a:pPr algn="l">
              <a:lnSpc>
                <a:spcPts val="1738"/>
              </a:lnSpc>
              <a:spcBef>
                <a:spcPts val="0"/>
              </a:spcBef>
              <a:spcAft>
                <a:spcPts val="0"/>
              </a:spcAft>
            </a:pPr>
            <a:r>
              <a:rPr sz="1260" b="0">
                <a:solidFill>
                  <a:srgbClr val="5E6B62"/>
                </a:solidFill>
                <a:latin typeface="Noto Sans KR"/>
                <a:ea typeface="Noto Sans KR"/>
                <a:cs typeface="Noto Sans KR"/>
              </a:rPr>
              <a:t>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 사유와 함께&#10;"/>
          <p:cNvSpPr txBox="1"/>
          <p:nvPr/>
        </p:nvSpPr>
        <p:spPr>
          <a:xfrm>
            <a:off x="6446520" y="272049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 사유와 함께</a:t>
            </a:r>
          </a:p>
          <a:p>
            <a:pPr algn="l">
              <a:lnSpc>
                <a:spcPts val="1738"/>
              </a:lnSpc>
              <a:spcBef>
                <a:spcPts val="0"/>
              </a:spcBef>
              <a:spcAft>
                <a:spcPts val="0"/>
              </a:spcAft>
            </a:pPr>
            <a:r>
              <a:rPr sz="1260" b="1">
                <a:solidFill>
                  <a:srgbClr val="1D4430"/>
                </a:solidFill>
                <a:latin typeface="Noto Sans KR"/>
                <a:ea typeface="Noto Sans KR"/>
                <a:cs typeface="Noto Sans KR"/>
              </a:rPr>
              <a:t>따로 모아 줌</a:t>
            </a:r>
          </a:p>
        </p:txBody>
      </p:sp>
      <p:sp>
        <p:nvSpPr>
          <p:cNvPr id="21" name="body · 빠진 행 원본 확인, 최종&#10;숫자 승인"/>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 최종</a:t>
            </a:r>
          </a:p>
          <a:p>
            <a:pPr algn="l">
              <a:lnSpc>
                <a:spcPts val="1655"/>
              </a:lnSpc>
              <a:spcBef>
                <a:spcPts val="0"/>
              </a:spcBef>
              <a:spcAft>
                <a:spcPts val="0"/>
              </a:spcAft>
            </a:pPr>
            <a:r>
              <a:rPr sz="1200" b="0">
                <a:solidFill>
                  <a:srgbClr val="7A5214"/>
                </a:solidFill>
                <a:latin typeface="Noto Sans KR"/>
                <a:ea typeface="Noto Sans KR"/>
                <a:cs typeface="Noto Sans KR"/>
              </a:rPr>
              <a:t>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 각각&#10;새로 작"/>
          <p:cNvSpPr txBox="1"/>
          <p:nvPr/>
        </p:nvSpPr>
        <p:spPr>
          <a:xfrm>
            <a:off x="2636520" y="358917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 각각</a:t>
            </a:r>
          </a:p>
          <a:p>
            <a:pPr algn="l">
              <a:lnSpc>
                <a:spcPts val="1738"/>
              </a:lnSpc>
              <a:spcBef>
                <a:spcPts val="0"/>
              </a:spcBef>
              <a:spcAft>
                <a:spcPts val="0"/>
              </a:spcAft>
            </a:pPr>
            <a:r>
              <a:rPr sz="1260" b="0">
                <a:solidFill>
                  <a:srgbClr val="5E6B62"/>
                </a:solidFill>
                <a:latin typeface="Noto Sans KR"/>
                <a:ea typeface="Noto Sans KR"/>
                <a:cs typeface="Noto Sans KR"/>
              </a:rPr>
              <a:t>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 빈 정보는&#10;「확"/>
          <p:cNvSpPr txBox="1"/>
          <p:nvPr/>
        </p:nvSpPr>
        <p:spPr>
          <a:xfrm>
            <a:off x="6446520" y="358917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 빈 정보는</a:t>
            </a:r>
          </a:p>
          <a:p>
            <a:pPr algn="l">
              <a:lnSpc>
                <a:spcPts val="1738"/>
              </a:lnSpc>
              <a:spcBef>
                <a:spcPts val="0"/>
              </a:spcBef>
              <a:spcAft>
                <a:spcPts val="0"/>
              </a:spcAft>
            </a:pPr>
            <a:r>
              <a:rPr sz="1260" b="1">
                <a:solidFill>
                  <a:srgbClr val="1D4430"/>
                </a:solidFill>
                <a:latin typeface="Noto Sans KR"/>
                <a:ea typeface="Noto Sans KR"/>
                <a:cs typeface="Noto Sans KR"/>
              </a:rPr>
              <a:t>「확인 필요」 표시</a:t>
            </a:r>
          </a:p>
        </p:txBody>
      </p:sp>
      <p:sp>
        <p:nvSpPr>
          <p:cNvPr id="31" name="body · 날짜·장소·신청 방법&#10;사실 확인"/>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568266"/>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 정리하고 빠진 결정은&#10;질문"/>
          <p:cNvSpPr txBox="1"/>
          <p:nvPr/>
        </p:nvSpPr>
        <p:spPr>
          <a:xfrm>
            <a:off x="6446520" y="445785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 정리하고 빠진 결정은</a:t>
            </a:r>
          </a:p>
          <a:p>
            <a:pPr algn="l">
              <a:lnSpc>
                <a:spcPts val="1738"/>
              </a:lnSpc>
              <a:spcBef>
                <a:spcPts val="0"/>
              </a:spcBef>
              <a:spcAft>
                <a:spcPts val="0"/>
              </a:spcAft>
            </a:pPr>
            <a:r>
              <a:rPr sz="1260" b="1">
                <a:solidFill>
                  <a:srgbClr val="1D4430"/>
                </a:solidFill>
                <a:latin typeface="Noto Sans KR"/>
                <a:ea typeface="Noto Sans KR"/>
                <a:cs typeface="Noto Sans KR"/>
              </a:rPr>
              <a:t>질문</a:t>
            </a:r>
          </a:p>
        </p:txBody>
      </p:sp>
      <p:sp>
        <p:nvSpPr>
          <p:cNvPr id="41" name="body · 빠진 결정 확인, 공유&#10;범위 결정"/>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 공유</a:t>
            </a:r>
          </a:p>
          <a:p>
            <a:pPr algn="l">
              <a:lnSpc>
                <a:spcPts val="1655"/>
              </a:lnSpc>
              <a:spcBef>
                <a:spcPts val="0"/>
              </a:spcBef>
              <a:spcAft>
                <a:spcPts val="0"/>
              </a:spcAft>
            </a:pPr>
            <a:r>
              <a:rPr sz="1200" b="0">
                <a:solidFill>
                  <a:srgbClr val="7A5214"/>
                </a:solidFill>
                <a:latin typeface="Noto Sans KR"/>
                <a:ea typeface="Noto Sans KR"/>
                <a:cs typeface="Noto Sans KR"/>
              </a:rPr>
              <a:t>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436946"/>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436946"/>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67512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216548"/>
            <a:ext cx="60960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31720"/>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0800" y="3947160"/>
            <a:ext cx="457200"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0800" y="3970020"/>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7400" y="3947160"/>
            <a:ext cx="457200"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7400" y="3970020"/>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86850" y="3947160"/>
            <a:ext cx="57150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86850" y="3970020"/>
            <a:ext cx="5715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3380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216548"/>
            <a:ext cx="6758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374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374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 여러 작업으로&#10;이어지는 "/>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 여러 작업으로</a:t>
            </a:r>
          </a:p>
          <a:p>
            <a:pPr algn="l">
              <a:lnSpc>
                <a:spcPts val="1738"/>
              </a:lnSpc>
              <a:spcBef>
                <a:spcPts val="0"/>
              </a:spcBef>
              <a:spcAft>
                <a:spcPts val="0"/>
              </a:spcAft>
            </a:pPr>
            <a:r>
              <a:rPr sz="1260" b="0">
                <a:solidFill>
                  <a:srgbClr val="17221B"/>
                </a:solidFill>
                <a:latin typeface="Noto Sans KR"/>
                <a:ea typeface="Noto Sans KR"/>
                <a:cs typeface="Noto Sans KR"/>
              </a:rPr>
              <a:t>이어지는 흐름</a:t>
            </a:r>
          </a:p>
        </p:txBody>
      </p:sp>
      <p:sp>
        <p:nvSpPr>
          <p:cNvPr id="23" name="caption · "/>
          <p:cNvSpPr txBox="1"/>
          <p:nvPr/>
        </p:nvSpPr>
        <p:spPr>
          <a:xfrm>
            <a:off x="6096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5" name="Picture 24"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6" name="Rounded Rectangle 25"/>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9" name="Rounded Rectangle 28"/>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1" name="label · 1:40"/>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2" name="Rounded Rectangle 31"/>
          <p:cNvSpPr/>
          <p:nvPr/>
        </p:nvSpPr>
        <p:spPr>
          <a:xfrm>
            <a:off x="62712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62712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5" name="caption · OpenAI 공식 · 2026.7.9"/>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6" name="Picture 35"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7" name="body · 목표를 주면 앱을 오가며 발표자료·표를&#10;완성하는 장"/>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 발표자료·표를</a:t>
            </a:r>
          </a:p>
          <a:p>
            <a:pPr algn="l">
              <a:lnSpc>
                <a:spcPts val="1738"/>
              </a:lnSpc>
              <a:spcBef>
                <a:spcPts val="0"/>
              </a:spcBef>
              <a:spcAft>
                <a:spcPts val="0"/>
              </a:spcAft>
            </a:pPr>
            <a:r>
              <a:rPr sz="1260" b="0">
                <a:solidFill>
                  <a:srgbClr val="17221B"/>
                </a:solidFill>
                <a:latin typeface="Noto Sans KR"/>
                <a:ea typeface="Noto Sans KR"/>
                <a:cs typeface="Noto Sans KR"/>
              </a:rPr>
              <a:t>완성하는 장면</a:t>
            </a:r>
          </a:p>
        </p:txBody>
      </p:sp>
      <p:sp>
        <p:nvSpPr>
          <p:cNvPr id="38" name="caption · "/>
          <p:cNvSpPr txBox="1"/>
          <p:nvPr/>
        </p:nvSpPr>
        <p:spPr>
          <a:xfrm>
            <a:off x="43434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Rounded Rectangle 38"/>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40" name="Picture 39"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41" name="Rounded Rectangle 40"/>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4" name="Rounded Rectangle 43"/>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5" name="Picture 44"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6" name="label · 1:1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7" name="Rounded Rectangle 46"/>
          <p:cNvSpPr/>
          <p:nvPr/>
        </p:nvSpPr>
        <p:spPr>
          <a:xfrm>
            <a:off x="10005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48" name="body · YouTube에서 보기 ↗"/>
          <p:cNvSpPr txBox="1"/>
          <p:nvPr/>
        </p:nvSpPr>
        <p:spPr>
          <a:xfrm>
            <a:off x="10005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9" name="body · Claude Cowork and chat 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 are now one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Claude</a:t>
            </a:r>
          </a:p>
        </p:txBody>
      </p:sp>
      <p:sp>
        <p:nvSpPr>
          <p:cNvPr id="50" name="caption · Claude 공식 · 2026.9.16"/>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51" name="Picture 50"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2" name="body · 대화하다가 그대로 큰 작업(Cowork)으로&#10;넘어가"/>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3" name="caption · "/>
          <p:cNvSpPr txBox="1"/>
          <p:nvPr/>
        </p:nvSpPr>
        <p:spPr>
          <a:xfrm>
            <a:off x="80772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9"/>
              </a:rPr>
              <a:t/>
            </a:r>
          </a:p>
        </p:txBody>
      </p:sp>
      <p:sp>
        <p:nvSpPr>
          <p:cNvPr id="54" name="Rounded Rectangle 5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7" name="callout · 영상은 가장 잘된 장면만 모은 것입니다. 오늘은 우"/>
          <p:cNvSpPr txBox="1"/>
          <p:nvPr/>
        </p:nvSpPr>
        <p:spPr>
          <a:xfrm>
            <a:off x="1082040" y="6216548"/>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95400" y="1366113"/>
            <a:ext cx="4952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LLM</a:t>
            </a:r>
          </a:p>
        </p:txBody>
      </p:sp>
      <p:sp>
        <p:nvSpPr>
          <p:cNvPr id="12" name="body · Large Language Model · 대규모 언"/>
          <p:cNvSpPr txBox="1"/>
          <p:nvPr/>
        </p:nvSpPr>
        <p:spPr>
          <a:xfrm>
            <a:off x="1882139" y="1396212"/>
            <a:ext cx="95478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301240"/>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36520"/>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62200"/>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93720"/>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29000"/>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39440"/>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901440"/>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312920"/>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 ChatGP"/>
          <p:cNvSpPr txBox="1"/>
          <p:nvPr/>
        </p:nvSpPr>
        <p:spPr>
          <a:xfrm>
            <a:off x="4953000" y="466344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 ChatGPT·Claude·Gemini 안에서 생각하는</a:t>
            </a:r>
          </a:p>
          <a:p>
            <a:pPr algn="l">
              <a:lnSpc>
                <a:spcPts val="2070"/>
              </a:lnSpc>
              <a:spcBef>
                <a:spcPts val="0"/>
              </a:spcBef>
              <a:spcAft>
                <a:spcPts val="0"/>
              </a:spcAft>
            </a:pPr>
            <a:r>
              <a:rPr sz="1500" b="0">
                <a:solidFill>
                  <a:srgbClr val="17221B"/>
                </a:solidFill>
                <a:latin typeface="Noto Sans KR"/>
                <a:ea typeface="Noto Sans KR"/>
                <a:cs typeface="Noto Sans KR"/>
              </a:rPr>
              <a:t>엔진</a:t>
            </a:r>
          </a:p>
        </p:txBody>
      </p:sp>
      <p:sp>
        <p:nvSpPr>
          <p:cNvPr id="26" name="Rounded Rectangle 25"/>
          <p:cNvSpPr/>
          <p:nvPr/>
        </p:nvSpPr>
        <p:spPr>
          <a:xfrm>
            <a:off x="609600" y="6111240"/>
            <a:ext cx="473964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216548"/>
            <a:ext cx="416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멀티모달</a:t>
            </a:r>
          </a:p>
        </p:txBody>
      </p:sp>
      <p:sp>
        <p:nvSpPr>
          <p:cNvPr id="12" name="body · Multimodal"/>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3994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216548"/>
            <a:ext cx="6560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퍼셉트론</a:t>
            </a:r>
          </a:p>
        </p:txBody>
      </p:sp>
      <p:sp>
        <p:nvSpPr>
          <p:cNvPr id="12" name="body · Perceptron · 1958년"/>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 1943년부터&#10;있었습"/>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 1943년부터</a:t>
            </a:r>
          </a:p>
          <a:p>
            <a:pPr algn="l">
              <a:lnSpc>
                <a:spcPts val="2070"/>
              </a:lnSpc>
              <a:spcBef>
                <a:spcPts val="0"/>
              </a:spcBef>
              <a:spcAft>
                <a:spcPts val="0"/>
              </a:spcAft>
            </a:pPr>
            <a:r>
              <a:rPr sz="1500" b="0">
                <a:solidFill>
                  <a:srgbClr val="17221B"/>
                </a:solidFill>
                <a:latin typeface="Noto Sans KR"/>
                <a:ea typeface="Noto Sans KR"/>
                <a:cs typeface="Noto Sans KR"/>
              </a:rPr>
              <a:t>있었습니다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95400" y="1324051"/>
            <a:ext cx="5105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GPU</a:t>
            </a:r>
          </a:p>
        </p:txBody>
      </p:sp>
      <p:sp>
        <p:nvSpPr>
          <p:cNvPr id="12" name="body · Graphics Processing Unit · 그"/>
          <p:cNvSpPr txBox="1"/>
          <p:nvPr/>
        </p:nvSpPr>
        <p:spPr>
          <a:xfrm>
            <a:off x="1897380" y="1354150"/>
            <a:ext cx="95326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 한꺼번에 수천 개&#10;합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 한꺼번에 수천 개</a:t>
            </a:r>
          </a:p>
          <a:p>
            <a:pPr algn="l">
              <a:lnSpc>
                <a:spcPts val="2815"/>
              </a:lnSpc>
              <a:spcBef>
                <a:spcPts val="0"/>
              </a:spcBef>
              <a:spcAft>
                <a:spcPts val="0"/>
              </a:spcAft>
            </a:pPr>
            <a:r>
              <a:rPr sz="2039" b="1">
                <a:solidFill>
                  <a:srgbClr val="1D4430"/>
                </a:solidFill>
                <a:latin typeface="Noto Sans KR"/>
                <a:ea typeface="Noto Sans KR"/>
                <a:cs typeface="Noto Sans KR"/>
              </a:rPr>
              <a:t>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 학습할 수 있게&#10;됐습"/>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 학습할 수 있게</a:t>
            </a:r>
          </a:p>
          <a:p>
            <a:pPr algn="l">
              <a:lnSpc>
                <a:spcPts val="2070"/>
              </a:lnSpc>
              <a:spcBef>
                <a:spcPts val="0"/>
              </a:spcBef>
              <a:spcAft>
                <a:spcPts val="0"/>
              </a:spcAft>
            </a:pPr>
            <a:r>
              <a:rPr sz="1500" b="0">
                <a:solidFill>
                  <a:srgbClr val="17221B"/>
                </a:solidFill>
                <a:latin typeface="Noto Sans KR"/>
                <a:ea typeface="Noto Sans KR"/>
                <a:cs typeface="Noto Sans KR"/>
              </a:rPr>
              <a:t>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 계산을 빨리"/>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 계산을 빨리</a:t>
            </a:r>
          </a:p>
          <a:p>
            <a:pPr algn="l">
              <a:lnSpc>
                <a:spcPts val="2070"/>
              </a:lnSpc>
              <a:spcBef>
                <a:spcPts val="0"/>
              </a:spcBef>
              <a:spcAft>
                <a:spcPts val="0"/>
              </a:spcAft>
            </a:pPr>
            <a:r>
              <a:rPr sz="1500" b="0">
                <a:solidFill>
                  <a:srgbClr val="17221B"/>
                </a:solidFill>
                <a:latin typeface="Noto Sans KR"/>
                <a:ea typeface="Noto Sans KR"/>
                <a:cs typeface="Noto Sans KR"/>
              </a:rPr>
              <a:t>할 뿐입니다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95400" y="1324051"/>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트랜스포머</a:t>
            </a:r>
          </a:p>
        </p:txBody>
      </p:sp>
      <p:sp>
        <p:nvSpPr>
          <p:cNvPr id="12" name="body · Transformer · 2017년"/>
          <p:cNvSpPr txBox="1"/>
          <p:nvPr/>
        </p:nvSpPr>
        <p:spPr>
          <a:xfrm>
            <a:off x="2346960" y="1354150"/>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 이런&#10;곳에서 계산됩"/>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 이런</a:t>
            </a:r>
          </a:p>
          <a:p>
            <a:pPr algn="l">
              <a:lnSpc>
                <a:spcPts val="2815"/>
              </a:lnSpc>
              <a:spcBef>
                <a:spcPts val="0"/>
              </a:spcBef>
              <a:spcAft>
                <a:spcPts val="0"/>
              </a:spcAft>
            </a:pPr>
            <a:r>
              <a:rPr sz="2039" b="1">
                <a:solidFill>
                  <a:srgbClr val="1D4430"/>
                </a:solidFill>
                <a:latin typeface="Noto Sans KR"/>
                <a:ea typeface="Noto Sans KR"/>
                <a:cs typeface="Noto Sans KR"/>
              </a:rPr>
              <a:t>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 갈 수 있다는 것도&#10;"/>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 갈 수 있다는 것도</a:t>
            </a:r>
          </a:p>
          <a:p>
            <a:pPr algn="l">
              <a:lnSpc>
                <a:spcPts val="2070"/>
              </a:lnSpc>
              <a:spcBef>
                <a:spcPts val="0"/>
              </a:spcBef>
              <a:spcAft>
                <a:spcPts val="0"/>
              </a:spcAft>
            </a:pPr>
            <a:r>
              <a:rPr sz="1500" b="0">
                <a:solidFill>
                  <a:srgbClr val="17221B"/>
                </a:solidFill>
                <a:latin typeface="Noto Sans KR"/>
                <a:ea typeface="Noto Sans KR"/>
                <a:cs typeface="Noto Sans KR"/>
              </a:rPr>
              <a:t>기억합니다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머신러닝</a:t>
            </a:r>
          </a:p>
        </p:txBody>
      </p:sp>
      <p:sp>
        <p:nvSpPr>
          <p:cNvPr id="12" name="body · Machine Learning · 기계 학습"/>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 지금은 사진을 수십만 장 보면서</a:t>
            </a:r>
          </a:p>
          <a:p>
            <a:pPr algn="l">
              <a:lnSpc>
                <a:spcPts val="2649"/>
              </a:lnSpc>
              <a:spcBef>
                <a:spcPts val="0"/>
              </a:spcBef>
              <a:spcAft>
                <a:spcPts val="0"/>
              </a:spcAft>
            </a:pPr>
            <a:r>
              <a:rPr sz="1920" b="1">
                <a:solidFill>
                  <a:srgbClr val="1D4430"/>
                </a:solidFill>
                <a:latin typeface="Noto Sans KR"/>
                <a:ea typeface="Noto Sans KR"/>
                <a:cs typeface="Noto Sans KR"/>
              </a:rPr>
              <a:t>고양이다운 특징을 스스로 찾습니다.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95400" y="1366113"/>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딥러닝</a:t>
            </a:r>
          </a:p>
        </p:txBody>
      </p:sp>
      <p:sp>
        <p:nvSpPr>
          <p:cNvPr id="12" name="body · Deep Learning · 심층 학습"/>
          <p:cNvSpPr txBox="1"/>
          <p:nvPr/>
        </p:nvSpPr>
        <p:spPr>
          <a:xfrm>
            <a:off x="2011680" y="1396212"/>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402580"/>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1"/>
          <p:cNvSpPr txBox="1"/>
          <p:nvPr/>
        </p:nvSpPr>
        <p:spPr>
          <a:xfrm>
            <a:off x="7094220" y="24765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3840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81178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2"/>
          <p:cNvSpPr txBox="1"/>
          <p:nvPr/>
        </p:nvSpPr>
        <p:spPr>
          <a:xfrm>
            <a:off x="7094220" y="362204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839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573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body · 3"/>
          <p:cNvSpPr txBox="1"/>
          <p:nvPr/>
        </p:nvSpPr>
        <p:spPr>
          <a:xfrm>
            <a:off x="7094220" y="47675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294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1028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626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216548"/>
            <a:ext cx="49834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95400" y="1366113"/>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90800" y="1396212"/>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 많이&#10;읽었습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 많이</a:t>
            </a:r>
          </a:p>
          <a:p>
            <a:pPr algn="l">
              <a:lnSpc>
                <a:spcPts val="2815"/>
              </a:lnSpc>
              <a:spcBef>
                <a:spcPts val="0"/>
              </a:spcBef>
              <a:spcAft>
                <a:spcPts val="0"/>
              </a:spcAft>
            </a:pPr>
            <a:r>
              <a:rPr sz="2039" b="1">
                <a:solidFill>
                  <a:srgbClr val="1D4430"/>
                </a:solidFill>
                <a:latin typeface="Noto Sans KR"/>
                <a:ea typeface="Noto Sans KR"/>
                <a:cs typeface="Noto Sans KR"/>
              </a:rPr>
              <a:t>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 그 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 그 뒤</a:t>
            </a:r>
          </a:p>
          <a:p>
            <a:pPr algn="l">
              <a:lnSpc>
                <a:spcPts val="2070"/>
              </a:lnSpc>
              <a:spcBef>
                <a:spcPts val="0"/>
              </a:spcBef>
              <a:spcAft>
                <a:spcPts val="0"/>
              </a:spcAft>
            </a:pPr>
            <a:r>
              <a:rPr sz="1500" b="0">
                <a:solidFill>
                  <a:srgbClr val="17221B"/>
                </a:solidFill>
                <a:latin typeface="Noto Sans KR"/>
                <a:ea typeface="Noto Sans KR"/>
                <a:cs typeface="Noto Sans KR"/>
              </a:rPr>
              <a:t>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사전 학습</a:t>
            </a:r>
          </a:p>
        </p:txBody>
      </p:sp>
      <p:sp>
        <p:nvSpPr>
          <p:cNvPr id="12" name="body · Pre-training · GPT의 「P」"/>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 틀리면 조금&#10;고치기"/>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 틀리면 조금</a:t>
            </a:r>
          </a:p>
          <a:p>
            <a:pPr algn="l">
              <a:lnSpc>
                <a:spcPts val="1904"/>
              </a:lnSpc>
              <a:spcBef>
                <a:spcPts val="0"/>
              </a:spcBef>
              <a:spcAft>
                <a:spcPts val="0"/>
              </a:spcAft>
            </a:pPr>
            <a:r>
              <a:rPr sz="1380" b="0">
                <a:solidFill>
                  <a:srgbClr val="17221B"/>
                </a:solidFill>
                <a:latin typeface="Noto Sans KR"/>
                <a:ea typeface="Noto Sans KR"/>
                <a:cs typeface="Noto Sans KR"/>
              </a:rPr>
              <a:t>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 법을&#10;익혔습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 법을</a:t>
            </a:r>
          </a:p>
          <a:p>
            <a:pPr algn="l">
              <a:lnSpc>
                <a:spcPts val="1904"/>
              </a:lnSpc>
              <a:spcBef>
                <a:spcPts val="0"/>
              </a:spcBef>
              <a:spcAft>
                <a:spcPts val="0"/>
              </a:spcAft>
            </a:pPr>
            <a:r>
              <a:rPr sz="1380" b="0">
                <a:solidFill>
                  <a:srgbClr val="E4EFE6"/>
                </a:solidFill>
                <a:latin typeface="Noto Sans KR"/>
                <a:ea typeface="Noto Sans KR"/>
                <a:cs typeface="Noto Sans KR"/>
              </a:rPr>
              <a:t>익혔습니다</a:t>
            </a:r>
          </a:p>
        </p:txBody>
      </p:sp>
      <p:sp>
        <p:nvSpPr>
          <p:cNvPr id="34" name="Rounded Rectangle 33"/>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216548"/>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95400" y="1366113"/>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임베딩</a:t>
            </a:r>
          </a:p>
        </p:txBody>
      </p:sp>
      <p:sp>
        <p:nvSpPr>
          <p:cNvPr id="12" name="body · Embedding"/>
          <p:cNvSpPr txBox="1"/>
          <p:nvPr/>
        </p:nvSpPr>
        <p:spPr>
          <a:xfrm>
            <a:off x="2011680" y="1396212"/>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1648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59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45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40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26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21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407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802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88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83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69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64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50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45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31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26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312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3024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86046"/>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94836"/>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93080"/>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209800"/>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9079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51832"/>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7260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60903"/>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99867"/>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9857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55720"/>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459980"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216548"/>
            <a:ext cx="6880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95400" y="136611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토큰</a:t>
            </a:r>
          </a:p>
        </p:txBody>
      </p:sp>
      <p:sp>
        <p:nvSpPr>
          <p:cNvPr id="12" name="body · Token"/>
          <p:cNvSpPr txBox="1"/>
          <p:nvPr/>
        </p:nvSpPr>
        <p:spPr>
          <a:xfrm>
            <a:off x="1844040" y="1396212"/>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4696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8117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7124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4061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6560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4000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5996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948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5432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96840"/>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598920"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216548"/>
            <a:ext cx="6019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95400" y="1366113"/>
            <a:ext cx="1127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할루시네이션</a:t>
            </a:r>
          </a:p>
        </p:txBody>
      </p:sp>
      <p:sp>
        <p:nvSpPr>
          <p:cNvPr id="12" name="body · Hallucination · 환각"/>
          <p:cNvSpPr txBox="1"/>
          <p:nvPr/>
        </p:nvSpPr>
        <p:spPr>
          <a:xfrm>
            <a:off x="2514600" y="1396212"/>
            <a:ext cx="8915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2316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19200"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407920"/>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910840" y="2423160"/>
            <a:ext cx="259080" cy="259080"/>
          </a:xfrm>
          <a:prstGeom prst="rect">
            <a:avLst/>
          </a:prstGeom>
        </p:spPr>
      </p:pic>
      <p:sp>
        <p:nvSpPr>
          <p:cNvPr id="18" name="body · 2단계"/>
          <p:cNvSpPr txBox="1"/>
          <p:nvPr/>
        </p:nvSpPr>
        <p:spPr>
          <a:xfrm>
            <a:off x="609600" y="324612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19200"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30880"/>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65120" y="3108960"/>
            <a:ext cx="792480"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65120" y="3230880"/>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25240" y="3246120"/>
            <a:ext cx="259080" cy="259080"/>
          </a:xfrm>
          <a:prstGeom prst="rect">
            <a:avLst/>
          </a:prstGeom>
        </p:spPr>
      </p:pic>
      <p:sp>
        <p:nvSpPr>
          <p:cNvPr id="24" name="body · 3단계"/>
          <p:cNvSpPr txBox="1"/>
          <p:nvPr/>
        </p:nvSpPr>
        <p:spPr>
          <a:xfrm>
            <a:off x="609600" y="406908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19200"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53840"/>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65120" y="3931920"/>
            <a:ext cx="792480"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65120" y="4053840"/>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79520" y="3931920"/>
            <a:ext cx="792480"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79520" y="4053840"/>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39640" y="4069080"/>
            <a:ext cx="259080" cy="259080"/>
          </a:xfrm>
          <a:prstGeom prst="rect">
            <a:avLst/>
          </a:prstGeom>
        </p:spPr>
      </p:pic>
      <p:sp>
        <p:nvSpPr>
          <p:cNvPr id="32" name="body · 4단계"/>
          <p:cNvSpPr txBox="1"/>
          <p:nvPr/>
        </p:nvSpPr>
        <p:spPr>
          <a:xfrm>
            <a:off x="609600" y="489204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19200"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76800"/>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651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65120" y="4876800"/>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795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79520" y="4876800"/>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93920" y="4754880"/>
            <a:ext cx="792480"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93920" y="4876800"/>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216548"/>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한국어 쇼츠 두 편 · 앞 장의 「한 단어씩 이어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두 편 · 앞 장의 「한 단어씩 이어 쓰기」를 영상으로 다시 봅니다</a:t>
            </a:r>
          </a:p>
        </p:txBody>
      </p:sp>
      <p:sp>
        <p:nvSpPr>
          <p:cNvPr id="9" name="Rounded Rectangle 8"/>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r2BPBrL6-ew.jpg"/>
          <p:cNvPicPr>
            <a:picLocks noChangeAspect="1"/>
          </p:cNvPicPr>
          <p:nvPr/>
        </p:nvPicPr>
        <p:blipFill>
          <a:blip r:embed="rId2"/>
          <a:srcRect/>
          <a:stretch>
            <a:fillRect/>
          </a:stretch>
        </p:blipFill>
        <p:spPr>
          <a:xfrm>
            <a:off x="1866899" y="1965960"/>
            <a:ext cx="4114800" cy="2314575"/>
          </a:xfrm>
          <a:prstGeom prst="rect">
            <a:avLst/>
          </a:prstGeom>
        </p:spPr>
      </p:pic>
      <p:sp>
        <p:nvSpPr>
          <p:cNvPr id="11" name="Rounded Rectangle 10"/>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4" name="Rounded Rectangle 13"/>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16" name="label · 0:57"/>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0:57</a:t>
            </a:r>
          </a:p>
        </p:txBody>
      </p:sp>
      <p:sp>
        <p:nvSpPr>
          <p:cNvPr id="17" name="Rounded Rectangle 16"/>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AI가 글 쓰는 원리, 사실 이게 다예요"/>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AI가 글 쓰는 원리, 사실 이게 다예요</a:t>
            </a:r>
          </a:p>
        </p:txBody>
      </p:sp>
      <p:sp>
        <p:nvSpPr>
          <p:cNvPr id="20" name="caption · 실용주의자(Pragmatist) · 2026.7"/>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실용주의자(Pragmatist) · 2026.7</a:t>
            </a:r>
          </a:p>
        </p:txBody>
      </p:sp>
      <p:pic>
        <p:nvPicPr>
          <p:cNvPr id="21" name="Picture 20"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2" name="body · 다음 단어 맞히기를 수천억 번 연습하면 생기는 일"/>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다음 단어 맞히기를 수천억 번 연습하면 생기는 일</a:t>
            </a:r>
          </a:p>
        </p:txBody>
      </p:sp>
      <p:sp>
        <p:nvSpPr>
          <p:cNvPr id="23"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5" name="Picture 24" descr="1w2ltkVRQLg.jpg"/>
          <p:cNvPicPr>
            <a:picLocks noChangeAspect="1"/>
          </p:cNvPicPr>
          <p:nvPr/>
        </p:nvPicPr>
        <p:blipFill>
          <a:blip r:embed="rId6"/>
          <a:srcRect/>
          <a:stretch>
            <a:fillRect/>
          </a:stretch>
        </p:blipFill>
        <p:spPr>
          <a:xfrm>
            <a:off x="6210300" y="1965960"/>
            <a:ext cx="4114800" cy="2314575"/>
          </a:xfrm>
          <a:prstGeom prst="rect">
            <a:avLst/>
          </a:prstGeom>
        </p:spPr>
      </p:pic>
      <p:sp>
        <p:nvSpPr>
          <p:cNvPr id="26" name="Rounded Rectangle 25"/>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29" name="Rounded Rectangle 28"/>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1" name="label · 1:00"/>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1:00</a:t>
            </a:r>
          </a:p>
        </p:txBody>
      </p:sp>
      <p:sp>
        <p:nvSpPr>
          <p:cNvPr id="32" name="Rounded Rectangle 31"/>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LLM 원리 · 챗GPT는 매번 20만 개 중 하나"/>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LLM 원리 · 챗GPT는 매번 20만 개 중 하나를 고른다</a:t>
            </a:r>
          </a:p>
        </p:txBody>
      </p:sp>
      <p:sp>
        <p:nvSpPr>
          <p:cNvPr id="35" name="caption · 코드샌드 · 2026.10"/>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코드샌드 · 2026.10</a:t>
            </a:r>
          </a:p>
        </p:txBody>
      </p:sp>
      <p:pic>
        <p:nvPicPr>
          <p:cNvPr id="36" name="Picture 35"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37" name="body · 토큰, 다음 토큰의 확률, 온도에 따라 답이 달라지"/>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토큰, 다음 토큰의 확률, 온도에 따라 답이 달라지는 이유</a:t>
            </a:r>
          </a:p>
        </p:txBody>
      </p:sp>
      <p:sp>
        <p:nvSpPr>
          <p:cNvPr id="38"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95400" y="1366113"/>
            <a:ext cx="487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a:t>
            </a:r>
          </a:p>
        </p:txBody>
      </p:sp>
      <p:sp>
        <p:nvSpPr>
          <p:cNvPr id="12" name="body · Retrieval-Augmented Generati"/>
          <p:cNvSpPr txBox="1"/>
          <p:nvPr/>
        </p:nvSpPr>
        <p:spPr>
          <a:xfrm>
            <a:off x="1874519" y="1396212"/>
            <a:ext cx="9555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64279"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301240"/>
            <a:ext cx="3276600"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95800"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403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4137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309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4043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50215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949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6992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114800"/>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216548"/>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95400" y="1324051"/>
            <a:ext cx="1005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에이전트</a:t>
            </a:r>
          </a:p>
        </p:txBody>
      </p:sp>
      <p:sp>
        <p:nvSpPr>
          <p:cNvPr id="12" name="body · AI Agent"/>
          <p:cNvSpPr txBox="1"/>
          <p:nvPr/>
        </p:nvSpPr>
        <p:spPr>
          <a:xfrm>
            <a:off x="2392680" y="1354150"/>
            <a:ext cx="9037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91840"/>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64279"/>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1698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216548"/>
            <a:ext cx="5737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a:t>
            </a:r>
          </a:p>
        </p:txBody>
      </p:sp>
      <p:sp>
        <p:nvSpPr>
          <p:cNvPr id="12" name="body · Agent · 대리인"/>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55621"/>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798320" y="2110740"/>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58640" y="2834640"/>
            <a:ext cx="1249680"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26280" y="2882417"/>
            <a:ext cx="10210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65320"/>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35540" y="2834640"/>
            <a:ext cx="1363980"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03180" y="2882417"/>
            <a:ext cx="11353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55320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216548"/>
            <a:ext cx="5974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95400" y="1324051"/>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도구</a:t>
            </a:r>
          </a:p>
        </p:txBody>
      </p:sp>
      <p:sp>
        <p:nvSpPr>
          <p:cNvPr id="12" name="body · Tool · 툴"/>
          <p:cNvSpPr txBox="1"/>
          <p:nvPr/>
        </p:nvSpPr>
        <p:spPr>
          <a:xfrm>
            <a:off x="1844040" y="1354150"/>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72049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72049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8917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8917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5785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5785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436946"/>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2653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4964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216548"/>
            <a:ext cx="797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a:t>
            </a:r>
          </a:p>
        </p:txBody>
      </p:sp>
      <p:sp>
        <p:nvSpPr>
          <p:cNvPr id="12" name="body · Prompt · 요청 글"/>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95400" y="1366113"/>
            <a:ext cx="11658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 루프</a:t>
            </a:r>
          </a:p>
        </p:txBody>
      </p:sp>
      <p:sp>
        <p:nvSpPr>
          <p:cNvPr id="12" name="body · Agent Loop"/>
          <p:cNvSpPr txBox="1"/>
          <p:nvPr/>
        </p:nvSpPr>
        <p:spPr>
          <a:xfrm>
            <a:off x="2552700" y="1396212"/>
            <a:ext cx="88773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41420"/>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91939"/>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622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719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816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719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81600"/>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9456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5844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6700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41376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2232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6908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77639"/>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2440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3296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7972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8828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3118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216548"/>
            <a:ext cx="5052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대표적인 네 곳"/>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대표적인 네 곳</a:t>
            </a:r>
          </a:p>
        </p:txBody>
      </p:sp>
      <p:sp>
        <p:nvSpPr>
          <p:cNvPr id="8" name="subtitle · 회사 이름보다 각각 어떤 일을 맡길 수 있는지를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회사 이름보다 각각 어떤 일을 맡길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9074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9074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9074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8416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8416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8416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7758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7758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7758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7100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7100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7100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6442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6442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6442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353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216548"/>
            <a:ext cx="785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95400" y="1324051"/>
            <a:ext cx="13487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 Codex</a:t>
            </a:r>
          </a:p>
        </p:txBody>
      </p:sp>
      <p:sp>
        <p:nvSpPr>
          <p:cNvPr id="12" name="body · ChatGPT의 작업 모드"/>
          <p:cNvSpPr txBox="1"/>
          <p:nvPr/>
        </p:nvSpPr>
        <p:spPr>
          <a:xfrm>
            <a:off x="2735580" y="1354150"/>
            <a:ext cx="86944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0174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216548"/>
            <a:ext cx="5722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95400" y="1324051"/>
            <a:ext cx="822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a:t>
            </a:r>
          </a:p>
        </p:txBody>
      </p:sp>
      <p:sp>
        <p:nvSpPr>
          <p:cNvPr id="12" name="body · Anthropic · Claude"/>
          <p:cNvSpPr txBox="1"/>
          <p:nvPr/>
        </p:nvSpPr>
        <p:spPr>
          <a:xfrm>
            <a:off x="2209800" y="1354150"/>
            <a:ext cx="9220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77418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216548"/>
            <a:ext cx="6195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95400" y="1324051"/>
            <a:ext cx="1630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Copilot · Gemini</a:t>
            </a:r>
          </a:p>
        </p:txBody>
      </p:sp>
      <p:sp>
        <p:nvSpPr>
          <p:cNvPr id="12" name="body · Microsoft · Google"/>
          <p:cNvSpPr txBox="1"/>
          <p:nvPr/>
        </p:nvSpPr>
        <p:spPr>
          <a:xfrm>
            <a:off x="3017520" y="1354150"/>
            <a:ext cx="8412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Notebook(옛</a:t>
            </a:r>
          </a:p>
          <a:p>
            <a:pPr algn="l">
              <a:lnSpc>
                <a:spcPts val="2483"/>
              </a:lnSpc>
              <a:spcBef>
                <a:spcPts val="0"/>
              </a:spcBef>
              <a:spcAft>
                <a:spcPts val="0"/>
              </a:spcAft>
            </a:pPr>
            <a:r>
              <a:rPr sz="1800" b="0">
                <a:solidFill>
                  <a:srgbClr val="17221B"/>
                </a:solidFill>
                <a:latin typeface="Noto Sans KR"/>
                <a:ea typeface="Noto Sans KR"/>
                <a:cs typeface="Noto Sans KR"/>
              </a:rPr>
              <a:t>NotebookLM)으로 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 안의&#10;Copilot&#10;"/>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 안의</a:t>
            </a:r>
          </a:p>
          <a:p>
            <a:pPr algn="l">
              <a:lnSpc>
                <a:spcPts val="2483"/>
              </a:lnSpc>
              <a:spcBef>
                <a:spcPts val="0"/>
              </a:spcBef>
              <a:spcAft>
                <a:spcPts val="0"/>
              </a:spcAft>
            </a:pPr>
            <a:r>
              <a:rPr sz="1800" b="0">
                <a:solidFill>
                  <a:srgbClr val="17221B"/>
                </a:solidFill>
                <a:latin typeface="Noto Sans KR"/>
                <a:ea typeface="Noto Sans KR"/>
                <a:cs typeface="Noto Sans KR"/>
              </a:rPr>
              <a:t>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 그</a:t>
            </a:r>
          </a:p>
          <a:p>
            <a:pPr algn="l">
              <a:lnSpc>
                <a:spcPts val="2483"/>
              </a:lnSpc>
              <a:spcBef>
                <a:spcPts val="0"/>
              </a:spcBef>
              <a:spcAft>
                <a:spcPts val="0"/>
              </a:spcAft>
            </a:pPr>
            <a:r>
              <a:rPr sz="1800" b="0">
                <a:solidFill>
                  <a:srgbClr val="17221B"/>
                </a:solidFill>
                <a:latin typeface="Noto Sans KR"/>
                <a:ea typeface="Noto Sans KR"/>
                <a:cs typeface="Noto Sans KR"/>
              </a:rPr>
              <a:t>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 프로그램 안의&#10;AI부터&#10;라이선스와 "/>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 프로그램 안의</a:t>
            </a:r>
          </a:p>
          <a:p>
            <a:pPr algn="l">
              <a:lnSpc>
                <a:spcPts val="2483"/>
              </a:lnSpc>
              <a:spcBef>
                <a:spcPts val="0"/>
              </a:spcBef>
              <a:spcAft>
                <a:spcPts val="0"/>
              </a:spcAft>
            </a:pPr>
            <a:r>
              <a:rPr sz="1800" b="0">
                <a:solidFill>
                  <a:srgbClr val="17221B"/>
                </a:solidFill>
                <a:latin typeface="Noto Sans KR"/>
                <a:ea typeface="Noto Sans KR"/>
                <a:cs typeface="Noto Sans KR"/>
              </a:rPr>
              <a:t>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7942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9946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10134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10134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92430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4434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4622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4622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6918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8922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9110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9110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6131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8135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8323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8323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6997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9001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91889"/>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91889"/>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7863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9867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40055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40055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8729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30733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10921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10921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80260"/>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6928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750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216548"/>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57399"/>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57399"/>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9240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9240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9146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9146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9052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9052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0372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216548"/>
            <a:ext cx="6324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모델도 「얼마나 생각할지」를 고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모델도 「얼마나 생각할지」를 고릅니다</a:t>
            </a:r>
          </a:p>
        </p:txBody>
      </p:sp>
      <p:sp>
        <p:nvSpPr>
          <p:cNvPr id="8" name="subtitle · 추론 수준(effort) · 높일수록 대체로 정확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수준(effort) · 높일수록 대체로 정확해지지만 비용과 시간이 늘고, 끝까지 오르지는 않습니다</a:t>
            </a:r>
          </a:p>
        </p:txBody>
      </p:sp>
      <p:sp>
        <p:nvSpPr>
          <p:cNvPr id="9" name="Rounded Rectangle 8"/>
          <p:cNvSpPr/>
          <p:nvPr/>
        </p:nvSpPr>
        <p:spPr>
          <a:xfrm>
            <a:off x="609600" y="1996439"/>
            <a:ext cx="6858000" cy="3855720"/>
          </a:xfrm>
          <a:prstGeom prst="roundRect">
            <a:avLst>
              <a:gd name="adj" fmla="val 2766"/>
            </a:avLst>
          </a:prstGeom>
          <a:solidFill>
            <a:srgbClr val="FFFFFF"/>
          </a:solidFill>
          <a:ln>
            <a:noFill/>
          </a:ln>
          <a:effectLst/>
        </p:spPr>
        <p:txBody>
          <a:bodyPr rtlCol="0" anchor="ctr"/>
          <a:lstStyle/>
          <a:p>
            <a:pPr algn="ctr"/>
          </a:p>
        </p:txBody>
      </p:sp>
      <p:pic>
        <p:nvPicPr>
          <p:cNvPr id="10" name="Picture 9" descr="effort-frontier-bench.png"/>
          <p:cNvPicPr>
            <a:picLocks noChangeAspect="1"/>
          </p:cNvPicPr>
          <p:nvPr/>
        </p:nvPicPr>
        <p:blipFill>
          <a:blip r:embed="rId2"/>
          <a:srcRect/>
          <a:stretch>
            <a:fillRect/>
          </a:stretch>
        </p:blipFill>
        <p:spPr>
          <a:xfrm>
            <a:off x="611293" y="1996439"/>
            <a:ext cx="6854613" cy="3855720"/>
          </a:xfrm>
          <a:prstGeom prst="rect">
            <a:avLst/>
          </a:prstGeom>
        </p:spPr>
      </p:pic>
      <p:sp>
        <p:nvSpPr>
          <p:cNvPr id="11" name="caption · Anthropic 발표 그래프 · 코딩 과제 점수("/>
          <p:cNvSpPr txBox="1"/>
          <p:nvPr/>
        </p:nvSpPr>
        <p:spPr>
          <a:xfrm>
            <a:off x="609600" y="5897880"/>
            <a:ext cx="6858000" cy="19812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Anthropic 발표 그래프 · 코딩 과제 점수(세로)와 1회 비용(가로) · 점 하나가 effort 한 단계(low → max)</a:t>
            </a:r>
          </a:p>
        </p:txBody>
      </p:sp>
      <p:sp>
        <p:nvSpPr>
          <p:cNvPr id="12" name="Rounded Rectangle 11"/>
          <p:cNvSpPr/>
          <p:nvPr/>
        </p:nvSpPr>
        <p:spPr>
          <a:xfrm>
            <a:off x="7696199" y="1996439"/>
            <a:ext cx="3886200" cy="1219200"/>
          </a:xfrm>
          <a:prstGeom prst="roundRect">
            <a:avLst>
              <a:gd name="adj" fmla="val 8750"/>
            </a:avLst>
          </a:prstGeom>
          <a:solidFill>
            <a:srgbClr val="F3F7F3"/>
          </a:solidFill>
          <a:ln>
            <a:noFill/>
          </a:ln>
          <a:effectLst/>
        </p:spPr>
        <p:txBody>
          <a:bodyPr rtlCol="0" anchor="ctr"/>
          <a:lstStyle/>
          <a:p>
            <a:pPr algn="ctr"/>
          </a:p>
        </p:txBody>
      </p:sp>
      <p:pic>
        <p:nvPicPr>
          <p:cNvPr id="13" name="Picture 12" descr="brain-2F7048.png"/>
          <p:cNvPicPr>
            <a:picLocks noChangeAspect="1"/>
          </p:cNvPicPr>
          <p:nvPr/>
        </p:nvPicPr>
        <p:blipFill>
          <a:blip r:embed="rId3"/>
          <a:srcRect/>
          <a:stretch>
            <a:fillRect/>
          </a:stretch>
        </p:blipFill>
        <p:spPr>
          <a:xfrm>
            <a:off x="7863840" y="2164080"/>
            <a:ext cx="259080" cy="259080"/>
          </a:xfrm>
          <a:prstGeom prst="rect">
            <a:avLst/>
          </a:prstGeom>
        </p:spPr>
      </p:pic>
      <p:sp>
        <p:nvSpPr>
          <p:cNvPr id="14" name="body · 추론(Chain of Thought)"/>
          <p:cNvSpPr txBox="1"/>
          <p:nvPr/>
        </p:nvSpPr>
        <p:spPr>
          <a:xfrm>
            <a:off x="8229600" y="214884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추론(Chain of Thought)</a:t>
            </a:r>
          </a:p>
        </p:txBody>
      </p:sp>
      <p:sp>
        <p:nvSpPr>
          <p:cNvPr id="15" name="body · 답하기 전에 속으로 단계를 밟아 생각하는 과정입니다"/>
          <p:cNvSpPr txBox="1"/>
          <p:nvPr/>
        </p:nvSpPr>
        <p:spPr>
          <a:xfrm>
            <a:off x="7863840" y="2499360"/>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답하기 전에 속으로 단계를 밟아 생각하는 과정입니다.</a:t>
            </a:r>
          </a:p>
          <a:p>
            <a:pPr algn="l">
              <a:lnSpc>
                <a:spcPts val="1573"/>
              </a:lnSpc>
              <a:spcBef>
                <a:spcPts val="0"/>
              </a:spcBef>
              <a:spcAft>
                <a:spcPts val="0"/>
              </a:spcAft>
            </a:pPr>
            <a:r>
              <a:rPr sz="1140" b="0">
                <a:solidFill>
                  <a:srgbClr val="1D4430"/>
                </a:solidFill>
                <a:latin typeface="Noto Sans KR"/>
                <a:ea typeface="Noto Sans KR"/>
                <a:cs typeface="Noto Sans KR"/>
              </a:rPr>
              <a:t>effort는 이 생각을 얼마나 길게 할지 정합니다.</a:t>
            </a:r>
          </a:p>
        </p:txBody>
      </p:sp>
      <p:sp>
        <p:nvSpPr>
          <p:cNvPr id="16" name="Rounded Rectangle 15"/>
          <p:cNvSpPr/>
          <p:nvPr/>
        </p:nvSpPr>
        <p:spPr>
          <a:xfrm>
            <a:off x="7696199" y="3314700"/>
            <a:ext cx="3886200" cy="1219200"/>
          </a:xfrm>
          <a:prstGeom prst="roundRect">
            <a:avLst>
              <a:gd name="adj" fmla="val 8750"/>
            </a:avLst>
          </a:prstGeom>
          <a:solidFill>
            <a:srgbClr val="F3F7F3"/>
          </a:solidFill>
          <a:ln>
            <a:noFill/>
          </a:ln>
          <a:effectLst/>
        </p:spPr>
        <p:txBody>
          <a:bodyPr rtlCol="0" anchor="ctr"/>
          <a:lstStyle/>
          <a:p>
            <a:pPr algn="ctr"/>
          </a:p>
        </p:txBody>
      </p:sp>
      <p:pic>
        <p:nvPicPr>
          <p:cNvPr id="17" name="Picture 16" descr="gauge-2F7048.png"/>
          <p:cNvPicPr>
            <a:picLocks noChangeAspect="1"/>
          </p:cNvPicPr>
          <p:nvPr/>
        </p:nvPicPr>
        <p:blipFill>
          <a:blip r:embed="rId4"/>
          <a:srcRect/>
          <a:stretch>
            <a:fillRect/>
          </a:stretch>
        </p:blipFill>
        <p:spPr>
          <a:xfrm>
            <a:off x="7863840" y="3482340"/>
            <a:ext cx="259080" cy="259080"/>
          </a:xfrm>
          <a:prstGeom prst="rect">
            <a:avLst/>
          </a:prstGeom>
        </p:spPr>
      </p:pic>
      <p:sp>
        <p:nvSpPr>
          <p:cNvPr id="18" name="body · 단계: low ~ max, 그리고 ultra"/>
          <p:cNvSpPr txBox="1"/>
          <p:nvPr/>
        </p:nvSpPr>
        <p:spPr>
          <a:xfrm>
            <a:off x="8229600" y="346710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단계: low ~ max, 그리고 ultra</a:t>
            </a:r>
          </a:p>
        </p:txBody>
      </p:sp>
      <p:sp>
        <p:nvSpPr>
          <p:cNvPr id="19" name="body · low·medium·high·xhigh·max 순으"/>
          <p:cNvSpPr txBox="1"/>
          <p:nvPr/>
        </p:nvSpPr>
        <p:spPr>
          <a:xfrm>
            <a:off x="7863840" y="3817620"/>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low·medium·high·xhigh·max 순으로 오래</a:t>
            </a:r>
          </a:p>
          <a:p>
            <a:pPr algn="l">
              <a:lnSpc>
                <a:spcPts val="1573"/>
              </a:lnSpc>
              <a:spcBef>
                <a:spcPts val="0"/>
              </a:spcBef>
              <a:spcAft>
                <a:spcPts val="0"/>
              </a:spcAft>
            </a:pPr>
            <a:r>
              <a:rPr sz="1140" b="0">
                <a:solidFill>
                  <a:srgbClr val="1D4430"/>
                </a:solidFill>
                <a:latin typeface="Noto Sans KR"/>
                <a:ea typeface="Noto Sans KR"/>
                <a:cs typeface="Noto Sans KR"/>
              </a:rPr>
              <a:t>생각합니다. ultra는 하위 에이전트에게 나눠 맡깁니다.</a:t>
            </a:r>
          </a:p>
        </p:txBody>
      </p:sp>
      <p:sp>
        <p:nvSpPr>
          <p:cNvPr id="20" name="Rounded Rectangle 19"/>
          <p:cNvSpPr/>
          <p:nvPr/>
        </p:nvSpPr>
        <p:spPr>
          <a:xfrm>
            <a:off x="7696199" y="4632960"/>
            <a:ext cx="3886200" cy="1219200"/>
          </a:xfrm>
          <a:prstGeom prst="roundRect">
            <a:avLst>
              <a:gd name="adj" fmla="val 8750"/>
            </a:avLst>
          </a:prstGeom>
          <a:solidFill>
            <a:srgbClr val="F3F7F3"/>
          </a:solidFill>
          <a:ln>
            <a:noFill/>
          </a:ln>
          <a:effectLst/>
        </p:spPr>
        <p:txBody>
          <a:bodyPr rtlCol="0" anchor="ctr"/>
          <a:lstStyle/>
          <a:p>
            <a:pPr algn="ctr"/>
          </a:p>
        </p:txBody>
      </p:sp>
      <p:pic>
        <p:nvPicPr>
          <p:cNvPr id="21" name="Picture 20" descr="lightbulb-2F7048.png"/>
          <p:cNvPicPr>
            <a:picLocks noChangeAspect="1"/>
          </p:cNvPicPr>
          <p:nvPr/>
        </p:nvPicPr>
        <p:blipFill>
          <a:blip r:embed="rId5"/>
          <a:srcRect/>
          <a:stretch>
            <a:fillRect/>
          </a:stretch>
        </p:blipFill>
        <p:spPr>
          <a:xfrm>
            <a:off x="7863840" y="4800600"/>
            <a:ext cx="259080" cy="259080"/>
          </a:xfrm>
          <a:prstGeom prst="rect">
            <a:avLst/>
          </a:prstGeom>
        </p:spPr>
      </p:pic>
      <p:sp>
        <p:nvSpPr>
          <p:cNvPr id="22" name="body · 바꾸는 곳"/>
          <p:cNvSpPr txBox="1"/>
          <p:nvPr/>
        </p:nvSpPr>
        <p:spPr>
          <a:xfrm>
            <a:off x="8229600" y="478536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바꾸는 곳</a:t>
            </a:r>
          </a:p>
        </p:txBody>
      </p:sp>
      <p:sp>
        <p:nvSpPr>
          <p:cNvPr id="23" name="body · Claude Code: /effort 또는 /mod"/>
          <p:cNvSpPr txBox="1"/>
          <p:nvPr/>
        </p:nvSpPr>
        <p:spPr>
          <a:xfrm>
            <a:off x="7863840" y="5135880"/>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 Code: /effort 또는 /model 화면</a:t>
            </a:r>
          </a:p>
          <a:p>
            <a:pPr algn="l">
              <a:lnSpc>
                <a:spcPts val="1573"/>
              </a:lnSpc>
              <a:spcBef>
                <a:spcPts val="0"/>
              </a:spcBef>
              <a:spcAft>
                <a:spcPts val="0"/>
              </a:spcAft>
            </a:pPr>
            <a:r>
              <a:rPr sz="1140" b="0">
                <a:solidFill>
                  <a:srgbClr val="1D4430"/>
                </a:solidFill>
                <a:latin typeface="Noto Sans KR"/>
                <a:ea typeface="Noto Sans KR"/>
                <a:cs typeface="Noto Sans KR"/>
              </a:rPr>
              <a:t>Codex: 모델 고르는 메뉴의 추론 수준</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4940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216548"/>
            <a:ext cx="4914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조직은 관리 화면이 있는 대신, 쓰는 만큼 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조직은 관리 화면이 있는 대신, 쓰는 만큼 냅니다</a:t>
            </a:r>
          </a:p>
        </p:txBody>
      </p:sp>
      <p:sp>
        <p:nvSpPr>
          <p:cNvPr id="8" name="subtitle · 거버넌스 = 누가 · 얼마나 · 무엇을 쓰는지 회사"/>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 = 누가 · 얼마나 · 무엇을 쓰는지 회사가 보고 정하는 일 · 요금제별 기능은 다음 장에서</a:t>
            </a:r>
          </a:p>
        </p:txBody>
      </p:sp>
      <p:sp>
        <p:nvSpPr>
          <p:cNvPr id="9" name="label · 개인 구독 (Plus · Pro · Max)"/>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개인 구독 (Plus · Pro · Max)</a:t>
            </a:r>
          </a:p>
        </p:txBody>
      </p:sp>
      <p:sp>
        <p:nvSpPr>
          <p:cNvPr id="10" name="label · 조직 (Team · Business · Enterp"/>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조직 (Team · Business · Enterprise)</a:t>
            </a:r>
          </a:p>
        </p:txBody>
      </p:sp>
      <p:sp>
        <p:nvSpPr>
          <p:cNvPr id="11" name="label · 달라지는 점"/>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달라지는 점</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chart-column-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사용량"/>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사용량</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내 사용량만 봅니다"/>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사용량만 봅니다</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관리 대시보드에서 사람별·&#10;모델별 사용량과 비용"/>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 대시보드에서 사람별·</a:t>
            </a:r>
          </a:p>
          <a:p>
            <a:pPr algn="l">
              <a:lnSpc>
                <a:spcPts val="1738"/>
              </a:lnSpc>
              <a:spcBef>
                <a:spcPts val="0"/>
              </a:spcBef>
              <a:spcAft>
                <a:spcPts val="0"/>
              </a:spcAft>
            </a:pPr>
            <a:r>
              <a:rPr sz="1260" b="1">
                <a:solidFill>
                  <a:srgbClr val="1D4430"/>
                </a:solidFill>
                <a:latin typeface="Noto Sans KR"/>
                <a:ea typeface="Noto Sans KR"/>
                <a:cs typeface="Noto Sans KR"/>
              </a:rPr>
              <a:t>모델별 사용량과 비용</a:t>
            </a:r>
          </a:p>
        </p:txBody>
      </p:sp>
      <p:sp>
        <p:nvSpPr>
          <p:cNvPr id="20" name="body · 누가 얼마나&#10;쓰는지 보임"/>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누가 얼마나</a:t>
            </a:r>
          </a:p>
          <a:p>
            <a:pPr algn="l">
              <a:lnSpc>
                <a:spcPts val="1655"/>
              </a:lnSpc>
              <a:spcBef>
                <a:spcPts val="0"/>
              </a:spcBef>
              <a:spcAft>
                <a:spcPts val="0"/>
              </a:spcAft>
            </a:pPr>
            <a:r>
              <a:rPr sz="1200" b="0">
                <a:solidFill>
                  <a:srgbClr val="7A5214"/>
                </a:solidFill>
                <a:latin typeface="Noto Sans KR"/>
                <a:ea typeface="Noto Sans KR"/>
                <a:cs typeface="Noto Sans KR"/>
              </a:rPr>
              <a:t>쓰는지 보임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gauge-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한도"/>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한도</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요금제가 정한 한도&#10;넘으면 기다리거나 추가 구매"/>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요금제가 정한 한도</a:t>
            </a:r>
          </a:p>
          <a:p>
            <a:pPr algn="l">
              <a:lnSpc>
                <a:spcPts val="1738"/>
              </a:lnSpc>
              <a:spcBef>
                <a:spcPts val="0"/>
              </a:spcBef>
              <a:spcAft>
                <a:spcPts val="0"/>
              </a:spcAft>
            </a:pPr>
            <a:r>
              <a:rPr sz="1260" b="1">
                <a:solidFill>
                  <a:srgbClr val="1D4430"/>
                </a:solidFill>
                <a:latin typeface="Noto Sans KR"/>
                <a:ea typeface="Noto Sans KR"/>
                <a:cs typeface="Noto Sans KR"/>
              </a:rPr>
              <a:t>넘으면 기다리거나 추가 구매</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사람·그룹별 지출 한도를&#10;관리자가 정함"/>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사람·그룹별 지출 한도를</a:t>
            </a:r>
          </a:p>
          <a:p>
            <a:pPr algn="l">
              <a:lnSpc>
                <a:spcPts val="1738"/>
              </a:lnSpc>
              <a:spcBef>
                <a:spcPts val="0"/>
              </a:spcBef>
              <a:spcAft>
                <a:spcPts val="0"/>
              </a:spcAft>
            </a:pPr>
            <a:r>
              <a:rPr sz="1260" b="1">
                <a:solidFill>
                  <a:srgbClr val="1D4430"/>
                </a:solidFill>
                <a:latin typeface="Noto Sans KR"/>
                <a:ea typeface="Noto Sans KR"/>
                <a:cs typeface="Noto Sans KR"/>
              </a:rPr>
              <a:t>관리자가 정함</a:t>
            </a:r>
          </a:p>
        </p:txBody>
      </p:sp>
      <p:sp>
        <p:nvSpPr>
          <p:cNvPr id="29" name="body · 얼마나 쓰게&#10;할지 정함"/>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얼마나 쓰게</a:t>
            </a:r>
          </a:p>
          <a:p>
            <a:pPr algn="l">
              <a:lnSpc>
                <a:spcPts val="1655"/>
              </a:lnSpc>
              <a:spcBef>
                <a:spcPts val="0"/>
              </a:spcBef>
              <a:spcAft>
                <a:spcPts val="0"/>
              </a:spcAft>
            </a:pPr>
            <a:r>
              <a:rPr sz="1200" b="0">
                <a:solidFill>
                  <a:srgbClr val="7A5214"/>
                </a:solidFill>
                <a:latin typeface="Noto Sans KR"/>
                <a:ea typeface="Noto Sans KR"/>
                <a:cs typeface="Noto Sans KR"/>
              </a:rPr>
              <a:t>할지 정함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scroll-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기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기록</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내 대화 기록만"/>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대화 기록만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감사 로그·Compliance API로&#10;요청과 답 "/>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감사 로그·Compliance API로</a:t>
            </a:r>
          </a:p>
          <a:p>
            <a:pPr algn="l">
              <a:lnSpc>
                <a:spcPts val="1738"/>
              </a:lnSpc>
              <a:spcBef>
                <a:spcPts val="0"/>
              </a:spcBef>
              <a:spcAft>
                <a:spcPts val="0"/>
              </a:spcAft>
            </a:pPr>
            <a:r>
              <a:rPr sz="1260" b="1">
                <a:solidFill>
                  <a:srgbClr val="1D4430"/>
                </a:solidFill>
                <a:latin typeface="Noto Sans KR"/>
                <a:ea typeface="Noto Sans KR"/>
                <a:cs typeface="Noto Sans KR"/>
              </a:rPr>
              <a:t>요청과 답 확인(Enterprise)</a:t>
            </a:r>
          </a:p>
        </p:txBody>
      </p:sp>
      <p:sp>
        <p:nvSpPr>
          <p:cNvPr id="38" name="body · 기록 확인,&#10;보안이 더 강함"/>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기록 확인,</a:t>
            </a:r>
          </a:p>
          <a:p>
            <a:pPr algn="l">
              <a:lnSpc>
                <a:spcPts val="1655"/>
              </a:lnSpc>
              <a:spcBef>
                <a:spcPts val="0"/>
              </a:spcBef>
              <a:spcAft>
                <a:spcPts val="0"/>
              </a:spcAft>
            </a:pPr>
            <a:r>
              <a:rPr sz="1200" b="0">
                <a:solidFill>
                  <a:srgbClr val="7A5214"/>
                </a:solidFill>
                <a:latin typeface="Noto Sans KR"/>
                <a:ea typeface="Noto Sans KR"/>
                <a:cs typeface="Noto Sans KR"/>
              </a:rPr>
              <a:t>보안이 더 강함</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wallet-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비용"/>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월 $20 정액"/>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 $20 정액</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좌석값 + 쓰는 만큼&#10;Claude Code 1인 월"/>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좌석값 + 쓰는 만큼</a:t>
            </a:r>
          </a:p>
          <a:p>
            <a:pPr algn="l">
              <a:lnSpc>
                <a:spcPts val="1738"/>
              </a:lnSpc>
              <a:spcBef>
                <a:spcPts val="0"/>
              </a:spcBef>
              <a:spcAft>
                <a:spcPts val="0"/>
              </a:spcAft>
            </a:pPr>
            <a:r>
              <a:rPr sz="1260" b="1">
                <a:solidFill>
                  <a:srgbClr val="1D4430"/>
                </a:solidFill>
                <a:latin typeface="Noto Sans KR"/>
                <a:ea typeface="Noto Sans KR"/>
                <a:cs typeface="Noto Sans KR"/>
              </a:rPr>
              <a:t>Claude Code 1인 월 $150~250</a:t>
            </a:r>
          </a:p>
        </p:txBody>
      </p:sp>
      <p:sp>
        <p:nvSpPr>
          <p:cNvPr id="47" name="body · 정액의 7~12배&#10;(Anthropic 평균)"/>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정액의 7~12배</a:t>
            </a:r>
          </a:p>
          <a:p>
            <a:pPr algn="l">
              <a:lnSpc>
                <a:spcPts val="1655"/>
              </a:lnSpc>
              <a:spcBef>
                <a:spcPts val="0"/>
              </a:spcBef>
              <a:spcAft>
                <a:spcPts val="0"/>
              </a:spcAft>
            </a:pPr>
            <a:r>
              <a:rPr sz="1200" b="0">
                <a:solidFill>
                  <a:srgbClr val="7A5214"/>
                </a:solidFill>
                <a:latin typeface="Noto Sans KR"/>
                <a:ea typeface="Noto Sans KR"/>
                <a:cs typeface="Noto Sans KR"/>
              </a:rPr>
              <a:t>(Anthropic 평균)</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금제마다 쓸 수 있는 관리 기능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588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64156"/>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FFFFFF"/>
                </a:solidFill>
                <a:latin typeface="Noto Sans KR"/>
                <a:ea typeface="Noto Sans KR"/>
                <a:cs typeface="Noto Sans KR"/>
              </a:rPr>
              <a:t>ChatGPT Enterprise</a:t>
            </a:r>
          </a:p>
        </p:txBody>
      </p:sp>
      <p:sp>
        <p:nvSpPr>
          <p:cNvPr id="15" name="body · Claude Team"/>
          <p:cNvSpPr txBox="1"/>
          <p:nvPr/>
        </p:nvSpPr>
        <p:spPr>
          <a:xfrm>
            <a:off x="7784592"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541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494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447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400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353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306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259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8092440"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조직 요금제는 기본적으로 학습에 쓰지 않습니다. 처"/>
          <p:cNvSpPr txBox="1"/>
          <p:nvPr/>
        </p:nvSpPr>
        <p:spPr>
          <a:xfrm>
            <a:off x="1082040" y="6216548"/>
            <a:ext cx="75133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조직 요금제는 기본적으로 학습에 쓰지 않습니다. 처음엔 로그인 · 지출 한도 · 연결 허용 세 가지만 정합니다.</a:t>
            </a:r>
          </a:p>
        </p:txBody>
      </p:sp>
      <p:sp>
        <p:nvSpPr>
          <p:cNvPr id="6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6884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216548"/>
            <a:ext cx="91897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476500"/>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4008120"/>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32020"/>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body · 1"/>
          <p:cNvSpPr txBox="1"/>
          <p:nvPr/>
        </p:nvSpPr>
        <p:spPr>
          <a:xfrm>
            <a:off x="5737860" y="25146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765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498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2"/>
          <p:cNvSpPr txBox="1"/>
          <p:nvPr/>
        </p:nvSpPr>
        <p:spPr>
          <a:xfrm>
            <a:off x="5737860" y="36449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6068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801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3"/>
          <p:cNvSpPr txBox="1"/>
          <p:nvPr/>
        </p:nvSpPr>
        <p:spPr>
          <a:xfrm>
            <a:off x="5737860" y="47752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371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1104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216548"/>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88280"/>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4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55621"/>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798320" y="2110740"/>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6780" y="2834640"/>
            <a:ext cx="891540"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4420" y="2882417"/>
            <a:ext cx="66294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52660" y="2834640"/>
            <a:ext cx="1546860"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20300" y="2882417"/>
            <a:ext cx="131826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576060"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216548"/>
            <a:ext cx="5996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4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 2층 교육실로 바뀌었어. 신청 방법은</a:t>
            </a:r>
          </a:p>
          <a:p>
            <a:pPr algn="l">
              <a:lnSpc>
                <a:spcPts val="2649"/>
              </a:lnSpc>
              <a:spcBef>
                <a:spcPts val="0"/>
              </a:spcBef>
              <a:spcAft>
                <a:spcPts val="0"/>
              </a:spcAft>
            </a:pPr>
            <a:r>
              <a:rPr sz="1920" b="0">
                <a:solidFill>
                  <a:srgbClr val="E4EFE6"/>
                </a:solidFill>
                <a:latin typeface="Noto Sans KR"/>
                <a:ea typeface="Noto Sans KR"/>
                <a:cs typeface="Noto Sans KR"/>
              </a:rPr>
              <a:t>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10121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10121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260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260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508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508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757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757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95400" y="1366113"/>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엔지니어링</a:t>
            </a:r>
          </a:p>
        </p:txBody>
      </p:sp>
      <p:sp>
        <p:nvSpPr>
          <p:cNvPr id="12" name="body · Engineering"/>
          <p:cNvSpPr txBox="1"/>
          <p:nvPr/>
        </p:nvSpPr>
        <p:spPr>
          <a:xfrm>
            <a:off x="2346960" y="1396212"/>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931920"/>
            <a:ext cx="2072640" cy="1722120"/>
          </a:xfrm>
          <a:prstGeom prst="roundRect">
            <a:avLst>
              <a:gd name="adj" fmla="val 7964"/>
            </a:avLst>
          </a:prstGeom>
          <a:solidFill>
            <a:srgbClr val="F3F7F3"/>
          </a:solidFill>
          <a:ln>
            <a:noFill/>
          </a:ln>
          <a:effectLst/>
        </p:spPr>
        <p:txBody>
          <a:bodyPr rtlCol="0" anchor="ctr"/>
          <a:lstStyle/>
          <a:p>
            <a:pPr algn="ctr"/>
          </a:p>
        </p:txBody>
      </p:sp>
      <p:sp>
        <p:nvSpPr>
          <p:cNvPr id="15" name="Rounded Rectangle 14"/>
          <p:cNvSpPr/>
          <p:nvPr/>
        </p:nvSpPr>
        <p:spPr>
          <a:xfrm>
            <a:off x="746760" y="406908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164329"/>
            <a:ext cx="205740" cy="205740"/>
          </a:xfrm>
          <a:prstGeom prst="rect">
            <a:avLst/>
          </a:prstGeom>
        </p:spPr>
      </p:pic>
      <p:sp>
        <p:nvSpPr>
          <p:cNvPr id="17" name="body · 01"/>
          <p:cNvSpPr txBox="1"/>
          <p:nvPr/>
        </p:nvSpPr>
        <p:spPr>
          <a:xfrm>
            <a:off x="1219200" y="409956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57200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81584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9684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81400"/>
            <a:ext cx="2072640" cy="20726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718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813810"/>
            <a:ext cx="205740" cy="205740"/>
          </a:xfrm>
          <a:prstGeom prst="rect">
            <a:avLst/>
          </a:prstGeom>
        </p:spPr>
      </p:pic>
      <p:sp>
        <p:nvSpPr>
          <p:cNvPr id="24" name="body · 02"/>
          <p:cNvSpPr txBox="1"/>
          <p:nvPr/>
        </p:nvSpPr>
        <p:spPr>
          <a:xfrm>
            <a:off x="3444240" y="3749039"/>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22148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46532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84632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230880"/>
            <a:ext cx="2072640" cy="24231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3680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463290"/>
            <a:ext cx="205740" cy="205740"/>
          </a:xfrm>
          <a:prstGeom prst="rect">
            <a:avLst/>
          </a:prstGeom>
        </p:spPr>
      </p:pic>
      <p:sp>
        <p:nvSpPr>
          <p:cNvPr id="31" name="body · 03"/>
          <p:cNvSpPr txBox="1"/>
          <p:nvPr/>
        </p:nvSpPr>
        <p:spPr>
          <a:xfrm>
            <a:off x="5669280" y="339852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87096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11480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9580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80360"/>
            <a:ext cx="2072640" cy="27736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3017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112770"/>
            <a:ext cx="205740" cy="205740"/>
          </a:xfrm>
          <a:prstGeom prst="rect">
            <a:avLst/>
          </a:prstGeom>
        </p:spPr>
      </p:pic>
      <p:sp>
        <p:nvSpPr>
          <p:cNvPr id="38" name="body · 04"/>
          <p:cNvSpPr txBox="1"/>
          <p:nvPr/>
        </p:nvSpPr>
        <p:spPr>
          <a:xfrm>
            <a:off x="7894320" y="304800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52044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764279"/>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14528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529840"/>
            <a:ext cx="2072640" cy="31242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6670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762250"/>
            <a:ext cx="205740" cy="205740"/>
          </a:xfrm>
          <a:prstGeom prst="rect">
            <a:avLst/>
          </a:prstGeom>
        </p:spPr>
      </p:pic>
      <p:sp>
        <p:nvSpPr>
          <p:cNvPr id="45" name="body · 05"/>
          <p:cNvSpPr txBox="1"/>
          <p:nvPr/>
        </p:nvSpPr>
        <p:spPr>
          <a:xfrm>
            <a:off x="10119360" y="269748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16992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41376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9476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715000"/>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715000"/>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89610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216548"/>
            <a:ext cx="63169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단계 · 프롬프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1단계 · 프롬프트</a:t>
            </a:r>
          </a:p>
        </p:txBody>
      </p:sp>
      <p:sp>
        <p:nvSpPr>
          <p:cNvPr id="8" name="subtitle · 다섯 단계 중 1번째 · 가장 먼저 익히는 기본입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1번째 · 가장 먼저 익히는 기본입니다</a:t>
            </a:r>
          </a:p>
        </p:txBody>
      </p:sp>
      <p:sp>
        <p:nvSpPr>
          <p:cNvPr id="9" name="Rounded Rectangle 8"/>
          <p:cNvSpPr/>
          <p:nvPr/>
        </p:nvSpPr>
        <p:spPr>
          <a:xfrm>
            <a:off x="609600"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0" name="Picture 9" descr="message-square-9FCF94.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3" name="Picture 12" descr="database-5E6B62.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message-squar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Prompt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Prompt Engineering</a:t>
            </a:r>
          </a:p>
        </p:txBody>
      </p:sp>
      <p:sp>
        <p:nvSpPr>
          <p:cNvPr id="28" name="body · 프롬프트"/>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프롬프트</a:t>
            </a:r>
          </a:p>
        </p:txBody>
      </p:sp>
      <p:sp>
        <p:nvSpPr>
          <p:cNvPr id="29" name="body · 원하는 결과를 분명한 말로 시키는 일입니다."/>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원하는 결과를 분명한 말로 시키는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잘 써 줘」 대신 목적·자료·형식·완료 기준을&#10;적"/>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「잘 써 줘」 대신 목적·자료·형식·완료 기준을</a:t>
            </a:r>
          </a:p>
          <a:p>
            <a:pPr algn="l">
              <a:lnSpc>
                <a:spcPts val="2070"/>
              </a:lnSpc>
              <a:spcBef>
                <a:spcPts val="0"/>
              </a:spcBef>
              <a:spcAft>
                <a:spcPts val="0"/>
              </a:spcAft>
            </a:pPr>
            <a:r>
              <a:rPr sz="1500" b="1">
                <a:solidFill>
                  <a:srgbClr val="1D4430"/>
                </a:solidFill>
                <a:latin typeface="Noto Sans KR"/>
                <a:ea typeface="Noto Sans KR"/>
                <a:cs typeface="Noto Sans KR"/>
              </a:rPr>
              <a:t>적어서 부탁합니다.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완료 기준 주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 주기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message-circle-question-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되묻는 AI에 답하기"/>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되묻는 AI에 답하기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file-text-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업무 지시서 다섯 칸"/>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 다섯 칸</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95400" y="1366113"/>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55620" y="1396212"/>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2534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216548"/>
            <a:ext cx="404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 빠져&#10;있습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 빠져</a:t>
            </a:r>
          </a:p>
          <a:p>
            <a:pPr algn="l">
              <a:lnSpc>
                <a:spcPts val="1904"/>
              </a:lnSpc>
              <a:spcBef>
                <a:spcPts val="0"/>
              </a:spcBef>
              <a:spcAft>
                <a:spcPts val="0"/>
              </a:spcAft>
            </a:pPr>
            <a:r>
              <a:rPr sz="1380" b="0">
                <a:solidFill>
                  <a:srgbClr val="17221B"/>
                </a:solidFill>
                <a:latin typeface="Noto Sans KR"/>
                <a:ea typeface="Noto Sans KR"/>
                <a:cs typeface="Noto Sans KR"/>
              </a:rPr>
              <a:t>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 빈칸부터&#10;확인합니다."/>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 빈칸부터</a:t>
            </a:r>
          </a:p>
          <a:p>
            <a:pPr algn="l">
              <a:lnSpc>
                <a:spcPts val="1904"/>
              </a:lnSpc>
              <a:spcBef>
                <a:spcPts val="0"/>
              </a:spcBef>
              <a:spcAft>
                <a:spcPts val="0"/>
              </a:spcAft>
            </a:pPr>
            <a:r>
              <a:rPr sz="1380" b="0">
                <a:solidFill>
                  <a:srgbClr val="17221B"/>
                </a:solidFill>
                <a:latin typeface="Noto Sans KR"/>
                <a:ea typeface="Noto Sans KR"/>
                <a:cs typeface="Noto Sans KR"/>
              </a:rPr>
              <a:t>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 채우는&#10;일입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 채우는</a:t>
            </a:r>
          </a:p>
          <a:p>
            <a:pPr algn="l">
              <a:lnSpc>
                <a:spcPts val="1904"/>
              </a:lnSpc>
              <a:spcBef>
                <a:spcPts val="0"/>
              </a:spcBef>
              <a:spcAft>
                <a:spcPts val="0"/>
              </a:spcAft>
            </a:pPr>
            <a:r>
              <a:rPr sz="1380" b="0">
                <a:solidFill>
                  <a:srgbClr val="E4EFE6"/>
                </a:solidFill>
                <a:latin typeface="Noto Sans KR"/>
                <a:ea typeface="Noto Sans KR"/>
                <a:cs typeface="Noto Sans KR"/>
              </a:rPr>
              <a:t>일입니다.</a:t>
            </a:r>
          </a:p>
        </p:txBody>
      </p:sp>
      <p:sp>
        <p:nvSpPr>
          <p:cNvPr id="29" name="Rounded Rectangle 28"/>
          <p:cNvSpPr/>
          <p:nvPr/>
        </p:nvSpPr>
        <p:spPr>
          <a:xfrm>
            <a:off x="609600" y="6111240"/>
            <a:ext cx="582168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216548"/>
            <a:ext cx="5242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95400" y="1366113"/>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a:t>
            </a:r>
          </a:p>
        </p:txBody>
      </p:sp>
      <p:sp>
        <p:nvSpPr>
          <p:cNvPr id="12" name="body · Prompt · 프롬프트"/>
          <p:cNvSpPr txBox="1"/>
          <p:nvPr/>
        </p:nvSpPr>
        <p:spPr>
          <a:xfrm>
            <a:off x="2385060" y="1396212"/>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label · 칸"/>
          <p:cNvSpPr txBox="1"/>
          <p:nvPr/>
        </p:nvSpPr>
        <p:spPr>
          <a:xfrm>
            <a:off x="609600" y="2194560"/>
            <a:ext cx="19050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칸</a:t>
            </a:r>
          </a:p>
        </p:txBody>
      </p:sp>
      <p:sp>
        <p:nvSpPr>
          <p:cNvPr id="15" name="label · 무엇을 적나"/>
          <p:cNvSpPr txBox="1"/>
          <p:nvPr/>
        </p:nvSpPr>
        <p:spPr>
          <a:xfrm>
            <a:off x="2667000" y="2194560"/>
            <a:ext cx="42672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적나</a:t>
            </a:r>
          </a:p>
        </p:txBody>
      </p:sp>
      <p:sp>
        <p:nvSpPr>
          <p:cNvPr id="16" name="label · 빠지면 생기는 일"/>
          <p:cNvSpPr txBox="1"/>
          <p:nvPr/>
        </p:nvSpPr>
        <p:spPr>
          <a:xfrm>
            <a:off x="7162800" y="2194560"/>
            <a:ext cx="44196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빠지면 생기는 일</a:t>
            </a:r>
          </a:p>
        </p:txBody>
      </p:sp>
      <p:sp>
        <p:nvSpPr>
          <p:cNvPr id="17" name="Rounded Rectangle 16"/>
          <p:cNvSpPr/>
          <p:nvPr/>
        </p:nvSpPr>
        <p:spPr>
          <a:xfrm>
            <a:off x="609600" y="2484120"/>
            <a:ext cx="10972800" cy="701040"/>
          </a:xfrm>
          <a:prstGeom prst="roundRect">
            <a:avLst>
              <a:gd name="adj" fmla="val 17391"/>
            </a:avLst>
          </a:prstGeom>
          <a:solidFill>
            <a:srgbClr val="F3F7F3"/>
          </a:solidFill>
          <a:ln>
            <a:noFill/>
          </a:ln>
          <a:effectLst/>
        </p:spPr>
        <p:txBody>
          <a:bodyPr rtlCol="0" anchor="ctr"/>
          <a:lstStyle/>
          <a:p>
            <a:pPr algn="ctr"/>
          </a:p>
        </p:txBody>
      </p:sp>
      <p:sp>
        <p:nvSpPr>
          <p:cNvPr id="18" name="Rounded Rectangle 17"/>
          <p:cNvSpPr/>
          <p:nvPr/>
        </p:nvSpPr>
        <p:spPr>
          <a:xfrm>
            <a:off x="762000" y="26365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target-FFFFFF.png"/>
          <p:cNvPicPr>
            <a:picLocks noChangeAspect="1"/>
          </p:cNvPicPr>
          <p:nvPr/>
        </p:nvPicPr>
        <p:blipFill>
          <a:blip r:embed="rId2"/>
          <a:srcRect/>
          <a:stretch>
            <a:fillRect/>
          </a:stretch>
        </p:blipFill>
        <p:spPr>
          <a:xfrm>
            <a:off x="857250" y="2731770"/>
            <a:ext cx="205740" cy="205740"/>
          </a:xfrm>
          <a:prstGeom prst="rect">
            <a:avLst/>
          </a:prstGeom>
        </p:spPr>
      </p:pic>
      <p:sp>
        <p:nvSpPr>
          <p:cNvPr id="20" name="body · 목적"/>
          <p:cNvSpPr txBox="1"/>
          <p:nvPr/>
        </p:nvSpPr>
        <p:spPr>
          <a:xfrm>
            <a:off x="1280160" y="2682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목적</a:t>
            </a:r>
          </a:p>
        </p:txBody>
      </p:sp>
      <p:sp>
        <p:nvSpPr>
          <p:cNvPr id="21" name="Rounded Rectangle 20"/>
          <p:cNvSpPr/>
          <p:nvPr/>
        </p:nvSpPr>
        <p:spPr>
          <a:xfrm>
            <a:off x="2590800" y="2560320"/>
            <a:ext cx="4419600" cy="548640"/>
          </a:xfrm>
          <a:prstGeom prst="roundRect">
            <a:avLst>
              <a:gd name="adj" fmla="val 16666"/>
            </a:avLst>
          </a:prstGeom>
          <a:solidFill>
            <a:srgbClr val="FFFFFF"/>
          </a:solidFill>
          <a:ln>
            <a:noFill/>
          </a:ln>
          <a:effectLst/>
        </p:spPr>
        <p:txBody>
          <a:bodyPr rtlCol="0" anchor="ctr"/>
          <a:lstStyle/>
          <a:p>
            <a:pPr algn="ctr"/>
          </a:p>
        </p:txBody>
      </p:sp>
      <p:sp>
        <p:nvSpPr>
          <p:cNvPr id="22" name="body · 이 결과로 누가 무엇을 판단하나"/>
          <p:cNvSpPr txBox="1"/>
          <p:nvPr/>
        </p:nvSpPr>
        <p:spPr>
          <a:xfrm>
            <a:off x="2727960" y="2705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이 결과로 누가 무엇을 판단하나</a:t>
            </a:r>
          </a:p>
        </p:txBody>
      </p:sp>
      <p:sp>
        <p:nvSpPr>
          <p:cNvPr id="23" name="body · 그럴듯하지만 쓸 데 없는 결과"/>
          <p:cNvSpPr txBox="1"/>
          <p:nvPr/>
        </p:nvSpPr>
        <p:spPr>
          <a:xfrm>
            <a:off x="7193280" y="2705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그럴듯하지만 쓸 데 없는 결과</a:t>
            </a:r>
          </a:p>
        </p:txBody>
      </p:sp>
      <p:sp>
        <p:nvSpPr>
          <p:cNvPr id="24" name="Rounded Rectangle 23"/>
          <p:cNvSpPr/>
          <p:nvPr/>
        </p:nvSpPr>
        <p:spPr>
          <a:xfrm>
            <a:off x="609600" y="3246120"/>
            <a:ext cx="10972800" cy="701040"/>
          </a:xfrm>
          <a:prstGeom prst="roundRect">
            <a:avLst>
              <a:gd name="adj" fmla="val 17391"/>
            </a:avLst>
          </a:prstGeom>
          <a:solidFill>
            <a:srgbClr val="F3F7F3"/>
          </a:solidFill>
          <a:ln>
            <a:noFill/>
          </a:ln>
          <a:effectLst/>
        </p:spPr>
        <p:txBody>
          <a:bodyPr rtlCol="0" anchor="ctr"/>
          <a:lstStyle/>
          <a:p>
            <a:pPr algn="ctr"/>
          </a:p>
        </p:txBody>
      </p:sp>
      <p:sp>
        <p:nvSpPr>
          <p:cNvPr id="25" name="Rounded Rectangle 24"/>
          <p:cNvSpPr/>
          <p:nvPr/>
        </p:nvSpPr>
        <p:spPr>
          <a:xfrm>
            <a:off x="762000" y="3398520"/>
            <a:ext cx="396240" cy="396240"/>
          </a:xfrm>
          <a:prstGeom prst="roundRect">
            <a:avLst>
              <a:gd name="adj" fmla="val 50000"/>
            </a:avLst>
          </a:prstGeom>
          <a:solidFill>
            <a:srgbClr val="2F7048"/>
          </a:solidFill>
          <a:ln>
            <a:noFill/>
          </a:ln>
          <a:effectLst/>
        </p:spPr>
        <p:txBody>
          <a:bodyPr rtlCol="0" anchor="ctr"/>
          <a:lstStyle/>
          <a:p>
            <a:pPr algn="ctr"/>
          </a:p>
        </p:txBody>
      </p:sp>
      <p:pic>
        <p:nvPicPr>
          <p:cNvPr id="26" name="Picture 25" descr="log-in-FFFFFF.png"/>
          <p:cNvPicPr>
            <a:picLocks noChangeAspect="1"/>
          </p:cNvPicPr>
          <p:nvPr/>
        </p:nvPicPr>
        <p:blipFill>
          <a:blip r:embed="rId3"/>
          <a:srcRect/>
          <a:stretch>
            <a:fillRect/>
          </a:stretch>
        </p:blipFill>
        <p:spPr>
          <a:xfrm>
            <a:off x="857250" y="3493770"/>
            <a:ext cx="205740" cy="205740"/>
          </a:xfrm>
          <a:prstGeom prst="rect">
            <a:avLst/>
          </a:prstGeom>
        </p:spPr>
      </p:pic>
      <p:sp>
        <p:nvSpPr>
          <p:cNvPr id="27" name="body · 입력"/>
          <p:cNvSpPr txBox="1"/>
          <p:nvPr/>
        </p:nvSpPr>
        <p:spPr>
          <a:xfrm>
            <a:off x="1280160" y="3444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입력</a:t>
            </a:r>
          </a:p>
        </p:txBody>
      </p:sp>
      <p:sp>
        <p:nvSpPr>
          <p:cNvPr id="28" name="Rounded Rectangle 27"/>
          <p:cNvSpPr/>
          <p:nvPr/>
        </p:nvSpPr>
        <p:spPr>
          <a:xfrm>
            <a:off x="2590800" y="3322320"/>
            <a:ext cx="4419600" cy="548640"/>
          </a:xfrm>
          <a:prstGeom prst="roundRect">
            <a:avLst>
              <a:gd name="adj" fmla="val 16666"/>
            </a:avLst>
          </a:prstGeom>
          <a:solidFill>
            <a:srgbClr val="FFFFFF"/>
          </a:solidFill>
          <a:ln>
            <a:noFill/>
          </a:ln>
          <a:effectLst/>
        </p:spPr>
        <p:txBody>
          <a:bodyPr rtlCol="0" anchor="ctr"/>
          <a:lstStyle/>
          <a:p>
            <a:pPr algn="ctr"/>
          </a:p>
        </p:txBody>
      </p:sp>
      <p:sp>
        <p:nvSpPr>
          <p:cNvPr id="29" name="body · 어느 파일 · 시트 · 기간을 쓰나"/>
          <p:cNvSpPr txBox="1"/>
          <p:nvPr/>
        </p:nvSpPr>
        <p:spPr>
          <a:xfrm>
            <a:off x="2727960" y="3467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어느 파일 · 시트 · 기간을 쓰나</a:t>
            </a:r>
          </a:p>
        </p:txBody>
      </p:sp>
      <p:sp>
        <p:nvSpPr>
          <p:cNvPr id="30" name="body · 엉뚱한 파일이나 옛 버전을 읽음"/>
          <p:cNvSpPr txBox="1"/>
          <p:nvPr/>
        </p:nvSpPr>
        <p:spPr>
          <a:xfrm>
            <a:off x="7193280" y="3467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엉뚱한 파일이나 옛 버전을 읽음</a:t>
            </a:r>
          </a:p>
        </p:txBody>
      </p:sp>
      <p:sp>
        <p:nvSpPr>
          <p:cNvPr id="31" name="Rounded Rectangle 30"/>
          <p:cNvSpPr/>
          <p:nvPr/>
        </p:nvSpPr>
        <p:spPr>
          <a:xfrm>
            <a:off x="609600" y="4008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2" name="Rounded Rectangle 31"/>
          <p:cNvSpPr/>
          <p:nvPr/>
        </p:nvSpPr>
        <p:spPr>
          <a:xfrm>
            <a:off x="762000" y="4160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3" name="Picture 32" descr="book-marked-FFFFFF.png"/>
          <p:cNvPicPr>
            <a:picLocks noChangeAspect="1"/>
          </p:cNvPicPr>
          <p:nvPr/>
        </p:nvPicPr>
        <p:blipFill>
          <a:blip r:embed="rId4"/>
          <a:srcRect/>
          <a:stretch>
            <a:fillRect/>
          </a:stretch>
        </p:blipFill>
        <p:spPr>
          <a:xfrm>
            <a:off x="857250" y="4255770"/>
            <a:ext cx="205740" cy="205740"/>
          </a:xfrm>
          <a:prstGeom prst="rect">
            <a:avLst/>
          </a:prstGeom>
        </p:spPr>
      </p:pic>
      <p:sp>
        <p:nvSpPr>
          <p:cNvPr id="34" name="body · 규칙"/>
          <p:cNvSpPr txBox="1"/>
          <p:nvPr/>
        </p:nvSpPr>
        <p:spPr>
          <a:xfrm>
            <a:off x="1280160" y="4206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규칙</a:t>
            </a:r>
          </a:p>
        </p:txBody>
      </p:sp>
      <p:sp>
        <p:nvSpPr>
          <p:cNvPr id="35" name="Rounded Rectangle 34"/>
          <p:cNvSpPr/>
          <p:nvPr/>
        </p:nvSpPr>
        <p:spPr>
          <a:xfrm>
            <a:off x="2590800" y="4084320"/>
            <a:ext cx="4419600" cy="548640"/>
          </a:xfrm>
          <a:prstGeom prst="roundRect">
            <a:avLst>
              <a:gd name="adj" fmla="val 16666"/>
            </a:avLst>
          </a:prstGeom>
          <a:solidFill>
            <a:srgbClr val="FFFFFF"/>
          </a:solidFill>
          <a:ln>
            <a:noFill/>
          </a:ln>
          <a:effectLst/>
        </p:spPr>
        <p:txBody>
          <a:bodyPr rtlCol="0" anchor="ctr"/>
          <a:lstStyle/>
          <a:p>
            <a:pPr algn="ctr"/>
          </a:p>
        </p:txBody>
      </p:sp>
      <p:sp>
        <p:nvSpPr>
          <p:cNvPr id="36" name="body · 어떻게 계산하고 예외는 어떻게 하나"/>
          <p:cNvSpPr txBox="1"/>
          <p:nvPr/>
        </p:nvSpPr>
        <p:spPr>
          <a:xfrm>
            <a:off x="2727960" y="4229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어떻게 계산하고 예외는 어떻게 하나</a:t>
            </a:r>
          </a:p>
        </p:txBody>
      </p:sp>
      <p:sp>
        <p:nvSpPr>
          <p:cNvPr id="37" name="body · AI가 기준을 짐작해서 계산"/>
          <p:cNvSpPr txBox="1"/>
          <p:nvPr/>
        </p:nvSpPr>
        <p:spPr>
          <a:xfrm>
            <a:off x="7193280" y="4229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AI가 기준을 짐작해서 계산</a:t>
            </a:r>
          </a:p>
        </p:txBody>
      </p:sp>
      <p:sp>
        <p:nvSpPr>
          <p:cNvPr id="38" name="Rounded Rectangle 37"/>
          <p:cNvSpPr/>
          <p:nvPr/>
        </p:nvSpPr>
        <p:spPr>
          <a:xfrm>
            <a:off x="609600" y="4770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9" name="Rounded Rectangle 38"/>
          <p:cNvSpPr/>
          <p:nvPr/>
        </p:nvSpPr>
        <p:spPr>
          <a:xfrm>
            <a:off x="762000" y="4922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0" name="Picture 39" descr="download-FFFFFF.png"/>
          <p:cNvPicPr>
            <a:picLocks noChangeAspect="1"/>
          </p:cNvPicPr>
          <p:nvPr/>
        </p:nvPicPr>
        <p:blipFill>
          <a:blip r:embed="rId5"/>
          <a:srcRect/>
          <a:stretch>
            <a:fillRect/>
          </a:stretch>
        </p:blipFill>
        <p:spPr>
          <a:xfrm>
            <a:off x="857250" y="5017770"/>
            <a:ext cx="205740" cy="205740"/>
          </a:xfrm>
          <a:prstGeom prst="rect">
            <a:avLst/>
          </a:prstGeom>
        </p:spPr>
      </p:pic>
      <p:sp>
        <p:nvSpPr>
          <p:cNvPr id="41" name="body · 출력"/>
          <p:cNvSpPr txBox="1"/>
          <p:nvPr/>
        </p:nvSpPr>
        <p:spPr>
          <a:xfrm>
            <a:off x="1280160" y="4968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출력</a:t>
            </a:r>
          </a:p>
        </p:txBody>
      </p:sp>
      <p:sp>
        <p:nvSpPr>
          <p:cNvPr id="42" name="Rounded Rectangle 41"/>
          <p:cNvSpPr/>
          <p:nvPr/>
        </p:nvSpPr>
        <p:spPr>
          <a:xfrm>
            <a:off x="2590800" y="4846320"/>
            <a:ext cx="4419600" cy="548640"/>
          </a:xfrm>
          <a:prstGeom prst="roundRect">
            <a:avLst>
              <a:gd name="adj" fmla="val 16666"/>
            </a:avLst>
          </a:prstGeom>
          <a:solidFill>
            <a:srgbClr val="FFFFFF"/>
          </a:solidFill>
          <a:ln>
            <a:noFill/>
          </a:ln>
          <a:effectLst/>
        </p:spPr>
        <p:txBody>
          <a:bodyPr rtlCol="0" anchor="ctr"/>
          <a:lstStyle/>
          <a:p>
            <a:pPr algn="ctr"/>
          </a:p>
        </p:txBody>
      </p:sp>
      <p:sp>
        <p:nvSpPr>
          <p:cNvPr id="43" name="body · 어떤 파일을 어떤 형식으로 어디에"/>
          <p:cNvSpPr txBox="1"/>
          <p:nvPr/>
        </p:nvSpPr>
        <p:spPr>
          <a:xfrm>
            <a:off x="2727960" y="4991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어떤 파일을 어떤 형식으로 어디에</a:t>
            </a:r>
          </a:p>
        </p:txBody>
      </p:sp>
      <p:sp>
        <p:nvSpPr>
          <p:cNvPr id="44" name="body · 다시 옮기고 고치는 일이 생김"/>
          <p:cNvSpPr txBox="1"/>
          <p:nvPr/>
        </p:nvSpPr>
        <p:spPr>
          <a:xfrm>
            <a:off x="7193280" y="4991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다시 옮기고 고치는 일이 생김</a:t>
            </a:r>
          </a:p>
        </p:txBody>
      </p:sp>
      <p:sp>
        <p:nvSpPr>
          <p:cNvPr id="45" name="Rounded Rectangle 44"/>
          <p:cNvSpPr/>
          <p:nvPr/>
        </p:nvSpPr>
        <p:spPr>
          <a:xfrm>
            <a:off x="609600" y="5532120"/>
            <a:ext cx="10972800" cy="701040"/>
          </a:xfrm>
          <a:prstGeom prst="roundRect">
            <a:avLst>
              <a:gd name="adj" fmla="val 17391"/>
            </a:avLst>
          </a:prstGeom>
          <a:solidFill>
            <a:srgbClr val="F3F7F3"/>
          </a:solidFill>
          <a:ln>
            <a:noFill/>
          </a:ln>
          <a:effectLst/>
        </p:spPr>
        <p:txBody>
          <a:bodyPr rtlCol="0" anchor="ctr"/>
          <a:lstStyle/>
          <a:p>
            <a:pPr algn="ctr"/>
          </a:p>
        </p:txBody>
      </p:sp>
      <p:sp>
        <p:nvSpPr>
          <p:cNvPr id="46" name="Rounded Rectangle 45"/>
          <p:cNvSpPr/>
          <p:nvPr/>
        </p:nvSpPr>
        <p:spPr>
          <a:xfrm>
            <a:off x="762000" y="5684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7" name="Picture 46" descr="search-check-FFFFFF.png"/>
          <p:cNvPicPr>
            <a:picLocks noChangeAspect="1"/>
          </p:cNvPicPr>
          <p:nvPr/>
        </p:nvPicPr>
        <p:blipFill>
          <a:blip r:embed="rId6"/>
          <a:srcRect/>
          <a:stretch>
            <a:fillRect/>
          </a:stretch>
        </p:blipFill>
        <p:spPr>
          <a:xfrm>
            <a:off x="857250" y="5779770"/>
            <a:ext cx="205740" cy="205740"/>
          </a:xfrm>
          <a:prstGeom prst="rect">
            <a:avLst/>
          </a:prstGeom>
        </p:spPr>
      </p:pic>
      <p:sp>
        <p:nvSpPr>
          <p:cNvPr id="48" name="body · 검수"/>
          <p:cNvSpPr txBox="1"/>
          <p:nvPr/>
        </p:nvSpPr>
        <p:spPr>
          <a:xfrm>
            <a:off x="1280160" y="5730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a:t>
            </a:r>
          </a:p>
        </p:txBody>
      </p:sp>
      <p:sp>
        <p:nvSpPr>
          <p:cNvPr id="49" name="Rounded Rectangle 48"/>
          <p:cNvSpPr/>
          <p:nvPr/>
        </p:nvSpPr>
        <p:spPr>
          <a:xfrm>
            <a:off x="2590800" y="5608320"/>
            <a:ext cx="4419600" cy="548640"/>
          </a:xfrm>
          <a:prstGeom prst="roundRect">
            <a:avLst>
              <a:gd name="adj" fmla="val 16666"/>
            </a:avLst>
          </a:prstGeom>
          <a:solidFill>
            <a:srgbClr val="FFFFFF"/>
          </a:solidFill>
          <a:ln>
            <a:noFill/>
          </a:ln>
          <a:effectLst/>
        </p:spPr>
        <p:txBody>
          <a:bodyPr rtlCol="0" anchor="ctr"/>
          <a:lstStyle/>
          <a:p>
            <a:pPr algn="ctr"/>
          </a:p>
        </p:txBody>
      </p:sp>
      <p:sp>
        <p:nvSpPr>
          <p:cNvPr id="50" name="body · 무엇이 맞으면 완료인가"/>
          <p:cNvSpPr txBox="1"/>
          <p:nvPr/>
        </p:nvSpPr>
        <p:spPr>
          <a:xfrm>
            <a:off x="2727960" y="5753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무엇이 맞으면 완료인가</a:t>
            </a:r>
          </a:p>
        </p:txBody>
      </p:sp>
      <p:sp>
        <p:nvSpPr>
          <p:cNvPr id="51" name="body · 틀려도 「다 됐다」로 끝남"/>
          <p:cNvSpPr txBox="1"/>
          <p:nvPr/>
        </p:nvSpPr>
        <p:spPr>
          <a:xfrm>
            <a:off x="7193280" y="5753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틀려도 「다 됐다」로 끝남</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a:t>
            </a:r>
          </a:p>
        </p:txBody>
      </p:sp>
      <p:sp>
        <p:nvSpPr>
          <p:cNvPr id="12" name="body · Definition of Done"/>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40792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10월 매장별 매출을 운영회의 보고용 한 장으로 정"/>
          <p:cNvSpPr txBox="1"/>
          <p:nvPr/>
        </p:nvSpPr>
        <p:spPr>
          <a:xfrm>
            <a:off x="2514600" y="240030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10월 매장별 매출을 운영회의 보고용 한 장으로 정리</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10896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입력자료의 A·B·C 매장 엑셀 3개와 05 상품 "/>
          <p:cNvSpPr txBox="1"/>
          <p:nvPr/>
        </p:nvSpPr>
        <p:spPr>
          <a:xfrm>
            <a:off x="2514600" y="310134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입력자료의 A·B·C 매장 엑셀 3개와 05 상품 기준표</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81000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06 처리규칙 순서로 검사 · 오류 행은 사유와 함"/>
          <p:cNvSpPr txBox="1"/>
          <p:nvPr/>
        </p:nvSpPr>
        <p:spPr>
          <a:xfrm>
            <a:off x="2514600" y="380238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06 처리규칙 순서로 검사 · 오류 행은 사유와 함께 따로</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51104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결과/요약.xlsx · 요약·통과행·오류목록 시트,"/>
          <p:cNvSpPr txBox="1"/>
          <p:nvPr/>
        </p:nvSpPr>
        <p:spPr>
          <a:xfrm>
            <a:off x="2514600" y="450342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결과/요약.xlsx · 요약·통과행·오류목록 시트, 합계는 수식</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21208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원본 150행 = 통과 + 제외 · 원본 파일은 그"/>
          <p:cNvSpPr txBox="1"/>
          <p:nvPr/>
        </p:nvSpPr>
        <p:spPr>
          <a:xfrm>
            <a:off x="2514600" y="520446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원본 150행 = 통과 + 제외 · 원본 파일은 그대로</a:t>
            </a:r>
          </a:p>
        </p:txBody>
      </p:sp>
      <p:sp>
        <p:nvSpPr>
          <p:cNvPr id="39" name="Rounded Rectangle 38"/>
          <p:cNvSpPr/>
          <p:nvPr/>
        </p:nvSpPr>
        <p:spPr>
          <a:xfrm>
            <a:off x="609600" y="6111240"/>
            <a:ext cx="50368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예시입니다. 내 업무에 맞게 다섯 칸의 내용만 바꿔"/>
          <p:cNvSpPr txBox="1"/>
          <p:nvPr/>
        </p:nvSpPr>
        <p:spPr>
          <a:xfrm>
            <a:off x="1082040" y="6216548"/>
            <a:ext cx="44577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예시입니다. 내 업무에 맞게 다섯 칸의 내용만 바꿔 쓰면 됩니다.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단계 · 컨텍스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2단계 · 컨텍스트</a:t>
            </a:r>
          </a:p>
        </p:txBody>
      </p:sp>
      <p:sp>
        <p:nvSpPr>
          <p:cNvPr id="8" name="subtitle · 다섯 단계 중 2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2번째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3" name="Picture 12" descr="database-9FCF94.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Context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Context Engineering</a:t>
            </a:r>
          </a:p>
        </p:txBody>
      </p:sp>
      <p:sp>
        <p:nvSpPr>
          <p:cNvPr id="28" name="body · 컨텍스트"/>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컨텍스트</a:t>
            </a:r>
          </a:p>
        </p:txBody>
      </p:sp>
      <p:sp>
        <p:nvSpPr>
          <p:cNvPr id="29" name="body · 이번 일에 맞는 자료를 골라 함께 주는 일입니다."/>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이번 일에 맞는 자료를 골라 함께 주는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모델은 우리 회사 규정과 지난달 매출을 모릅니다.&#10;"/>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모델은 우리 회사 규정과 지난달 매출을 모릅니다.</a:t>
            </a:r>
          </a:p>
          <a:p>
            <a:pPr algn="l">
              <a:lnSpc>
                <a:spcPts val="2070"/>
              </a:lnSpc>
              <a:spcBef>
                <a:spcPts val="0"/>
              </a:spcBef>
              <a:spcAft>
                <a:spcPts val="0"/>
              </a:spcAft>
            </a:pPr>
            <a:r>
              <a:rPr sz="1500" b="1">
                <a:solidFill>
                  <a:srgbClr val="1D4430"/>
                </a:solidFill>
                <a:latin typeface="Noto Sans KR"/>
                <a:ea typeface="Noto Sans KR"/>
                <a:cs typeface="Noto Sans KR"/>
              </a:rPr>
              <a:t>찾아서 붙여 줘야 압니다.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ter-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맞는 자료 고르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맞는 자료 고르기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ruler-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한 번에 보는 양(토큰)"/>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한 번에 보는 양(토큰)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search-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RAG: 찾아서 붙이기"/>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 찾아서 붙이기</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95400" y="1324051"/>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55620" y="1354150"/>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17820"/>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4155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8892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60933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827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8031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765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482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216548"/>
            <a:ext cx="4069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가 한 번에 볼 수 있는 양에는 한도가 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한 번에 볼 수 있는 양에는 한도가 있습니다</a:t>
            </a:r>
          </a:p>
        </p:txBody>
      </p:sp>
      <p:sp>
        <p:nvSpPr>
          <p:cNvPr id="8" name="subtitle · 컨텍스트 창 · 토큰은 AI가 글을 나누는 단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컨텍스트 창 · 토큰은 AI가 글을 나누는 단위 · 그래서 지시는 분명하게, 자료는 골라서 넣습니다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ruler-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번에 보는 양"/>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번에 보는 양</a:t>
            </a:r>
          </a:p>
        </p:txBody>
      </p:sp>
      <p:sp>
        <p:nvSpPr>
          <p:cNvPr id="13" name="body · 모델마다&#10;토큰 한도"/>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모델마다</a:t>
            </a:r>
          </a:p>
          <a:p>
            <a:pPr algn="l">
              <a:lnSpc>
                <a:spcPts val="2815"/>
              </a:lnSpc>
              <a:spcBef>
                <a:spcPts val="0"/>
              </a:spcBef>
              <a:spcAft>
                <a:spcPts val="0"/>
              </a:spcAft>
            </a:pPr>
            <a:r>
              <a:rPr sz="2039" b="1">
                <a:solidFill>
                  <a:srgbClr val="2F7048"/>
                </a:solidFill>
                <a:latin typeface="Noto Sans KR"/>
                <a:ea typeface="Noto Sans KR"/>
                <a:cs typeface="Noto Sans KR"/>
              </a:rPr>
              <a:t>토큰 한도</a:t>
            </a:r>
          </a:p>
        </p:txBody>
      </p:sp>
      <p:sp>
        <p:nvSpPr>
          <p:cNvPr id="14" name="body · Claude 최신 모델 100만, Codex&#10;기본 "/>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Claude 최신 모델 100만, Codex</a:t>
            </a:r>
          </a:p>
          <a:p>
            <a:pPr algn="l">
              <a:lnSpc>
                <a:spcPts val="1904"/>
              </a:lnSpc>
              <a:spcBef>
                <a:spcPts val="0"/>
              </a:spcBef>
              <a:spcAft>
                <a:spcPts val="0"/>
              </a:spcAft>
            </a:pPr>
            <a:r>
              <a:rPr sz="1380" b="0">
                <a:solidFill>
                  <a:srgbClr val="17221B"/>
                </a:solidFill>
                <a:latin typeface="Noto Sans KR"/>
                <a:ea typeface="Noto Sans KR"/>
                <a:cs typeface="Noto Sans KR"/>
              </a:rPr>
              <a:t>기본 27만 토큰(공식)</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filter-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골라 넣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골라 넣기</a:t>
            </a:r>
          </a:p>
        </p:txBody>
      </p:sp>
      <p:sp>
        <p:nvSpPr>
          <p:cNvPr id="20" name="body · 분명한 지시&#10;+ 맞는 자료만"/>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분명한 지시</a:t>
            </a:r>
          </a:p>
          <a:p>
            <a:pPr algn="l">
              <a:lnSpc>
                <a:spcPts val="2815"/>
              </a:lnSpc>
              <a:spcBef>
                <a:spcPts val="0"/>
              </a:spcBef>
              <a:spcAft>
                <a:spcPts val="0"/>
              </a:spcAft>
            </a:pPr>
            <a:r>
              <a:rPr sz="2039" b="1">
                <a:solidFill>
                  <a:srgbClr val="2F7048"/>
                </a:solidFill>
                <a:latin typeface="Noto Sans KR"/>
                <a:ea typeface="Noto Sans KR"/>
                <a:cs typeface="Noto Sans KR"/>
              </a:rPr>
              <a:t>+ 맞는 자료만</a:t>
            </a:r>
          </a:p>
        </p:txBody>
      </p:sp>
      <p:sp>
        <p:nvSpPr>
          <p:cNvPr id="21" name="body · 가득 채우면 앞 내용을 놓치기 쉽고&#10;비용도 늘어납니"/>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가득 채우면 앞 내용을 놓치기 쉽고</a:t>
            </a:r>
          </a:p>
          <a:p>
            <a:pPr algn="l">
              <a:lnSpc>
                <a:spcPts val="1904"/>
              </a:lnSpc>
              <a:spcBef>
                <a:spcPts val="0"/>
              </a:spcBef>
              <a:spcAft>
                <a:spcPts val="0"/>
              </a:spcAft>
            </a:pPr>
            <a:r>
              <a:rPr sz="1380" b="0">
                <a:solidFill>
                  <a:srgbClr val="17221B"/>
                </a:solidFill>
                <a:latin typeface="Noto Sans KR"/>
                <a:ea typeface="Noto Sans KR"/>
                <a:cs typeface="Noto Sans KR"/>
              </a:rPr>
              <a:t>비용도 늘어납니다.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earch-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RAG 파이프라인"/>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RAG 파이프라인</a:t>
            </a:r>
          </a:p>
        </p:txBody>
      </p:sp>
      <p:sp>
        <p:nvSpPr>
          <p:cNvPr id="27" name="body · 찾기 → 붙이기&#10;→ 답하기를&#10;자동으로 잇기"/>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찾기 → 붙이기</a:t>
            </a:r>
          </a:p>
          <a:p>
            <a:pPr algn="l">
              <a:lnSpc>
                <a:spcPts val="2815"/>
              </a:lnSpc>
              <a:spcBef>
                <a:spcPts val="0"/>
              </a:spcBef>
              <a:spcAft>
                <a:spcPts val="0"/>
              </a:spcAft>
            </a:pPr>
            <a:r>
              <a:rPr sz="2039" b="1">
                <a:solidFill>
                  <a:srgbClr val="FFFFFF"/>
                </a:solidFill>
                <a:latin typeface="Noto Sans KR"/>
                <a:ea typeface="Noto Sans KR"/>
                <a:cs typeface="Noto Sans KR"/>
              </a:rPr>
              <a:t>→ 답하기를</a:t>
            </a:r>
          </a:p>
          <a:p>
            <a:pPr algn="l">
              <a:lnSpc>
                <a:spcPts val="2815"/>
              </a:lnSpc>
              <a:spcBef>
                <a:spcPts val="0"/>
              </a:spcBef>
              <a:spcAft>
                <a:spcPts val="0"/>
              </a:spcAft>
            </a:pPr>
            <a:r>
              <a:rPr sz="2039" b="1">
                <a:solidFill>
                  <a:srgbClr val="FFFFFF"/>
                </a:solidFill>
                <a:latin typeface="Noto Sans KR"/>
                <a:ea typeface="Noto Sans KR"/>
                <a:cs typeface="Noto Sans KR"/>
              </a:rPr>
              <a:t>자동으로 잇기</a:t>
            </a:r>
          </a:p>
        </p:txBody>
      </p:sp>
      <p:sp>
        <p:nvSpPr>
          <p:cNvPr id="28" name="body · 회사 문서함을 MCP로 연결하면 같은&#10;일이 됩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 문서함을 MCP로 연결하면 같은</a:t>
            </a:r>
          </a:p>
          <a:p>
            <a:pPr algn="l">
              <a:lnSpc>
                <a:spcPts val="1904"/>
              </a:lnSpc>
              <a:spcBef>
                <a:spcPts val="0"/>
              </a:spcBef>
              <a:spcAft>
                <a:spcPts val="0"/>
              </a:spcAft>
            </a:pPr>
            <a:r>
              <a:rPr sz="1380" b="0">
                <a:solidFill>
                  <a:srgbClr val="E4EFE6"/>
                </a:solidFill>
                <a:latin typeface="Noto Sans KR"/>
                <a:ea typeface="Noto Sans KR"/>
                <a:cs typeface="Noto Sans KR"/>
              </a:rPr>
              <a:t>일이 됩니다.</a:t>
            </a:r>
          </a:p>
        </p:txBody>
      </p:sp>
      <p:sp>
        <p:nvSpPr>
          <p:cNvPr id="29" name="Rounded Rectangle 28"/>
          <p:cNvSpPr/>
          <p:nvPr/>
        </p:nvSpPr>
        <p:spPr>
          <a:xfrm>
            <a:off x="609600" y="6111240"/>
            <a:ext cx="48234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좋은 컨텍스트 = 이번 일에 필요한 최신 자료만, "/>
          <p:cNvSpPr txBox="1"/>
          <p:nvPr/>
        </p:nvSpPr>
        <p:spPr>
          <a:xfrm>
            <a:off x="1082040" y="6216548"/>
            <a:ext cx="4244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컨텍스트 = 이번 일에 필요한 최신 자료만, 출처와 함께.</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검색 증강 생성), 답하기 전에 우리 문서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RAG(검색 증강 생성), 답하기 전에 우리 문서를 찾아 붙입니다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색 증강 생성"/>
          <p:cNvSpPr txBox="1"/>
          <p:nvPr/>
        </p:nvSpPr>
        <p:spPr>
          <a:xfrm>
            <a:off x="1295400" y="1324051"/>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검색 증강 생성</a:t>
            </a:r>
          </a:p>
        </p:txBody>
      </p:sp>
      <p:sp>
        <p:nvSpPr>
          <p:cNvPr id="12" name="body · Retrieval-Augmented Generati"/>
          <p:cNvSpPr txBox="1"/>
          <p:nvPr/>
        </p:nvSpPr>
        <p:spPr>
          <a:xfrm>
            <a:off x="2590800" y="1354150"/>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RAG</a:t>
            </a:r>
          </a:p>
        </p:txBody>
      </p:sp>
      <p:sp>
        <p:nvSpPr>
          <p:cNvPr id="13" name="body · 검색(R)으로 근거를 찾고, 질문에 덧붙여 보강(증"/>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검색(R)으로 근거를 찾고, 질문에 덧붙여 보강(증강, A)한 뒤, 그 근거로 답을 생성(G)합니다</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AI가 외워 둔 지식으로는 모르는&#10;우리 일"/>
          <p:cNvSpPr txBox="1"/>
          <p:nvPr/>
        </p:nvSpPr>
        <p:spPr>
          <a:xfrm>
            <a:off x="76200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AI가 외워 둔 지식으로는 모르는</a:t>
            </a:r>
          </a:p>
          <a:p>
            <a:pPr algn="l">
              <a:lnSpc>
                <a:spcPts val="1573"/>
              </a:lnSpc>
              <a:spcBef>
                <a:spcPts val="0"/>
              </a:spcBef>
              <a:spcAft>
                <a:spcPts val="0"/>
              </a:spcAft>
            </a:pPr>
            <a:r>
              <a:rPr sz="1140" b="0">
                <a:solidFill>
                  <a:srgbClr val="5E6B62"/>
                </a:solidFill>
                <a:latin typeface="Noto Sans KR"/>
                <a:ea typeface="Noto Sans KR"/>
                <a:cs typeface="Noto Sans KR"/>
              </a:rPr>
              <a:t>우리 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검색"/>
          <p:cNvSpPr txBox="1"/>
          <p:nvPr/>
        </p:nvSpPr>
        <p:spPr>
          <a:xfrm>
            <a:off x="411480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a:t>
            </a:r>
          </a:p>
        </p:txBody>
      </p:sp>
      <p:sp>
        <p:nvSpPr>
          <p:cNvPr id="25" name="body · 문서함에서 운영안 v3를&#10;찾음"/>
          <p:cNvSpPr txBox="1"/>
          <p:nvPr/>
        </p:nvSpPr>
        <p:spPr>
          <a:xfrm>
            <a:off x="359664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문서함에서 운영안 v3를</a:t>
            </a:r>
          </a:p>
          <a:p>
            <a:pPr algn="l">
              <a:lnSpc>
                <a:spcPts val="2152"/>
              </a:lnSpc>
              <a:spcBef>
                <a:spcPts val="0"/>
              </a:spcBef>
              <a:spcAft>
                <a:spcPts val="0"/>
              </a:spcAft>
            </a:pPr>
            <a:r>
              <a:rPr sz="1560" b="1">
                <a:solidFill>
                  <a:srgbClr val="2F7048"/>
                </a:solidFill>
                <a:latin typeface="Noto Sans KR"/>
                <a:ea typeface="Noto Sans KR"/>
                <a:cs typeface="Noto Sans KR"/>
              </a:rPr>
              <a:t>찾음</a:t>
            </a:r>
          </a:p>
        </p:txBody>
      </p:sp>
      <p:sp>
        <p:nvSpPr>
          <p:cNvPr id="26" name="body · 승인된 폴더·문서함에서만"/>
          <p:cNvSpPr txBox="1"/>
          <p:nvPr/>
        </p:nvSpPr>
        <p:spPr>
          <a:xfrm>
            <a:off x="359664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증강"/>
          <p:cNvSpPr txBox="1"/>
          <p:nvPr/>
        </p:nvSpPr>
        <p:spPr>
          <a:xfrm>
            <a:off x="694944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a:t>
            </a:r>
          </a:p>
        </p:txBody>
      </p:sp>
      <p:sp>
        <p:nvSpPr>
          <p:cNvPr id="32" name="body · 「신청 마감 9월 8일」을&#10;질문에 덧붙임"/>
          <p:cNvSpPr txBox="1"/>
          <p:nvPr/>
        </p:nvSpPr>
        <p:spPr>
          <a:xfrm>
            <a:off x="643128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 8일」을</a:t>
            </a:r>
          </a:p>
          <a:p>
            <a:pPr algn="l">
              <a:lnSpc>
                <a:spcPts val="2152"/>
              </a:lnSpc>
              <a:spcBef>
                <a:spcPts val="0"/>
              </a:spcBef>
              <a:spcAft>
                <a:spcPts val="0"/>
              </a:spcAft>
            </a:pPr>
            <a:r>
              <a:rPr sz="1560" b="1">
                <a:solidFill>
                  <a:srgbClr val="2F7048"/>
                </a:solidFill>
                <a:latin typeface="Noto Sans KR"/>
                <a:ea typeface="Noto Sans KR"/>
                <a:cs typeface="Noto Sans KR"/>
              </a:rPr>
              <a:t>질문에 덧붙임</a:t>
            </a:r>
          </a:p>
        </p:txBody>
      </p:sp>
      <p:sp>
        <p:nvSpPr>
          <p:cNvPr id="33" name="body · 찾은 근거로 질문을 보강합니다"/>
          <p:cNvSpPr txBox="1"/>
          <p:nvPr/>
        </p:nvSpPr>
        <p:spPr>
          <a:xfrm>
            <a:off x="643128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근거로 질문을 보강합니다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생성"/>
          <p:cNvSpPr txBox="1"/>
          <p:nvPr/>
        </p:nvSpPr>
        <p:spPr>
          <a:xfrm>
            <a:off x="978408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생성</a:t>
            </a:r>
          </a:p>
        </p:txBody>
      </p:sp>
      <p:sp>
        <p:nvSpPr>
          <p:cNvPr id="39" name="body · “9월 8일입니다(운영안&#10;v3, 3쪽)”"/>
          <p:cNvSpPr txBox="1"/>
          <p:nvPr/>
        </p:nvSpPr>
        <p:spPr>
          <a:xfrm>
            <a:off x="926592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검색 · Retrieval"/>
          <p:cNvSpPr txBox="1"/>
          <p:nvPr/>
        </p:nvSpPr>
        <p:spPr>
          <a:xfrm>
            <a:off x="124968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증강 · Augmented"/>
          <p:cNvSpPr txBox="1"/>
          <p:nvPr/>
        </p:nvSpPr>
        <p:spPr>
          <a:xfrm>
            <a:off x="495300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생성 · Generation"/>
          <p:cNvSpPr txBox="1"/>
          <p:nvPr/>
        </p:nvSpPr>
        <p:spPr>
          <a:xfrm>
            <a:off x="865632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생성 · Generation</a:t>
            </a:r>
          </a:p>
        </p:txBody>
      </p:sp>
      <p:sp>
        <p:nvSpPr>
          <p:cNvPr id="53" name="caption · 가상 예시 · 「증강」은 찾은 근거를 질문에 덧붙여"/>
          <p:cNvSpPr txBox="1"/>
          <p:nvPr/>
        </p:nvSpPr>
        <p:spPr>
          <a:xfrm>
            <a:off x="609600" y="5547360"/>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「증강」은 찾은 근거를 질문에 덧붙여 보강한다는 뜻입니다. 오픈북 시험처럼 펴 놓은 문서를 보고 답합니다.</a:t>
            </a:r>
          </a:p>
        </p:txBody>
      </p:sp>
      <p:sp>
        <p:nvSpPr>
          <p:cNvPr id="54" name="Rounded Rectangle 53"/>
          <p:cNvSpPr/>
          <p:nvPr/>
        </p:nvSpPr>
        <p:spPr>
          <a:xfrm>
            <a:off x="609600" y="6111240"/>
            <a:ext cx="706374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덧붙인 근거만 달라졌습니다. 같은"/>
          <p:cNvSpPr txBox="1"/>
          <p:nvPr/>
        </p:nvSpPr>
        <p:spPr>
          <a:xfrm>
            <a:off x="1082040" y="6216548"/>
            <a:ext cx="6484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덧붙인 근거만 달라졌습니다. 같은 질문도 근거를 붙이면 답이 정확해집니다.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 · RAG는 AI에게 오픈북 시험을 보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1분 영상 · RAG는 AI에게 오픈북 시험을 보게 하는 방법입니다</a:t>
            </a:r>
          </a:p>
        </p:txBody>
      </p:sp>
      <p:sp>
        <p:nvSpPr>
          <p:cNvPr id="8" name="subtitle · 한국어 쇼츠 · 검색 증강 생성을 비유 하나로 정리"/>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 검색 증강 생성을 비유 하나로 정리합니다</a:t>
            </a:r>
          </a:p>
        </p:txBody>
      </p:sp>
      <p:sp>
        <p:nvSpPr>
          <p:cNvPr id="9" name="Rounded Rectangle 8"/>
          <p:cNvSpPr/>
          <p:nvPr/>
        </p:nvSpPr>
        <p:spPr>
          <a:xfrm>
            <a:off x="40386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Gm0VmDJNBAU.jpg"/>
          <p:cNvPicPr>
            <a:picLocks noChangeAspect="1"/>
          </p:cNvPicPr>
          <p:nvPr/>
        </p:nvPicPr>
        <p:blipFill>
          <a:blip r:embed="rId2"/>
          <a:srcRect/>
          <a:stretch>
            <a:fillRect/>
          </a:stretch>
        </p:blipFill>
        <p:spPr>
          <a:xfrm>
            <a:off x="4038600" y="1965960"/>
            <a:ext cx="4114800" cy="2314575"/>
          </a:xfrm>
          <a:prstGeom prst="rect">
            <a:avLst/>
          </a:prstGeom>
        </p:spPr>
      </p:pic>
      <p:sp>
        <p:nvSpPr>
          <p:cNvPr id="11" name="Rounded Rectangle 10"/>
          <p:cNvSpPr/>
          <p:nvPr/>
        </p:nvSpPr>
        <p:spPr>
          <a:xfrm>
            <a:off x="57912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58293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5989320" y="2993707"/>
            <a:ext cx="259080" cy="259080"/>
          </a:xfrm>
          <a:prstGeom prst="rect">
            <a:avLst/>
          </a:prstGeom>
        </p:spPr>
      </p:pic>
      <p:sp>
        <p:nvSpPr>
          <p:cNvPr id="14" name="Rounded Rectangle 13"/>
          <p:cNvSpPr/>
          <p:nvPr/>
        </p:nvSpPr>
        <p:spPr>
          <a:xfrm>
            <a:off x="41452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4221480" y="3990974"/>
            <a:ext cx="137160" cy="137160"/>
          </a:xfrm>
          <a:prstGeom prst="rect">
            <a:avLst/>
          </a:prstGeom>
        </p:spPr>
      </p:pic>
      <p:sp>
        <p:nvSpPr>
          <p:cNvPr id="16" name="label · 1:07"/>
          <p:cNvSpPr txBox="1"/>
          <p:nvPr/>
        </p:nvSpPr>
        <p:spPr>
          <a:xfrm>
            <a:off x="44043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1:07</a:t>
            </a:r>
          </a:p>
        </p:txBody>
      </p:sp>
      <p:sp>
        <p:nvSpPr>
          <p:cNvPr id="17" name="Rounded Rectangle 16"/>
          <p:cNvSpPr/>
          <p:nvPr/>
        </p:nvSpPr>
        <p:spPr>
          <a:xfrm>
            <a:off x="6576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6576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RAG: AI한테 오픈북 시험을 보게 하는 법"/>
          <p:cNvSpPr txBox="1"/>
          <p:nvPr/>
        </p:nvSpPr>
        <p:spPr>
          <a:xfrm>
            <a:off x="40386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RAG: AI한테 오픈북 시험을 보게 하는 법</a:t>
            </a:r>
          </a:p>
        </p:txBody>
      </p:sp>
      <p:sp>
        <p:nvSpPr>
          <p:cNvPr id="20" name="caption · 로빈테크(RobinTech) · 2026.10"/>
          <p:cNvSpPr txBox="1"/>
          <p:nvPr/>
        </p:nvSpPr>
        <p:spPr>
          <a:xfrm>
            <a:off x="40386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로빈테크(RobinTech) · 2026.10</a:t>
            </a:r>
          </a:p>
        </p:txBody>
      </p:sp>
      <p:pic>
        <p:nvPicPr>
          <p:cNvPr id="21" name="Picture 20" descr="eye-2F7048.png"/>
          <p:cNvPicPr>
            <a:picLocks noChangeAspect="1"/>
          </p:cNvPicPr>
          <p:nvPr/>
        </p:nvPicPr>
        <p:blipFill>
          <a:blip r:embed="rId5"/>
          <a:srcRect/>
          <a:stretch>
            <a:fillRect/>
          </a:stretch>
        </p:blipFill>
        <p:spPr>
          <a:xfrm>
            <a:off x="4038600" y="5225415"/>
            <a:ext cx="182880" cy="182880"/>
          </a:xfrm>
          <a:prstGeom prst="rect">
            <a:avLst/>
          </a:prstGeom>
        </p:spPr>
      </p:pic>
      <p:sp>
        <p:nvSpPr>
          <p:cNvPr id="22" name="body · 질문이 올 때마다 문서를 찾아 AI 앞에 펴 주고,"/>
          <p:cNvSpPr txBox="1"/>
          <p:nvPr/>
        </p:nvSpPr>
        <p:spPr>
          <a:xfrm>
            <a:off x="42976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질문이 올 때마다 문서를 찾아 AI 앞에 펴 주고, 그걸 보며</a:t>
            </a:r>
          </a:p>
          <a:p>
            <a:pPr algn="l">
              <a:lnSpc>
                <a:spcPts val="1738"/>
              </a:lnSpc>
              <a:spcBef>
                <a:spcPts val="0"/>
              </a:spcBef>
              <a:spcAft>
                <a:spcPts val="0"/>
              </a:spcAft>
            </a:pPr>
            <a:r>
              <a:rPr sz="1260" b="0">
                <a:solidFill>
                  <a:srgbClr val="17221B"/>
                </a:solidFill>
                <a:latin typeface="Noto Sans KR"/>
                <a:ea typeface="Noto Sans KR"/>
                <a:cs typeface="Noto Sans KR"/>
              </a:rPr>
              <a:t>답하게 하는 과정</a:t>
            </a:r>
          </a:p>
        </p:txBody>
      </p:sp>
      <p:sp>
        <p:nvSpPr>
          <p:cNvPr id="23" name="caption · "/>
          <p:cNvSpPr txBox="1"/>
          <p:nvPr/>
        </p:nvSpPr>
        <p:spPr>
          <a:xfrm>
            <a:off x="40386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3단계 · 하네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3단계 · 하네스</a:t>
            </a:r>
          </a:p>
        </p:txBody>
      </p:sp>
      <p:sp>
        <p:nvSpPr>
          <p:cNvPr id="8" name="subtitle · 다섯 단계 중 3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3번째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6" name="Picture 15" descr="shield-9FCF94.png"/>
          <p:cNvPicPr>
            <a:picLocks noChangeAspect="1"/>
          </p:cNvPicPr>
          <p:nvPr/>
        </p:nvPicPr>
        <p:blipFill>
          <a:blip r:embed="rId3"/>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4"/>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5"/>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shield-FFFFFF.png"/>
          <p:cNvPicPr>
            <a:picLocks noChangeAspect="1"/>
          </p:cNvPicPr>
          <p:nvPr/>
        </p:nvPicPr>
        <p:blipFill>
          <a:blip r:embed="rId6"/>
          <a:srcRect/>
          <a:stretch>
            <a:fillRect/>
          </a:stretch>
        </p:blipFill>
        <p:spPr>
          <a:xfrm>
            <a:off x="1005840" y="3063240"/>
            <a:ext cx="335280" cy="335280"/>
          </a:xfrm>
          <a:prstGeom prst="rect">
            <a:avLst/>
          </a:prstGeom>
        </p:spPr>
      </p:pic>
      <p:sp>
        <p:nvSpPr>
          <p:cNvPr id="27" name="label · Harness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Harness Engineering</a:t>
            </a:r>
          </a:p>
        </p:txBody>
      </p:sp>
      <p:sp>
        <p:nvSpPr>
          <p:cNvPr id="28" name="body · 하네스"/>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하네스</a:t>
            </a:r>
          </a:p>
        </p:txBody>
      </p:sp>
      <p:sp>
        <p:nvSpPr>
          <p:cNvPr id="29" name="body · AI가 일하는 환경, 곧 규칙·도구·권한·기록을 갖"/>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AI가 일하는 환경, 곧 규칙·도구·권한·기록을 갖추는</a:t>
            </a:r>
          </a:p>
          <a:p>
            <a:pPr algn="l">
              <a:lnSpc>
                <a:spcPts val="2070"/>
              </a:lnSpc>
              <a:spcBef>
                <a:spcPts val="0"/>
              </a:spcBef>
              <a:spcAft>
                <a:spcPts val="0"/>
              </a:spcAft>
            </a:pPr>
            <a:r>
              <a:rPr sz="1500" b="0">
                <a:solidFill>
                  <a:srgbClr val="1D4430"/>
                </a:solidFill>
                <a:latin typeface="Noto Sans KR"/>
                <a:ea typeface="Noto Sans KR"/>
                <a:cs typeface="Noto Sans KR"/>
              </a:rPr>
              <a:t>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원본은 고치지 말 것」을 매번 말하지 않고&#10;파일에"/>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「원본은 고치지 말 것」을 매번 말하지 않고</a:t>
            </a:r>
          </a:p>
          <a:p>
            <a:pPr algn="l">
              <a:lnSpc>
                <a:spcPts val="2070"/>
              </a:lnSpc>
              <a:spcBef>
                <a:spcPts val="0"/>
              </a:spcBef>
              <a:spcAft>
                <a:spcPts val="0"/>
              </a:spcAft>
            </a:pPr>
            <a:r>
              <a:rPr sz="1500" b="1">
                <a:solidFill>
                  <a:srgbClr val="1D4430"/>
                </a:solidFill>
                <a:latin typeface="Noto Sans KR"/>
                <a:ea typeface="Noto Sans KR"/>
                <a:cs typeface="Noto Sans KR"/>
              </a:rPr>
              <a:t>파일에 한 번 적어 둡니다.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e-text-FFFFFF.png"/>
          <p:cNvPicPr>
            <a:picLocks noChangeAspect="1"/>
          </p:cNvPicPr>
          <p:nvPr/>
        </p:nvPicPr>
        <p:blipFill>
          <a:blip r:embed="rId7"/>
          <a:srcRect/>
          <a:stretch>
            <a:fillRect/>
          </a:stretch>
        </p:blipFill>
        <p:spPr>
          <a:xfrm>
            <a:off x="849630" y="5253990"/>
            <a:ext cx="220980" cy="220980"/>
          </a:xfrm>
          <a:prstGeom prst="rect">
            <a:avLst/>
          </a:prstGeom>
        </p:spPr>
      </p:pic>
      <p:sp>
        <p:nvSpPr>
          <p:cNvPr id="37" name="body · AGENTS.md 규칙 파일"/>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AGENTS.md 규칙 파일</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shield-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규칙 · 권한 · 기록"/>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규칙 · 권한 · 기록</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시연: 있을 때와 없을 때"/>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시연: 있을 때와 없을 때</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95400" y="1324051"/>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12" name="body · Custom Instructions"/>
          <p:cNvSpPr txBox="1"/>
          <p:nvPr/>
        </p:nvSpPr>
        <p:spPr>
          <a:xfrm>
            <a:off x="2385060" y="1354150"/>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30240"/>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8788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 한 번 적어&#10;두기 · Claude"/>
          <p:cNvSpPr txBox="1"/>
          <p:nvPr/>
        </p:nvSpPr>
        <p:spPr>
          <a:xfrm>
            <a:off x="9381947" y="237744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 한 번 적어</a:t>
            </a:r>
          </a:p>
          <a:p>
            <a:pPr algn="l">
              <a:lnSpc>
                <a:spcPts val="1738"/>
              </a:lnSpc>
              <a:spcBef>
                <a:spcPts val="0"/>
              </a:spcBef>
              <a:spcAft>
                <a:spcPts val="0"/>
              </a:spcAft>
            </a:pPr>
            <a:r>
              <a:rPr sz="1260" b="0">
                <a:solidFill>
                  <a:srgbClr val="17221B"/>
                </a:solidFill>
                <a:latin typeface="Noto Sans KR"/>
                <a:ea typeface="Noto Sans KR"/>
                <a:cs typeface="Noto Sans KR"/>
              </a:rPr>
              <a:t>두기 · Claude는 프로젝트</a:t>
            </a:r>
          </a:p>
          <a:p>
            <a:pPr algn="l">
              <a:lnSpc>
                <a:spcPts val="1738"/>
              </a:lnSpc>
              <a:spcBef>
                <a:spcPts val="0"/>
              </a:spcBef>
              <a:spcAft>
                <a:spcPts val="0"/>
              </a:spcAft>
            </a:pPr>
            <a:r>
              <a:rPr sz="1260" b="0">
                <a:solidFill>
                  <a:srgbClr val="17221B"/>
                </a:solidFill>
                <a:latin typeface="Noto Sans KR"/>
                <a:ea typeface="Noto Sans KR"/>
                <a:cs typeface="Noto Sans KR"/>
              </a:rPr>
              <a:t>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3756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2712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8724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 공용&#10;폴더에 두고 바꾸면 버전·"/>
          <p:cNvSpPr txBox="1"/>
          <p:nvPr/>
        </p:nvSpPr>
        <p:spPr>
          <a:xfrm>
            <a:off x="9381947" y="487680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 공용</a:t>
            </a:r>
          </a:p>
          <a:p>
            <a:pPr algn="l">
              <a:lnSpc>
                <a:spcPts val="1738"/>
              </a:lnSpc>
              <a:spcBef>
                <a:spcPts val="0"/>
              </a:spcBef>
              <a:spcAft>
                <a:spcPts val="0"/>
              </a:spcAft>
            </a:pPr>
            <a:r>
              <a:rPr sz="1260" b="0">
                <a:solidFill>
                  <a:srgbClr val="17221B"/>
                </a:solidFill>
                <a:latin typeface="Noto Sans KR"/>
                <a:ea typeface="Noto Sans KR"/>
                <a:cs typeface="Noto Sans KR"/>
              </a:rPr>
              <a:t>폴더에 두고 바꾸면 버전·날짜</a:t>
            </a:r>
          </a:p>
          <a:p>
            <a:pPr algn="l">
              <a:lnSpc>
                <a:spcPts val="1738"/>
              </a:lnSpc>
              <a:spcBef>
                <a:spcPts val="0"/>
              </a:spcBef>
              <a:spcAft>
                <a:spcPts val="0"/>
              </a:spcAft>
            </a:pPr>
            <a:r>
              <a:rPr sz="1260" b="0">
                <a:solidFill>
                  <a:srgbClr val="17221B"/>
                </a:solidFill>
                <a:latin typeface="Noto Sans KR"/>
                <a:ea typeface="Noto Sans KR"/>
                <a:cs typeface="Noto Sans KR"/>
              </a:rPr>
              <a:t>기록</a:t>
            </a:r>
          </a:p>
        </p:txBody>
      </p:sp>
      <p:sp>
        <p:nvSpPr>
          <p:cNvPr id="33" name="Rounded Rectangle 32"/>
          <p:cNvSpPr/>
          <p:nvPr/>
        </p:nvSpPr>
        <p:spPr>
          <a:xfrm>
            <a:off x="609600" y="6111240"/>
            <a:ext cx="562356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216548"/>
            <a:ext cx="50444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95400" y="1366113"/>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87980" y="1396212"/>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7200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225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273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321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216548"/>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55819"/>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2417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 관리 ·</a:t>
            </a:r>
          </a:p>
          <a:p>
            <a:pPr algn="l">
              <a:lnSpc>
                <a:spcPts val="1987"/>
              </a:lnSpc>
              <a:spcBef>
                <a:spcPts val="0"/>
              </a:spcBef>
              <a:spcAft>
                <a:spcPts val="0"/>
              </a:spcAft>
            </a:pPr>
            <a:r>
              <a:rPr sz="1439" b="0">
                <a:solidFill>
                  <a:srgbClr val="17221B"/>
                </a:solidFill>
                <a:latin typeface="Noto Sans KR"/>
                <a:ea typeface="Noto Sans KR"/>
                <a:cs typeface="Noto Sans KR"/>
              </a:rPr>
              <a:t>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 CLAUDE.m"/>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 CLAUDE.md는</a:t>
            </a:r>
          </a:p>
          <a:p>
            <a:pPr algn="l">
              <a:lnSpc>
                <a:spcPts val="1987"/>
              </a:lnSpc>
              <a:spcBef>
                <a:spcPts val="0"/>
              </a:spcBef>
              <a:spcAft>
                <a:spcPts val="0"/>
              </a:spcAft>
            </a:pPr>
            <a:r>
              <a:rPr sz="1439" b="0">
                <a:solidFill>
                  <a:srgbClr val="17221B"/>
                </a:solidFill>
                <a:latin typeface="Noto Sans KR"/>
                <a:ea typeface="Noto Sans KR"/>
                <a:cs typeface="Noto Sans KR"/>
              </a:rPr>
              <a:t>두지 않습니다.</a:t>
            </a:r>
          </a:p>
        </p:txBody>
      </p:sp>
      <p:sp>
        <p:nvSpPr>
          <p:cNvPr id="40" name="Rounded Rectangle 39"/>
          <p:cNvSpPr/>
          <p:nvPr/>
        </p:nvSpPr>
        <p:spPr>
          <a:xfrm>
            <a:off x="609600" y="6111240"/>
            <a:ext cx="7399020"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216548"/>
            <a:ext cx="6819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선택 시연(예시) · 같은 부탁을 AGENTS.md"/>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선택 시연(예시) · 같은 부탁을 AGENTS.md 없이, 있게 보냅니다</a:t>
            </a:r>
          </a:p>
        </p:txBody>
      </p:sp>
      <p:sp>
        <p:nvSpPr>
          <p:cNvPr id="8" name="subtitle · 필수 시연이 아닙니다 · 시간이 없으면 다음 장의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필수 시연이 아닙니다 · 시간이 없으면 다음 장의 실제 결과 예시로 설명합니다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시연키트_하네스 폴더를 열고 부탁&#10;①「행사메모로 조"/>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시연키트_하네스 폴더를 열고 부탁</a:t>
            </a:r>
          </a:p>
          <a:p>
            <a:pPr algn="l">
              <a:lnSpc>
                <a:spcPts val="2235"/>
              </a:lnSpc>
              <a:spcBef>
                <a:spcPts val="0"/>
              </a:spcBef>
              <a:spcAft>
                <a:spcPts val="0"/>
              </a:spcAft>
            </a:pPr>
            <a:r>
              <a:rPr sz="1620" b="0">
                <a:solidFill>
                  <a:srgbClr val="17221B"/>
                </a:solidFill>
                <a:latin typeface="Noto Sans KR"/>
                <a:ea typeface="Noto Sans KR"/>
                <a:cs typeface="Noto Sans KR"/>
              </a:rPr>
              <a:t>①「행사메모로 조합원 공지문을 만들어</a:t>
            </a:r>
          </a:p>
          <a:p>
            <a:pPr algn="l">
              <a:lnSpc>
                <a:spcPts val="2235"/>
              </a:lnSpc>
              <a:spcBef>
                <a:spcPts val="0"/>
              </a:spcBef>
              <a:spcAft>
                <a:spcPts val="0"/>
              </a:spcAft>
            </a:pPr>
            <a:r>
              <a:rPr sz="1620" b="0">
                <a:solidFill>
                  <a:srgbClr val="17221B"/>
                </a:solidFill>
                <a:latin typeface="Noto Sans KR"/>
                <a:ea typeface="Noto Sans KR"/>
                <a:cs typeface="Noto Sans KR"/>
              </a:rPr>
              <a:t>줘」를 보냅니다.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오른쪽 요청문으로 AGENTS.md를&#10;만들고, 새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오른쪽 요청문으로 AGENTS.md를</a:t>
            </a:r>
          </a:p>
          <a:p>
            <a:pPr algn="l">
              <a:lnSpc>
                <a:spcPts val="2235"/>
              </a:lnSpc>
              <a:spcBef>
                <a:spcPts val="0"/>
              </a:spcBef>
              <a:spcAft>
                <a:spcPts val="0"/>
              </a:spcAft>
            </a:pPr>
            <a:r>
              <a:rPr sz="1620" b="0">
                <a:solidFill>
                  <a:srgbClr val="17221B"/>
                </a:solidFill>
                <a:latin typeface="Noto Sans KR"/>
                <a:ea typeface="Noto Sans KR"/>
                <a:cs typeface="Noto Sans KR"/>
              </a:rPr>
              <a:t>만들고, 새 대화에서 부탁 ①을 똑같이</a:t>
            </a:r>
          </a:p>
          <a:p>
            <a:pPr algn="l">
              <a:lnSpc>
                <a:spcPts val="2235"/>
              </a:lnSpc>
              <a:spcBef>
                <a:spcPts val="0"/>
              </a:spcBef>
              <a:spcAft>
                <a:spcPts val="0"/>
              </a:spcAft>
            </a:pPr>
            <a:r>
              <a:rPr sz="1620" b="0">
                <a:solidFill>
                  <a:srgbClr val="17221B"/>
                </a:solidFill>
                <a:latin typeface="Noto Sans KR"/>
                <a:ea typeface="Noto Sans KR"/>
                <a:cs typeface="Noto Sans KR"/>
              </a:rPr>
              <a:t>보냅니다.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결과 폴더의 두 공지문에서 파일 이름 ·&#10;맨 위 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두 공지문에서 파일 이름 ·</a:t>
            </a:r>
          </a:p>
          <a:p>
            <a:pPr algn="l">
              <a:lnSpc>
                <a:spcPts val="2235"/>
              </a:lnSpc>
              <a:spcBef>
                <a:spcPts val="0"/>
              </a:spcBef>
              <a:spcAft>
                <a:spcPts val="0"/>
              </a:spcAft>
            </a:pPr>
            <a:r>
              <a:rPr sz="1620" b="0">
                <a:solidFill>
                  <a:srgbClr val="17221B"/>
                </a:solidFill>
                <a:latin typeface="Noto Sans KR"/>
                <a:ea typeface="Noto Sans KR"/>
                <a:cs typeface="Noto Sans KR"/>
              </a:rPr>
              <a:t>맨 위 줄 · 끝의 확인 목록을 비교합니다.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7983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VS Code)"/>
          <p:cNvSpPr txBox="1"/>
          <p:nvPr/>
        </p:nvSpPr>
        <p:spPr>
          <a:xfrm>
            <a:off x="5242560" y="2133600"/>
            <a:ext cx="17983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(VS Code)</a:t>
            </a:r>
          </a:p>
        </p:txBody>
      </p:sp>
      <p:sp>
        <p:nvSpPr>
          <p:cNvPr id="24" name="label · 강사 입력 · 프롬프트 2번"/>
          <p:cNvSpPr txBox="1"/>
          <p:nvPr/>
        </p:nvSpPr>
        <p:spPr>
          <a:xfrm>
            <a:off x="714756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 입력 · 프롬프트 2번</a:t>
            </a:r>
          </a:p>
        </p:txBody>
      </p:sp>
      <p:sp>
        <p:nvSpPr>
          <p:cNvPr id="25" name="body · 이 폴더에서 AI가 일할 때 매번 지킬 우리 팀 규"/>
          <p:cNvSpPr txBox="1"/>
          <p:nvPr/>
        </p:nvSpPr>
        <p:spPr>
          <a:xfrm>
            <a:off x="5303520" y="2468880"/>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이 폴더에서 AI가 일할 때 매번 지킬 우리 팀 규칙을 AGENTS.md로</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 입력자료 폴더의 파일은 읽기만 하고, 새 파일은 결과 폴더에 저장한다.</a:t>
            </a:r>
          </a:p>
          <a:p>
            <a:pPr algn="l">
              <a:lnSpc>
                <a:spcPts val="2152"/>
              </a:lnSpc>
              <a:spcBef>
                <a:spcPts val="0"/>
              </a:spcBef>
              <a:spcAft>
                <a:spcPts val="0"/>
              </a:spcAft>
            </a:pPr>
            <a:r>
              <a:rPr sz="1560" b="0">
                <a:solidFill>
                  <a:srgbClr val="E4EFE6"/>
                </a:solidFill>
                <a:latin typeface="Noto Sans KR"/>
                <a:ea typeface="Noto Sans KR"/>
                <a:cs typeface="Noto Sans KR"/>
              </a:rPr>
              <a:t>- 결과 파일 이름은 「날짜_업무_v1」로 짓는다. 예:</a:t>
            </a:r>
          </a:p>
          <a:p>
            <a:pPr algn="l">
              <a:lnSpc>
                <a:spcPts val="2152"/>
              </a:lnSpc>
              <a:spcBef>
                <a:spcPts val="0"/>
              </a:spcBef>
              <a:spcAft>
                <a:spcPts val="0"/>
              </a:spcAft>
            </a:pPr>
            <a:r>
              <a:rPr sz="1560" b="0">
                <a:solidFill>
                  <a:srgbClr val="E4EFE6"/>
                </a:solidFill>
                <a:latin typeface="Noto Sans KR"/>
                <a:ea typeface="Noto Sans KR"/>
                <a:cs typeface="Noto Sans KR"/>
              </a:rPr>
              <a:t>20261019_공지_v1.md</a:t>
            </a:r>
          </a:p>
          <a:p>
            <a:pPr algn="l">
              <a:lnSpc>
                <a:spcPts val="2152"/>
              </a:lnSpc>
              <a:spcBef>
                <a:spcPts val="0"/>
              </a:spcBef>
              <a:spcAft>
                <a:spcPts val="0"/>
              </a:spcAft>
            </a:pPr>
            <a:r>
              <a:rPr sz="1560" b="0">
                <a:solidFill>
                  <a:srgbClr val="E4EFE6"/>
                </a:solidFill>
                <a:latin typeface="Noto Sans KR"/>
                <a:ea typeface="Noto Sans KR"/>
                <a:cs typeface="Noto Sans KR"/>
              </a:rPr>
              <a:t>- 문서 맨 위에 「[초안] 담당자 확인 전 게시 금지」를 한 줄 넣는다.</a:t>
            </a:r>
          </a:p>
          <a:p>
            <a:pPr algn="l">
              <a:lnSpc>
                <a:spcPts val="2152"/>
              </a:lnSpc>
              <a:spcBef>
                <a:spcPts val="0"/>
              </a:spcBef>
              <a:spcAft>
                <a:spcPts val="0"/>
              </a:spcAft>
            </a:pPr>
            <a:r>
              <a:rPr sz="1560" b="0">
                <a:solidFill>
                  <a:srgbClr val="E4EFE6"/>
                </a:solidFill>
                <a:latin typeface="Noto Sans KR"/>
                <a:ea typeface="Noto Sans KR"/>
                <a:cs typeface="Noto Sans KR"/>
              </a:rPr>
              <a:t>- 메모에 없는 시간·장소·연락처는 지어내지 말고 [확인 필요]로 남긴다.</a:t>
            </a:r>
          </a:p>
          <a:p>
            <a:pPr algn="l">
              <a:lnSpc>
                <a:spcPts val="2152"/>
              </a:lnSpc>
              <a:spcBef>
                <a:spcPts val="0"/>
              </a:spcBef>
              <a:spcAft>
                <a:spcPts val="0"/>
              </a:spcAft>
            </a:pPr>
            <a:r>
              <a:rPr sz="1560" b="0">
                <a:solidFill>
                  <a:srgbClr val="E4EFE6"/>
                </a:solidFill>
                <a:latin typeface="Noto Sans KR"/>
                <a:ea typeface="Noto Sans KR"/>
                <a:cs typeface="Noto Sans KR"/>
              </a:rPr>
              <a:t>- 문서 끝에 「담당자가 확인할 것」을 세 줄 이내로 적는다.</a:t>
            </a:r>
          </a:p>
          <a:p>
            <a:pPr algn="l">
              <a:lnSpc>
                <a:spcPts val="2152"/>
              </a:lnSpc>
              <a:spcBef>
                <a:spcPts val="0"/>
              </a:spcBef>
              <a:spcAft>
                <a:spcPts val="0"/>
              </a:spcAft>
            </a:pPr>
            <a:r>
              <a:rPr sz="1560" b="0">
                <a:solidFill>
                  <a:srgbClr val="E4EFE6"/>
                </a:solidFill>
                <a:latin typeface="Noto Sans KR"/>
                <a:ea typeface="Noto Sans KR"/>
                <a:cs typeface="Noto Sans KR"/>
              </a:rPr>
              <a:t>10줄 이내, 쉬운 한국어로 써 줘.</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AGENTS.md가 생기고, 두 번째 공지문이 「날"/>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AGENTS.md가 생기고, 두 번째 공지문이 「날짜_공지_v1.md」처럼 규칙대로 나오면 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예시 결과 · AGENTS.md 여섯 줄이 팀 방식"/>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예시 결과 · AGENTS.md 여섯 줄이 팀 방식을 매번 지키게 합니다</a:t>
            </a:r>
          </a:p>
        </p:txBody>
      </p:sp>
      <p:sp>
        <p:nvSpPr>
          <p:cNvPr id="8" name="subtitle · 리허설에서 Claude Code로 실제 실행한 예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리허설에서 Claude Code로 실제 실행한 예시 · 같은 부탁 「행사메모로 조합원 공지문을 만들어 줘」</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768096"/>
          </a:xfrm>
          <a:prstGeom prst="roundRect">
            <a:avLst>
              <a:gd name="adj" fmla="val 9920"/>
            </a:avLst>
          </a:prstGeom>
          <a:solidFill>
            <a:srgbClr val="203528"/>
          </a:solidFill>
          <a:ln>
            <a:noFill/>
          </a:ln>
          <a:effectLst/>
        </p:spPr>
        <p:txBody>
          <a:bodyPr rtlCol="0" anchor="ctr"/>
          <a:lstStyle/>
          <a:p>
            <a:pPr algn="ctr"/>
          </a:p>
        </p:txBody>
      </p:sp>
      <p:sp>
        <p:nvSpPr>
          <p:cNvPr id="13" name="Rounded Rectangle 12"/>
          <p:cNvSpPr/>
          <p:nvPr/>
        </p:nvSpPr>
        <p:spPr>
          <a:xfrm>
            <a:off x="762000" y="2921508"/>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96722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우리 팀 AI 작업 규칙&#10;1. 입력자료 폴더의 "/>
          <p:cNvSpPr txBox="1"/>
          <p:nvPr/>
        </p:nvSpPr>
        <p:spPr>
          <a:xfrm>
            <a:off x="1219200" y="2735580"/>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우리 팀 AI 작업 규칙</a:t>
            </a:r>
          </a:p>
          <a:p>
            <a:pPr algn="l">
              <a:lnSpc>
                <a:spcPts val="1655"/>
              </a:lnSpc>
              <a:spcBef>
                <a:spcPts val="0"/>
              </a:spcBef>
              <a:spcAft>
                <a:spcPts val="0"/>
              </a:spcAft>
            </a:pPr>
            <a:r>
              <a:rPr sz="1200" b="0">
                <a:solidFill>
                  <a:srgbClr val="E4EFE6"/>
                </a:solidFill>
                <a:latin typeface="Noto Sans KR"/>
                <a:ea typeface="Noto Sans KR"/>
                <a:cs typeface="Noto Sans KR"/>
              </a:rPr>
              <a:t>1. 입력자료 폴더의 파일은 읽기만 하고, 고치거나 지우지 않는다.</a:t>
            </a:r>
          </a:p>
          <a:p>
            <a:pPr algn="l">
              <a:lnSpc>
                <a:spcPts val="1655"/>
              </a:lnSpc>
              <a:spcBef>
                <a:spcPts val="0"/>
              </a:spcBef>
              <a:spcAft>
                <a:spcPts val="0"/>
              </a:spcAft>
            </a:pPr>
            <a:r>
              <a:rPr sz="1200" b="0">
                <a:solidFill>
                  <a:srgbClr val="E4EFE6"/>
                </a:solidFill>
                <a:latin typeface="Noto Sans KR"/>
                <a:ea typeface="Noto Sans KR"/>
                <a:cs typeface="Noto Sans KR"/>
              </a:rPr>
              <a:t>2. 새로 만든 파일은 모두 결과 폴더에 저장한다.</a:t>
            </a:r>
          </a:p>
        </p:txBody>
      </p:sp>
      <p:sp>
        <p:nvSpPr>
          <p:cNvPr id="16" name="Rounded Rectangle 15"/>
          <p:cNvSpPr/>
          <p:nvPr/>
        </p:nvSpPr>
        <p:spPr>
          <a:xfrm>
            <a:off x="1097280" y="3511296"/>
            <a:ext cx="5608320" cy="557783"/>
          </a:xfrm>
          <a:prstGeom prst="roundRect">
            <a:avLst>
              <a:gd name="adj" fmla="val 13661"/>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3. 파일 이름은 「날짜_업무_v1」로 짓는다. 예"/>
          <p:cNvSpPr txBox="1"/>
          <p:nvPr/>
        </p:nvSpPr>
        <p:spPr>
          <a:xfrm>
            <a:off x="1219200" y="3579876"/>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3. 파일 이름은 「날짜_업무_v1」로 짓는다. 예: 20261019_공지_v1.md</a:t>
            </a:r>
          </a:p>
          <a:p>
            <a:pPr algn="l">
              <a:lnSpc>
                <a:spcPts val="1655"/>
              </a:lnSpc>
              <a:spcBef>
                <a:spcPts val="0"/>
              </a:spcBef>
              <a:spcAft>
                <a:spcPts val="0"/>
              </a:spcAft>
            </a:pPr>
            <a:r>
              <a:rPr sz="1200" b="0">
                <a:solidFill>
                  <a:srgbClr val="E4EFE6"/>
                </a:solidFill>
                <a:latin typeface="Noto Sans KR"/>
                <a:ea typeface="Noto Sans KR"/>
                <a:cs typeface="Noto Sans KR"/>
              </a:rPr>
              <a:t>4. 문서 맨 위 첫 줄에 「[초안] 담당자 확인 전 게시 금지」를 넣는다.</a:t>
            </a:r>
          </a:p>
        </p:txBody>
      </p:sp>
      <p:sp>
        <p:nvSpPr>
          <p:cNvPr id="20" name="Rounded Rectangle 19"/>
          <p:cNvSpPr/>
          <p:nvPr/>
        </p:nvSpPr>
        <p:spPr>
          <a:xfrm>
            <a:off x="1097280" y="4145280"/>
            <a:ext cx="5608320" cy="557783"/>
          </a:xfrm>
          <a:prstGeom prst="roundRect">
            <a:avLst>
              <a:gd name="adj" fmla="val 13661"/>
            </a:avLst>
          </a:prstGeom>
          <a:solidFill>
            <a:srgbClr val="203528"/>
          </a:solidFill>
          <a:ln>
            <a:noFill/>
          </a:ln>
          <a:effectLst/>
        </p:spPr>
        <p:txBody>
          <a:bodyPr rtlCol="0" anchor="ctr"/>
          <a:lstStyle/>
          <a:p>
            <a:pPr algn="ctr"/>
          </a:p>
        </p:txBody>
      </p:sp>
      <p:sp>
        <p:nvSpPr>
          <p:cNvPr id="21" name="Rounded Rectangle 20"/>
          <p:cNvSpPr/>
          <p:nvPr/>
        </p:nvSpPr>
        <p:spPr>
          <a:xfrm>
            <a:off x="762000" y="4294632"/>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34035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5. 메모에 없는 시간·장소·연락처는 지어내지 않고"/>
          <p:cNvSpPr txBox="1"/>
          <p:nvPr/>
        </p:nvSpPr>
        <p:spPr>
          <a:xfrm>
            <a:off x="1219200" y="421386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5. 메모에 없는 시간·장소·연락처는 지어내지 않고 [확인 필요]라고 적는다.</a:t>
            </a:r>
          </a:p>
          <a:p>
            <a:pPr algn="l">
              <a:lnSpc>
                <a:spcPts val="1655"/>
              </a:lnSpc>
              <a:spcBef>
                <a:spcPts val="0"/>
              </a:spcBef>
              <a:spcAft>
                <a:spcPts val="0"/>
              </a:spcAft>
            </a:pPr>
            <a:r>
              <a:rPr sz="1200" b="0">
                <a:solidFill>
                  <a:srgbClr val="E4EFE6"/>
                </a:solidFill>
                <a:latin typeface="Noto Sans KR"/>
                <a:ea typeface="Noto Sans KR"/>
                <a:cs typeface="Noto Sans KR"/>
              </a:rPr>
              <a:t>6. 문서 끝에 「담당자가 확인할 것」을 세 줄 이내로 적는다.</a:t>
            </a:r>
          </a:p>
        </p:txBody>
      </p:sp>
      <p:sp>
        <p:nvSpPr>
          <p:cNvPr id="24" name="caption · 시연키트_하네스에서 프롬프트 2번으로 실제로 만든 "/>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시연키트_하네스에서 프롬프트 2번으로 실제로 만든 AGENTS.md 전문</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27"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8" name="body · ① 파일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① 파일 이름</a:t>
            </a:r>
          </a:p>
        </p:txBody>
      </p:sp>
      <p:sp>
        <p:nvSpPr>
          <p:cNvPr id="29" name="body · 없음: 제각각 지은 이름&#10;있음: 20261019_공"/>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제각각 지은 이름</a:t>
            </a:r>
          </a:p>
          <a:p>
            <a:pPr algn="l">
              <a:lnSpc>
                <a:spcPts val="1987"/>
              </a:lnSpc>
              <a:spcBef>
                <a:spcPts val="0"/>
              </a:spcBef>
              <a:spcAft>
                <a:spcPts val="0"/>
              </a:spcAft>
            </a:pPr>
            <a:r>
              <a:rPr sz="1439" b="0">
                <a:solidFill>
                  <a:srgbClr val="17221B"/>
                </a:solidFill>
                <a:latin typeface="Noto Sans KR"/>
                <a:ea typeface="Noto Sans KR"/>
                <a:cs typeface="Noto Sans KR"/>
              </a:rPr>
              <a:t>있음: 20261019_공지_v1.md</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3" name="body · ② 맨 위 한 줄"/>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② 맨 위 한 줄</a:t>
            </a:r>
          </a:p>
        </p:txBody>
      </p:sp>
      <p:sp>
        <p:nvSpPr>
          <p:cNvPr id="34" name="body · 없음: 표시 없음&#10;있음: [초안] 게시 금지 표시"/>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표시 없음</a:t>
            </a:r>
          </a:p>
          <a:p>
            <a:pPr algn="l">
              <a:lnSpc>
                <a:spcPts val="1987"/>
              </a:lnSpc>
              <a:spcBef>
                <a:spcPts val="0"/>
              </a:spcBef>
              <a:spcAft>
                <a:spcPts val="0"/>
              </a:spcAft>
            </a:pPr>
            <a:r>
              <a:rPr sz="1439" b="0">
                <a:solidFill>
                  <a:srgbClr val="17221B"/>
                </a:solidFill>
                <a:latin typeface="Noto Sans KR"/>
                <a:ea typeface="Noto Sans KR"/>
                <a:cs typeface="Noto Sans KR"/>
              </a:rPr>
              <a:t>있음: [초안] 게시 금지 표시</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8" name="body · ③ 끝에 확인 목록"/>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③ 끝에 확인 목록</a:t>
            </a:r>
          </a:p>
        </p:txBody>
      </p:sp>
      <p:sp>
        <p:nvSpPr>
          <p:cNvPr id="39" name="body · 없음: 없음&#10;있음: 담당자가 확인할 것 3줄"/>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없음</a:t>
            </a:r>
          </a:p>
          <a:p>
            <a:pPr algn="l">
              <a:lnSpc>
                <a:spcPts val="1987"/>
              </a:lnSpc>
              <a:spcBef>
                <a:spcPts val="0"/>
              </a:spcBef>
              <a:spcAft>
                <a:spcPts val="0"/>
              </a:spcAft>
            </a:pPr>
            <a:r>
              <a:rPr sz="1439" b="0">
                <a:solidFill>
                  <a:srgbClr val="17221B"/>
                </a:solidFill>
                <a:latin typeface="Noto Sans KR"/>
                <a:ea typeface="Noto Sans KR"/>
                <a:cs typeface="Noto Sans KR"/>
              </a:rPr>
              <a:t>있음: 담당자가 확인할 것 3줄</a:t>
            </a:r>
          </a:p>
        </p:txBody>
      </p:sp>
      <p:sp>
        <p:nvSpPr>
          <p:cNvPr id="4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4단계 · 루프와 목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4단계 · 루프와 목표</a:t>
            </a:r>
          </a:p>
        </p:txBody>
      </p:sp>
      <p:sp>
        <p:nvSpPr>
          <p:cNvPr id="8" name="subtitle · 다섯 단계 중 4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4번째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9" name="Picture 18" descr="repeat-9FCF94.png"/>
          <p:cNvPicPr>
            <a:picLocks noChangeAspect="1"/>
          </p:cNvPicPr>
          <p:nvPr/>
        </p:nvPicPr>
        <p:blipFill>
          <a:blip r:embed="rId3"/>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4"/>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repeat-FFFFFF.png"/>
          <p:cNvPicPr>
            <a:picLocks noChangeAspect="1"/>
          </p:cNvPicPr>
          <p:nvPr/>
        </p:nvPicPr>
        <p:blipFill>
          <a:blip r:embed="rId5"/>
          <a:srcRect/>
          <a:stretch>
            <a:fillRect/>
          </a:stretch>
        </p:blipFill>
        <p:spPr>
          <a:xfrm>
            <a:off x="1005840" y="3063240"/>
            <a:ext cx="335280" cy="335280"/>
          </a:xfrm>
          <a:prstGeom prst="rect">
            <a:avLst/>
          </a:prstGeom>
        </p:spPr>
      </p:pic>
      <p:sp>
        <p:nvSpPr>
          <p:cNvPr id="27" name="label · Loop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Loop Engineering</a:t>
            </a:r>
          </a:p>
        </p:txBody>
      </p:sp>
      <p:sp>
        <p:nvSpPr>
          <p:cNvPr id="28" name="body · 루프 · 목표"/>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루프 · 목표</a:t>
            </a:r>
          </a:p>
        </p:txBody>
      </p:sp>
      <p:sp>
        <p:nvSpPr>
          <p:cNvPr id="29" name="body · 확인할 기준을 통과할 때까지 스스로 고치게 하는 일"/>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확인할 기준을 통과할 때까지 스스로 고치게 하는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150행 = 통과 + 제외」가 맞을 때까지 다시&#10;"/>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「150행 = 통과 + 제외」가 맞을 때까지 다시</a:t>
            </a:r>
          </a:p>
          <a:p>
            <a:pPr algn="l">
              <a:lnSpc>
                <a:spcPts val="2070"/>
              </a:lnSpc>
              <a:spcBef>
                <a:spcPts val="0"/>
              </a:spcBef>
              <a:spcAft>
                <a:spcPts val="0"/>
              </a:spcAft>
            </a:pPr>
            <a:r>
              <a:rPr sz="1500" b="1">
                <a:solidFill>
                  <a:srgbClr val="1D4430"/>
                </a:solidFill>
                <a:latin typeface="Noto Sans KR"/>
                <a:ea typeface="Noto Sans KR"/>
                <a:cs typeface="Noto Sans KR"/>
              </a:rPr>
              <a:t>계산하게 합니다.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6"/>
          <a:srcRect/>
          <a:stretch>
            <a:fillRect/>
          </a:stretch>
        </p:blipFill>
        <p:spPr>
          <a:xfrm>
            <a:off x="849630" y="5253990"/>
            <a:ext cx="220980" cy="220980"/>
          </a:xfrm>
          <a:prstGeom prst="rect">
            <a:avLst/>
          </a:prstGeom>
        </p:spPr>
      </p:pic>
      <p:sp>
        <p:nvSpPr>
          <p:cNvPr id="37" name="body · 기준 정하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기준 정하기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target-FFFFFF.png"/>
          <p:cNvPicPr>
            <a:picLocks noChangeAspect="1"/>
          </p:cNvPicPr>
          <p:nvPr/>
        </p:nvPicPr>
        <p:blipFill>
          <a:blip r:embed="rId7"/>
          <a:srcRect/>
          <a:stretch>
            <a:fillRect/>
          </a:stretch>
        </p:blipFill>
        <p:spPr>
          <a:xfrm>
            <a:off x="4558030" y="5253990"/>
            <a:ext cx="220980" cy="220980"/>
          </a:xfrm>
          <a:prstGeom prst="rect">
            <a:avLst/>
          </a:prstGeom>
        </p:spPr>
      </p:pic>
      <p:sp>
        <p:nvSpPr>
          <p:cNvPr id="41" name="body · 목표(Goal) 걸기"/>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목표(Goal) 걸기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계속 맡겨 두기"/>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계속 맡겨 두기</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95400" y="1324051"/>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루프 엔지니어링</a:t>
            </a:r>
          </a:p>
        </p:txBody>
      </p:sp>
      <p:sp>
        <p:nvSpPr>
          <p:cNvPr id="12" name="body · Loop Engineering"/>
          <p:cNvSpPr txBox="1"/>
          <p:nvPr/>
        </p:nvSpPr>
        <p:spPr>
          <a:xfrm>
            <a:off x="2720340" y="1354150"/>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77440"/>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8036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80416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7952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70332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7868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60248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1792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216548"/>
            <a:ext cx="5638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6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모드</a:t>
            </a:r>
          </a:p>
        </p:txBody>
      </p:sp>
      <p:sp>
        <p:nvSpPr>
          <p:cNvPr id="12" name="body · Goal"/>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25959"/>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 Claude Code에서는"/>
          <p:cNvSpPr txBox="1"/>
          <p:nvPr/>
        </p:nvSpPr>
        <p:spPr>
          <a:xfrm>
            <a:off x="112776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 Claude Code에서는</a:t>
            </a:r>
          </a:p>
          <a:p>
            <a:pPr algn="l">
              <a:lnSpc>
                <a:spcPts val="1738"/>
              </a:lnSpc>
              <a:spcBef>
                <a:spcPts val="0"/>
              </a:spcBef>
              <a:spcAft>
                <a:spcPts val="0"/>
              </a:spcAft>
            </a:pPr>
            <a:r>
              <a:rPr sz="1260" b="0">
                <a:solidFill>
                  <a:srgbClr val="17221B"/>
                </a:solidFill>
                <a:latin typeface="Noto Sans KR"/>
                <a:ea typeface="Noto Sans KR"/>
                <a:cs typeface="Noto Sans KR"/>
              </a:rPr>
              <a:t>/goal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 볼 숫자 기준 +&#10;멈출 "/>
          <p:cNvSpPr txBox="1"/>
          <p:nvPr/>
        </p:nvSpPr>
        <p:spPr>
          <a:xfrm>
            <a:off x="484632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 볼 숫자 기준 +</a:t>
            </a:r>
          </a:p>
          <a:p>
            <a:pPr algn="l">
              <a:lnSpc>
                <a:spcPts val="1738"/>
              </a:lnSpc>
              <a:spcBef>
                <a:spcPts val="0"/>
              </a:spcBef>
              <a:spcAft>
                <a:spcPts val="0"/>
              </a:spcAft>
            </a:pPr>
            <a:r>
              <a:rPr sz="1260" b="0">
                <a:solidFill>
                  <a:srgbClr val="17221B"/>
                </a:solidFill>
                <a:latin typeface="Noto Sans KR"/>
                <a:ea typeface="Noto Sans KR"/>
                <a:cs typeface="Noto Sans KR"/>
              </a:rPr>
              <a:t>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 실행 → 검수&#10;→ "/>
          <p:cNvSpPr txBox="1"/>
          <p:nvPr/>
        </p:nvSpPr>
        <p:spPr>
          <a:xfrm>
            <a:off x="856488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 실행 → 검수</a:t>
            </a:r>
          </a:p>
          <a:p>
            <a:pPr algn="l">
              <a:lnSpc>
                <a:spcPts val="1738"/>
              </a:lnSpc>
              <a:spcBef>
                <a:spcPts val="0"/>
              </a:spcBef>
              <a:spcAft>
                <a:spcPts val="0"/>
              </a:spcAft>
            </a:pPr>
            <a:r>
              <a:rPr sz="1260" b="0">
                <a:solidFill>
                  <a:srgbClr val="17221B"/>
                </a:solidFill>
                <a:latin typeface="Noto Sans KR"/>
                <a:ea typeface="Noto Sans KR"/>
                <a:cs typeface="Noto Sans KR"/>
              </a:rPr>
              <a:t>→ 수정 반복</a:t>
            </a:r>
          </a:p>
        </p:txBody>
      </p:sp>
      <p:sp>
        <p:nvSpPr>
          <p:cNvPr id="33" name="Rounded Rectangle 32"/>
          <p:cNvSpPr/>
          <p:nvPr/>
        </p:nvSpPr>
        <p:spPr>
          <a:xfrm>
            <a:off x="609600" y="6111240"/>
            <a:ext cx="624078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216548"/>
            <a:ext cx="56616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95400" y="1366113"/>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지속형 에이전트</a:t>
            </a:r>
          </a:p>
        </p:txBody>
      </p:sp>
      <p:sp>
        <p:nvSpPr>
          <p:cNvPr id="12" name="body · Background Agent"/>
          <p:cNvSpPr txBox="1"/>
          <p:nvPr/>
        </p:nvSpPr>
        <p:spPr>
          <a:xfrm>
            <a:off x="2720340" y="1396212"/>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9" name="Rounded Rectangle 28"/>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30" name="Picture 29"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1" name="Rounded Rectangle 30"/>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2" name="Rounded Rectangle 31"/>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3" name="Picture 32"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4" name="Rounded Rectangle 33"/>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5" name="Picture 34"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6" name="label · 1:09"/>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7" name="Rounded Rectangle 36"/>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8"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9"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40" name="caption · Anthropic 공식 · 2026.1.12"/>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1" name="Picture 40"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2" name="body · 작업을 맡기면 진행 단계와 참고 자료(SKILL.m"/>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 자료(SKILL.md)를 보여</a:t>
            </a:r>
          </a:p>
          <a:p>
            <a:pPr algn="l">
              <a:lnSpc>
                <a:spcPts val="1738"/>
              </a:lnSpc>
              <a:spcBef>
                <a:spcPts val="0"/>
              </a:spcBef>
              <a:spcAft>
                <a:spcPts val="0"/>
              </a:spcAft>
            </a:pPr>
            <a:r>
              <a:rPr sz="1260" b="0">
                <a:solidFill>
                  <a:srgbClr val="17221B"/>
                </a:solidFill>
                <a:latin typeface="Noto Sans KR"/>
                <a:ea typeface="Noto Sans KR"/>
                <a:cs typeface="Noto Sans KR"/>
              </a:rPr>
              <a:t>줌</a:t>
            </a:r>
          </a:p>
        </p:txBody>
      </p:sp>
      <p:sp>
        <p:nvSpPr>
          <p:cNvPr id="43"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44" name="Rounded Rectangle 43"/>
          <p:cNvSpPr/>
          <p:nvPr/>
        </p:nvSpPr>
        <p:spPr>
          <a:xfrm>
            <a:off x="609600" y="6111240"/>
            <a:ext cx="645414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7" name="callout · 오늘 실습의 필수 기능은 아닙니다. 맡기기 전에 권"/>
          <p:cNvSpPr txBox="1"/>
          <p:nvPr/>
        </p:nvSpPr>
        <p:spPr>
          <a:xfrm>
            <a:off x="1082040" y="6216548"/>
            <a:ext cx="58750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6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5단계 · 그래프"/>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5단계 · 그래프</a:t>
            </a:r>
          </a:p>
        </p:txBody>
      </p:sp>
      <p:sp>
        <p:nvSpPr>
          <p:cNvPr id="8" name="subtitle · 다섯 단계 중 5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5번째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9" name="Picture 18" descr="check-2F7048.png"/>
          <p:cNvPicPr>
            <a:picLocks noChangeAspect="1"/>
          </p:cNvPicPr>
          <p:nvPr/>
        </p:nvPicPr>
        <p:blipFill>
          <a:blip r:embed="rId2"/>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22" name="Picture 21" descr="git-fork-9FCF94.png"/>
          <p:cNvPicPr>
            <a:picLocks noChangeAspect="1"/>
          </p:cNvPicPr>
          <p:nvPr/>
        </p:nvPicPr>
        <p:blipFill>
          <a:blip r:embed="rId3"/>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git-fork-FFFFFF.png"/>
          <p:cNvPicPr>
            <a:picLocks noChangeAspect="1"/>
          </p:cNvPicPr>
          <p:nvPr/>
        </p:nvPicPr>
        <p:blipFill>
          <a:blip r:embed="rId4"/>
          <a:srcRect/>
          <a:stretch>
            <a:fillRect/>
          </a:stretch>
        </p:blipFill>
        <p:spPr>
          <a:xfrm>
            <a:off x="1005840" y="3063240"/>
            <a:ext cx="335280" cy="335280"/>
          </a:xfrm>
          <a:prstGeom prst="rect">
            <a:avLst/>
          </a:prstGeom>
        </p:spPr>
      </p:pic>
      <p:sp>
        <p:nvSpPr>
          <p:cNvPr id="27" name="label · Graph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Graph Engineering</a:t>
            </a:r>
          </a:p>
        </p:txBody>
      </p:sp>
      <p:sp>
        <p:nvSpPr>
          <p:cNvPr id="28" name="body · 그래프"/>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그래프</a:t>
            </a:r>
          </a:p>
        </p:txBody>
      </p:sp>
      <p:sp>
        <p:nvSpPr>
          <p:cNvPr id="29" name="body · 여러 AI에게 역할을 나눠 순서대로, 또는 동시에 "/>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여러 AI에게 역할을 나눠 순서대로, 또는 동시에 잇는</a:t>
            </a:r>
          </a:p>
          <a:p>
            <a:pPr algn="l">
              <a:lnSpc>
                <a:spcPts val="2070"/>
              </a:lnSpc>
              <a:spcBef>
                <a:spcPts val="0"/>
              </a:spcBef>
              <a:spcAft>
                <a:spcPts val="0"/>
              </a:spcAft>
            </a:pPr>
            <a:r>
              <a:rPr sz="1500" b="0">
                <a:solidFill>
                  <a:srgbClr val="1D4430"/>
                </a:solidFill>
                <a:latin typeface="Noto Sans KR"/>
                <a:ea typeface="Noto Sans KR"/>
                <a:cs typeface="Noto Sans KR"/>
              </a:rPr>
              <a:t>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공지 작성은 Claude, 검수는 Codex, 마지"/>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공지 작성은 Claude, 검수는 Codex, 마지막</a:t>
            </a:r>
          </a:p>
          <a:p>
            <a:pPr algn="l">
              <a:lnSpc>
                <a:spcPts val="2070"/>
              </a:lnSpc>
              <a:spcBef>
                <a:spcPts val="0"/>
              </a:spcBef>
              <a:spcAft>
                <a:spcPts val="0"/>
              </a:spcAft>
            </a:pPr>
            <a:r>
              <a:rPr sz="1500" b="1">
                <a:solidFill>
                  <a:srgbClr val="1D4430"/>
                </a:solidFill>
                <a:latin typeface="Noto Sans KR"/>
                <a:ea typeface="Noto Sans KR"/>
                <a:cs typeface="Noto Sans KR"/>
              </a:rPr>
              <a:t>확인은 사람이 맡습니다.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users-FFFFFF.png"/>
          <p:cNvPicPr>
            <a:picLocks noChangeAspect="1"/>
          </p:cNvPicPr>
          <p:nvPr/>
        </p:nvPicPr>
        <p:blipFill>
          <a:blip r:embed="rId5"/>
          <a:srcRect/>
          <a:stretch>
            <a:fillRect/>
          </a:stretch>
        </p:blipFill>
        <p:spPr>
          <a:xfrm>
            <a:off x="849630" y="5253990"/>
            <a:ext cx="220980" cy="220980"/>
          </a:xfrm>
          <a:prstGeom prst="rect">
            <a:avLst/>
          </a:prstGeom>
        </p:spPr>
      </p:pic>
      <p:sp>
        <p:nvSpPr>
          <p:cNvPr id="37" name="body · 역할 나누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역할 나누기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bot-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울트라 · 하위 에이전트"/>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울트라 · 하위 에이전트</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user-check-FFFFFF.png"/>
          <p:cNvPicPr>
            <a:picLocks noChangeAspect="1"/>
          </p:cNvPicPr>
          <p:nvPr/>
        </p:nvPicPr>
        <p:blipFill>
          <a:blip r:embed="rId7"/>
          <a:srcRect/>
          <a:stretch>
            <a:fillRect/>
          </a:stretch>
        </p:blipFill>
        <p:spPr>
          <a:xfrm>
            <a:off x="8266430" y="5253990"/>
            <a:ext cx="220980" cy="220980"/>
          </a:xfrm>
          <a:prstGeom prst="rect">
            <a:avLst/>
          </a:prstGeom>
        </p:spPr>
      </p:pic>
      <p:sp>
        <p:nvSpPr>
          <p:cNvPr id="45" name="body · 마지막 확인은 사람"/>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마지막 확인은 사람</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95400" y="1366113"/>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그래프 엔지니어링</a:t>
            </a:r>
          </a:p>
        </p:txBody>
      </p:sp>
      <p:sp>
        <p:nvSpPr>
          <p:cNvPr id="12" name="body · Graph Engineering"/>
          <p:cNvSpPr txBox="1"/>
          <p:nvPr/>
        </p:nvSpPr>
        <p:spPr>
          <a:xfrm>
            <a:off x="2887980" y="1396212"/>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4903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52222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956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5760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3098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9298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6636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5092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16636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216548"/>
            <a:ext cx="4587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6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울트라(ultra): 대장 AI가 하위 에이전트에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울트라(ultra): 대장 AI가 하위 에이전트에게 나눠 맡깁니다</a:t>
            </a:r>
          </a:p>
        </p:txBody>
      </p:sp>
      <p:sp>
        <p:nvSpPr>
          <p:cNvPr id="8" name="subtitle · 추론 수준의 맨 끝 · 혼자 더 오래 생각하는 m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수준의 맨 끝 · 혼자 더 오래 생각하는 max와 달리, 여러 AI가 동시에 일합니다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bot-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AI가 깊게 (max)"/>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AI가 깊게 (max)</a:t>
            </a:r>
          </a:p>
        </p:txBody>
      </p:sp>
      <p:sp>
        <p:nvSpPr>
          <p:cNvPr id="13" name="body · 한 대화에서&#10;오래 생각합니다"/>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한 대화에서</a:t>
            </a:r>
          </a:p>
          <a:p>
            <a:pPr algn="l">
              <a:lnSpc>
                <a:spcPts val="2815"/>
              </a:lnSpc>
              <a:spcBef>
                <a:spcPts val="0"/>
              </a:spcBef>
              <a:spcAft>
                <a:spcPts val="0"/>
              </a:spcAft>
            </a:pPr>
            <a:r>
              <a:rPr sz="2039" b="1">
                <a:solidFill>
                  <a:srgbClr val="2F7048"/>
                </a:solidFill>
                <a:latin typeface="Noto Sans KR"/>
                <a:ea typeface="Noto Sans KR"/>
                <a:cs typeface="Noto Sans KR"/>
              </a:rPr>
              <a:t>오래 생각합니다</a:t>
            </a:r>
          </a:p>
        </p:txBody>
      </p:sp>
      <p:sp>
        <p:nvSpPr>
          <p:cNvPr id="14" name="body · 어려운 문제 하나에 맞습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어려운 문제 하나에 맞습니다.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git-for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여럿이 나눠서 (ultra)"/>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여럿이 나눠서 (ultra)</a:t>
            </a:r>
          </a:p>
        </p:txBody>
      </p:sp>
      <p:sp>
        <p:nvSpPr>
          <p:cNvPr id="20" name="body · 대장 AI가 일을 쪼개&#10;하위 에이전트에게"/>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대장 AI가 일을 쪼개</a:t>
            </a:r>
          </a:p>
          <a:p>
            <a:pPr algn="l">
              <a:lnSpc>
                <a:spcPts val="2815"/>
              </a:lnSpc>
              <a:spcBef>
                <a:spcPts val="0"/>
              </a:spcBef>
              <a:spcAft>
                <a:spcPts val="0"/>
              </a:spcAft>
            </a:pPr>
            <a:r>
              <a:rPr sz="2039" b="1">
                <a:solidFill>
                  <a:srgbClr val="2F7048"/>
                </a:solidFill>
                <a:latin typeface="Noto Sans KR"/>
                <a:ea typeface="Noto Sans KR"/>
                <a:cs typeface="Noto Sans KR"/>
              </a:rPr>
              <a:t>하위 에이전트에게</a:t>
            </a:r>
          </a:p>
        </p:txBody>
      </p:sp>
      <p:sp>
        <p:nvSpPr>
          <p:cNvPr id="21" name="body · Codex: 추론 수준 ultra&#10;Claude Co"/>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Codex: 추론 수준 ultra</a:t>
            </a:r>
          </a:p>
          <a:p>
            <a:pPr algn="l">
              <a:lnSpc>
                <a:spcPts val="1904"/>
              </a:lnSpc>
              <a:spcBef>
                <a:spcPts val="0"/>
              </a:spcBef>
              <a:spcAft>
                <a:spcPts val="0"/>
              </a:spcAft>
            </a:pPr>
            <a:r>
              <a:rPr sz="1380" b="0">
                <a:solidFill>
                  <a:srgbClr val="17221B"/>
                </a:solidFill>
                <a:latin typeface="Noto Sans KR"/>
                <a:ea typeface="Noto Sans KR"/>
                <a:cs typeface="Noto Sans KR"/>
              </a:rPr>
              <a:t>Claude Code: /effort ultracode</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모아서 검수"/>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모아서 검수</a:t>
            </a:r>
          </a:p>
        </p:txBody>
      </p:sp>
      <p:sp>
        <p:nvSpPr>
          <p:cNvPr id="27" name="body · 결과를 합치고&#10;서로 교차 확인"/>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결과를 합치고</a:t>
            </a:r>
          </a:p>
          <a:p>
            <a:pPr algn="l">
              <a:lnSpc>
                <a:spcPts val="2815"/>
              </a:lnSpc>
              <a:spcBef>
                <a:spcPts val="0"/>
              </a:spcBef>
              <a:spcAft>
                <a:spcPts val="0"/>
              </a:spcAft>
            </a:pPr>
            <a:r>
              <a:rPr sz="2039" b="1">
                <a:solidFill>
                  <a:srgbClr val="FFFFFF"/>
                </a:solidFill>
                <a:latin typeface="Noto Sans KR"/>
                <a:ea typeface="Noto Sans KR"/>
                <a:cs typeface="Noto Sans KR"/>
              </a:rPr>
              <a:t>서로 교차 확인</a:t>
            </a:r>
          </a:p>
        </p:txBody>
      </p:sp>
      <p:sp>
        <p:nvSpPr>
          <p:cNvPr id="28" name="body · 마지막 확인은 사람이 합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마지막 확인은 사람이 합니다.</a:t>
            </a:r>
          </a:p>
        </p:txBody>
      </p:sp>
      <p:sp>
        <p:nvSpPr>
          <p:cNvPr id="29" name="Rounded Rectangle 28"/>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토큰을 몇 배 씁니다. 매장 파일 여러 개 대조처럼"/>
          <p:cNvSpPr txBox="1"/>
          <p:nvPr/>
        </p:nvSpPr>
        <p:spPr>
          <a:xfrm>
            <a:off x="1082040" y="6216548"/>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토큰을 몇 배 씁니다. 매장 파일 여러 개 대조처럼 나눌 수 있는 큰일에만 켜세요.</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도구 연결 · MCP와 스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도구 연결 · MCP와 스킬</a:t>
            </a:r>
          </a:p>
        </p:txBody>
      </p:sp>
      <p:sp>
        <p:nvSpPr>
          <p:cNvPr id="8" name="subtitle · 다섯 단계로 일을 맡기는 법을 봤으니, 이제 AI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단계로 일을 맡기는 법을 봤으니, 이제 AI 손에 쥐여 줄 도구를 봅니다</a:t>
            </a:r>
          </a:p>
        </p:txBody>
      </p:sp>
      <p:sp>
        <p:nvSpPr>
          <p:cNvPr id="9" name="Rounded Rectangle 8"/>
          <p:cNvSpPr/>
          <p:nvPr/>
        </p:nvSpPr>
        <p:spPr>
          <a:xfrm>
            <a:off x="609600" y="1996439"/>
            <a:ext cx="10972800" cy="731520"/>
          </a:xfrm>
          <a:prstGeom prst="roundRect">
            <a:avLst>
              <a:gd name="adj" fmla="val 18750"/>
            </a:avLst>
          </a:prstGeom>
          <a:solidFill>
            <a:srgbClr val="F3F7F3"/>
          </a:solidFill>
          <a:ln>
            <a:noFill/>
          </a:ln>
          <a:effectLst/>
        </p:spPr>
        <p:txBody>
          <a:bodyPr rtlCol="0" anchor="ctr"/>
          <a:lstStyle/>
          <a:p>
            <a:pPr algn="ctr"/>
          </a:p>
        </p:txBody>
      </p:sp>
      <p:sp>
        <p:nvSpPr>
          <p:cNvPr id="10" name="Rounded Rectangle 9"/>
          <p:cNvSpPr/>
          <p:nvPr/>
        </p:nvSpPr>
        <p:spPr>
          <a:xfrm>
            <a:off x="792480" y="213360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plug-FFFFFF.png"/>
          <p:cNvPicPr>
            <a:picLocks noChangeAspect="1"/>
          </p:cNvPicPr>
          <p:nvPr/>
        </p:nvPicPr>
        <p:blipFill>
          <a:blip r:embed="rId2"/>
          <a:srcRect/>
          <a:stretch>
            <a:fillRect/>
          </a:stretch>
        </p:blipFill>
        <p:spPr>
          <a:xfrm>
            <a:off x="902970" y="2244090"/>
            <a:ext cx="236220" cy="236220"/>
          </a:xfrm>
          <a:prstGeom prst="rect">
            <a:avLst/>
          </a:prstGeom>
        </p:spPr>
      </p:pic>
      <p:sp>
        <p:nvSpPr>
          <p:cNvPr id="12" name="body · AI가 혼자서는 못 보는 우리 자료와 앱, 반복하는"/>
          <p:cNvSpPr txBox="1"/>
          <p:nvPr/>
        </p:nvSpPr>
        <p:spPr>
          <a:xfrm>
            <a:off x="1402080" y="2164080"/>
            <a:ext cx="9982200" cy="4267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AI가 혼자서는 못 보는 우리 자료와 앱, 반복하는 일하는 방법을 연결합니다.</a:t>
            </a:r>
          </a:p>
        </p:txBody>
      </p:sp>
      <p:sp>
        <p:nvSpPr>
          <p:cNvPr id="13" name="Rounded Rectangle 12"/>
          <p:cNvSpPr/>
          <p:nvPr/>
        </p:nvSpPr>
        <p:spPr>
          <a:xfrm>
            <a:off x="6096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14" name="Rounded Rectangle 13"/>
          <p:cNvSpPr/>
          <p:nvPr/>
        </p:nvSpPr>
        <p:spPr>
          <a:xfrm>
            <a:off x="7772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15" name="Picture 14" descr="plug-FFFFFF.png"/>
          <p:cNvPicPr>
            <a:picLocks noChangeAspect="1"/>
          </p:cNvPicPr>
          <p:nvPr/>
        </p:nvPicPr>
        <p:blipFill>
          <a:blip r:embed="rId2"/>
          <a:srcRect/>
          <a:stretch>
            <a:fillRect/>
          </a:stretch>
        </p:blipFill>
        <p:spPr>
          <a:xfrm>
            <a:off x="887730" y="3188970"/>
            <a:ext cx="236220" cy="236220"/>
          </a:xfrm>
          <a:prstGeom prst="rect">
            <a:avLst/>
          </a:prstGeom>
        </p:spPr>
      </p:pic>
      <p:sp>
        <p:nvSpPr>
          <p:cNvPr id="16" name="body · MCP · 앱 연결"/>
          <p:cNvSpPr txBox="1"/>
          <p:nvPr/>
        </p:nvSpPr>
        <p:spPr>
          <a:xfrm>
            <a:off x="7772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MCP · 앱 연결</a:t>
            </a:r>
          </a:p>
        </p:txBody>
      </p:sp>
      <p:sp>
        <p:nvSpPr>
          <p:cNvPr id="17" name="body · 노션·드라이브·메일 같은&#10;서비스를 AI에 꽂는 공통"/>
          <p:cNvSpPr txBox="1"/>
          <p:nvPr/>
        </p:nvSpPr>
        <p:spPr>
          <a:xfrm>
            <a:off x="7772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노션·드라이브·메일 같은</a:t>
            </a:r>
          </a:p>
          <a:p>
            <a:pPr algn="l">
              <a:lnSpc>
                <a:spcPts val="1821"/>
              </a:lnSpc>
              <a:spcBef>
                <a:spcPts val="0"/>
              </a:spcBef>
              <a:spcAft>
                <a:spcPts val="0"/>
              </a:spcAft>
            </a:pPr>
            <a:r>
              <a:rPr sz="1320" b="0">
                <a:solidFill>
                  <a:srgbClr val="17221B"/>
                </a:solidFill>
                <a:latin typeface="Noto Sans KR"/>
                <a:ea typeface="Noto Sans KR"/>
                <a:cs typeface="Noto Sans KR"/>
              </a:rPr>
              <a:t>서비스를 AI에 꽂는 공통 규격</a:t>
            </a:r>
          </a:p>
        </p:txBody>
      </p:sp>
      <p:sp>
        <p:nvSpPr>
          <p:cNvPr id="18" name="Rounded Rectangle 17"/>
          <p:cNvSpPr/>
          <p:nvPr/>
        </p:nvSpPr>
        <p:spPr>
          <a:xfrm>
            <a:off x="7315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19" name="body · 「노션 회의록에서 결정 사항만 모아&#10;줘」"/>
          <p:cNvSpPr txBox="1"/>
          <p:nvPr/>
        </p:nvSpPr>
        <p:spPr>
          <a:xfrm>
            <a:off x="838200" y="5126583"/>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 회의록에서 결정 사항만 모아</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20" name="Rounded Rectangle 19"/>
          <p:cNvSpPr/>
          <p:nvPr/>
        </p:nvSpPr>
        <p:spPr>
          <a:xfrm>
            <a:off x="33909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1" name="Rounded Rectangle 20"/>
          <p:cNvSpPr/>
          <p:nvPr/>
        </p:nvSpPr>
        <p:spPr>
          <a:xfrm>
            <a:off x="35585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2" name="Picture 21" descr="brain-FFFFFF.png"/>
          <p:cNvPicPr>
            <a:picLocks noChangeAspect="1"/>
          </p:cNvPicPr>
          <p:nvPr/>
        </p:nvPicPr>
        <p:blipFill>
          <a:blip r:embed="rId3"/>
          <a:srcRect/>
          <a:stretch>
            <a:fillRect/>
          </a:stretch>
        </p:blipFill>
        <p:spPr>
          <a:xfrm>
            <a:off x="3669030" y="3188970"/>
            <a:ext cx="236220" cy="236220"/>
          </a:xfrm>
          <a:prstGeom prst="rect">
            <a:avLst/>
          </a:prstGeom>
        </p:spPr>
      </p:pic>
      <p:sp>
        <p:nvSpPr>
          <p:cNvPr id="23" name="body · 메모리"/>
          <p:cNvSpPr txBox="1"/>
          <p:nvPr/>
        </p:nvSpPr>
        <p:spPr>
          <a:xfrm>
            <a:off x="35585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메모리</a:t>
            </a:r>
          </a:p>
        </p:txBody>
      </p:sp>
      <p:sp>
        <p:nvSpPr>
          <p:cNvPr id="24" name="body · 지난 대화에서 알게 된 것을&#10;기억해 다음 답에 반영"/>
          <p:cNvSpPr txBox="1"/>
          <p:nvPr/>
        </p:nvSpPr>
        <p:spPr>
          <a:xfrm>
            <a:off x="35585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지난 대화에서 알게 된 것을</a:t>
            </a:r>
          </a:p>
          <a:p>
            <a:pPr algn="l">
              <a:lnSpc>
                <a:spcPts val="1821"/>
              </a:lnSpc>
              <a:spcBef>
                <a:spcPts val="0"/>
              </a:spcBef>
              <a:spcAft>
                <a:spcPts val="0"/>
              </a:spcAft>
            </a:pPr>
            <a:r>
              <a:rPr sz="1320" b="0">
                <a:solidFill>
                  <a:srgbClr val="17221B"/>
                </a:solidFill>
                <a:latin typeface="Noto Sans KR"/>
                <a:ea typeface="Noto Sans KR"/>
                <a:cs typeface="Noto Sans KR"/>
              </a:rPr>
              <a:t>기억해 다음 답에 반영</a:t>
            </a:r>
          </a:p>
        </p:txBody>
      </p:sp>
      <p:sp>
        <p:nvSpPr>
          <p:cNvPr id="25" name="Rounded Rectangle 24"/>
          <p:cNvSpPr/>
          <p:nvPr/>
        </p:nvSpPr>
        <p:spPr>
          <a:xfrm>
            <a:off x="35128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26" name="body · 「지난번 말한 보고 양식대로 해&#10;줘」"/>
          <p:cNvSpPr txBox="1"/>
          <p:nvPr/>
        </p:nvSpPr>
        <p:spPr>
          <a:xfrm>
            <a:off x="3619500" y="5126583"/>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「지난번 말한 보고 양식대로 해</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27" name="Rounded Rectangle 26"/>
          <p:cNvSpPr/>
          <p:nvPr/>
        </p:nvSpPr>
        <p:spPr>
          <a:xfrm>
            <a:off x="61722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8" name="Rounded Rectangle 27"/>
          <p:cNvSpPr/>
          <p:nvPr/>
        </p:nvSpPr>
        <p:spPr>
          <a:xfrm>
            <a:off x="63398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6450330" y="3188970"/>
            <a:ext cx="236220" cy="236220"/>
          </a:xfrm>
          <a:prstGeom prst="rect">
            <a:avLst/>
          </a:prstGeom>
        </p:spPr>
      </p:pic>
      <p:sp>
        <p:nvSpPr>
          <p:cNvPr id="30" name="body · 컴퓨터 사용"/>
          <p:cNvSpPr txBox="1"/>
          <p:nvPr/>
        </p:nvSpPr>
        <p:spPr>
          <a:xfrm>
            <a:off x="63398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컴퓨터 사용</a:t>
            </a:r>
          </a:p>
        </p:txBody>
      </p:sp>
      <p:sp>
        <p:nvSpPr>
          <p:cNvPr id="31" name="body · 화면을 보고 마우스·키보드로&#10;앱을 직접 조작"/>
          <p:cNvSpPr txBox="1"/>
          <p:nvPr/>
        </p:nvSpPr>
        <p:spPr>
          <a:xfrm>
            <a:off x="63398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화면을 보고 마우스·키보드로</a:t>
            </a:r>
          </a:p>
          <a:p>
            <a:pPr algn="l">
              <a:lnSpc>
                <a:spcPts val="1821"/>
              </a:lnSpc>
              <a:spcBef>
                <a:spcPts val="0"/>
              </a:spcBef>
              <a:spcAft>
                <a:spcPts val="0"/>
              </a:spcAft>
            </a:pPr>
            <a:r>
              <a:rPr sz="1320" b="0">
                <a:solidFill>
                  <a:srgbClr val="17221B"/>
                </a:solidFill>
                <a:latin typeface="Noto Sans KR"/>
                <a:ea typeface="Noto Sans KR"/>
                <a:cs typeface="Noto Sans KR"/>
              </a:rPr>
              <a:t>앱을 직접 조작</a:t>
            </a:r>
          </a:p>
        </p:txBody>
      </p:sp>
      <p:sp>
        <p:nvSpPr>
          <p:cNvPr id="32" name="Rounded Rectangle 31"/>
          <p:cNvSpPr/>
          <p:nvPr/>
        </p:nvSpPr>
        <p:spPr>
          <a:xfrm>
            <a:off x="62941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33" name="body · 「계산기로 총액을 구해 줘」"/>
          <p:cNvSpPr txBox="1"/>
          <p:nvPr/>
        </p:nvSpPr>
        <p:spPr>
          <a:xfrm>
            <a:off x="6400800" y="5226481"/>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「계산기로 총액을 구해 줘」</a:t>
            </a:r>
          </a:p>
        </p:txBody>
      </p:sp>
      <p:sp>
        <p:nvSpPr>
          <p:cNvPr id="34" name="Rounded Rectangle 33"/>
          <p:cNvSpPr/>
          <p:nvPr/>
        </p:nvSpPr>
        <p:spPr>
          <a:xfrm>
            <a:off x="8953500" y="2895600"/>
            <a:ext cx="2628900" cy="2895600"/>
          </a:xfrm>
          <a:prstGeom prst="roundRect">
            <a:avLst>
              <a:gd name="adj" fmla="val 5217"/>
            </a:avLst>
          </a:prstGeom>
          <a:solidFill>
            <a:srgbClr val="1D4430"/>
          </a:solidFill>
          <a:ln>
            <a:noFill/>
          </a:ln>
          <a:effectLst/>
        </p:spPr>
        <p:txBody>
          <a:bodyPr rtlCol="0" anchor="ctr"/>
          <a:lstStyle/>
          <a:p>
            <a:pPr algn="ctr"/>
          </a:p>
        </p:txBody>
      </p:sp>
      <p:sp>
        <p:nvSpPr>
          <p:cNvPr id="35" name="Rounded Rectangle 34"/>
          <p:cNvSpPr/>
          <p:nvPr/>
        </p:nvSpPr>
        <p:spPr>
          <a:xfrm>
            <a:off x="9121140" y="3078480"/>
            <a:ext cx="457200" cy="457200"/>
          </a:xfrm>
          <a:prstGeom prst="roundRect">
            <a:avLst>
              <a:gd name="adj" fmla="val 50000"/>
            </a:avLst>
          </a:prstGeom>
          <a:solidFill>
            <a:srgbClr val="9FCF94"/>
          </a:solidFill>
          <a:ln>
            <a:noFill/>
          </a:ln>
          <a:effectLst/>
        </p:spPr>
        <p:txBody>
          <a:bodyPr rtlCol="0" anchor="ctr"/>
          <a:lstStyle/>
          <a:p>
            <a:pPr algn="ctr"/>
          </a:p>
        </p:txBody>
      </p:sp>
      <p:pic>
        <p:nvPicPr>
          <p:cNvPr id="36" name="Picture 35" descr="package-1D4430.png"/>
          <p:cNvPicPr>
            <a:picLocks noChangeAspect="1"/>
          </p:cNvPicPr>
          <p:nvPr/>
        </p:nvPicPr>
        <p:blipFill>
          <a:blip r:embed="rId5"/>
          <a:srcRect/>
          <a:stretch>
            <a:fillRect/>
          </a:stretch>
        </p:blipFill>
        <p:spPr>
          <a:xfrm>
            <a:off x="9231630" y="3188970"/>
            <a:ext cx="236220" cy="236220"/>
          </a:xfrm>
          <a:prstGeom prst="rect">
            <a:avLst/>
          </a:prstGeom>
        </p:spPr>
      </p:pic>
      <p:sp>
        <p:nvSpPr>
          <p:cNvPr id="37" name="body · 스킬"/>
          <p:cNvSpPr txBox="1"/>
          <p:nvPr/>
        </p:nvSpPr>
        <p:spPr>
          <a:xfrm>
            <a:off x="91211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스킬</a:t>
            </a:r>
          </a:p>
        </p:txBody>
      </p:sp>
      <p:sp>
        <p:nvSpPr>
          <p:cNvPr id="38" name="body · 엑셀·PPT·그림처럼 일하는&#10;방법을 담은 설명서 파"/>
          <p:cNvSpPr txBox="1"/>
          <p:nvPr/>
        </p:nvSpPr>
        <p:spPr>
          <a:xfrm>
            <a:off x="91211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엑셀·PPT·그림처럼 일하는</a:t>
            </a:r>
          </a:p>
          <a:p>
            <a:pPr algn="l">
              <a:lnSpc>
                <a:spcPts val="1821"/>
              </a:lnSpc>
              <a:spcBef>
                <a:spcPts val="0"/>
              </a:spcBef>
              <a:spcAft>
                <a:spcPts val="0"/>
              </a:spcAft>
            </a:pPr>
            <a:r>
              <a:rPr sz="1320" b="0">
                <a:solidFill>
                  <a:srgbClr val="E4EFE6"/>
                </a:solidFill>
                <a:latin typeface="Noto Sans KR"/>
                <a:ea typeface="Noto Sans KR"/>
                <a:cs typeface="Noto Sans KR"/>
              </a:rPr>
              <a:t>방법을 담은 설명서 파일</a:t>
            </a:r>
          </a:p>
        </p:txBody>
      </p:sp>
      <p:sp>
        <p:nvSpPr>
          <p:cNvPr id="39" name="Rounded Rectangle 38"/>
          <p:cNvSpPr/>
          <p:nvPr/>
        </p:nvSpPr>
        <p:spPr>
          <a:xfrm>
            <a:off x="9075420" y="4983480"/>
            <a:ext cx="2385060" cy="685800"/>
          </a:xfrm>
          <a:prstGeom prst="roundRect">
            <a:avLst>
              <a:gd name="adj" fmla="val 13333"/>
            </a:avLst>
          </a:prstGeom>
          <a:solidFill>
            <a:srgbClr val="24402F"/>
          </a:solidFill>
          <a:ln>
            <a:noFill/>
          </a:ln>
          <a:effectLst/>
        </p:spPr>
        <p:txBody>
          <a:bodyPr rtlCol="0" anchor="ctr"/>
          <a:lstStyle/>
          <a:p>
            <a:pPr algn="ctr"/>
          </a:p>
        </p:txBody>
      </p:sp>
      <p:sp>
        <p:nvSpPr>
          <p:cNvPr id="40" name="body · 「엑셀 스킬로 요약 시트를 만들어&#10;줘」"/>
          <p:cNvSpPr txBox="1"/>
          <p:nvPr/>
        </p:nvSpPr>
        <p:spPr>
          <a:xfrm>
            <a:off x="9182100" y="5126583"/>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9FCF94"/>
                </a:solidFill>
                <a:latin typeface="Noto Sans KR"/>
                <a:ea typeface="Noto Sans KR"/>
                <a:cs typeface="Noto Sans KR"/>
              </a:rPr>
              <a:t>「엑셀 스킬로 요약 시트를 만들어</a:t>
            </a:r>
          </a:p>
          <a:p>
            <a:pPr algn="l">
              <a:lnSpc>
                <a:spcPts val="1573"/>
              </a:lnSpc>
              <a:spcBef>
                <a:spcPts val="0"/>
              </a:spcBef>
              <a:spcAft>
                <a:spcPts val="0"/>
              </a:spcAft>
            </a:pPr>
            <a:r>
              <a:rPr sz="1140" b="1">
                <a:solidFill>
                  <a:srgbClr val="9FCF94"/>
                </a:solidFill>
                <a:latin typeface="Noto Sans KR"/>
                <a:ea typeface="Noto Sans KR"/>
                <a:cs typeface="Noto Sans KR"/>
              </a:rPr>
              <a:t>줘」</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7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95400" y="1324051"/>
            <a:ext cx="5181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12" name="body · Model Context Protocol"/>
          <p:cNvSpPr txBox="1"/>
          <p:nvPr/>
        </p:nvSpPr>
        <p:spPr>
          <a:xfrm>
            <a:off x="1905000" y="1354150"/>
            <a:ext cx="95250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63036"/>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8788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7744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3563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12039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 연결 방"/>
          <p:cNvSpPr txBox="1"/>
          <p:nvPr/>
        </p:nvSpPr>
        <p:spPr>
          <a:xfrm>
            <a:off x="7239000" y="340995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 연결 방식이 정해져</a:t>
            </a:r>
          </a:p>
          <a:p>
            <a:pPr algn="l">
              <a:lnSpc>
                <a:spcPts val="1821"/>
              </a:lnSpc>
              <a:spcBef>
                <a:spcPts val="0"/>
              </a:spcBef>
              <a:spcAft>
                <a:spcPts val="0"/>
              </a:spcAft>
            </a:pPr>
            <a:r>
              <a:rPr sz="1320" b="0">
                <a:solidFill>
                  <a:srgbClr val="17221B"/>
                </a:solidFill>
                <a:latin typeface="Noto Sans KR"/>
                <a:ea typeface="Noto Sans KR"/>
                <a:cs typeface="Noto Sans KR"/>
              </a:rPr>
              <a:t>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6814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5290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4246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8541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7497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086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216548"/>
            <a:ext cx="7429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37616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216548"/>
            <a:ext cx="6797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7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95400" y="1366113"/>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컴퓨터 사용</a:t>
            </a:r>
          </a:p>
        </p:txBody>
      </p:sp>
      <p:sp>
        <p:nvSpPr>
          <p:cNvPr id="12" name="body · Computer Use"/>
          <p:cNvSpPr txBox="1"/>
          <p:nvPr/>
        </p:nvSpPr>
        <p:spPr>
          <a:xfrm>
            <a:off x="2385060" y="1396212"/>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48200"/>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 화면을&#10;대신 클릭·입력"/>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 화면을</a:t>
            </a:r>
          </a:p>
          <a:p>
            <a:pPr algn="l">
              <a:lnSpc>
                <a:spcPts val="1738"/>
              </a:lnSpc>
              <a:spcBef>
                <a:spcPts val="0"/>
              </a:spcBef>
              <a:spcAft>
                <a:spcPts val="0"/>
              </a:spcAft>
            </a:pPr>
            <a:r>
              <a:rPr sz="1260" b="0">
                <a:solidFill>
                  <a:srgbClr val="17221B"/>
                </a:solidFill>
                <a:latin typeface="Noto Sans KR"/>
                <a:ea typeface="Noto Sans KR"/>
                <a:cs typeface="Noto Sans KR"/>
              </a:rPr>
              <a:t>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 Excel을 직접&#10;조작"/>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 Excel을 직접</a:t>
            </a:r>
          </a:p>
          <a:p>
            <a:pPr algn="l">
              <a:lnSpc>
                <a:spcPts val="1738"/>
              </a:lnSpc>
              <a:spcBef>
                <a:spcPts val="0"/>
              </a:spcBef>
              <a:spcAft>
                <a:spcPts val="0"/>
              </a:spcAft>
            </a:pPr>
            <a:r>
              <a:rPr sz="1260" b="0">
                <a:solidFill>
                  <a:srgbClr val="17221B"/>
                </a:solidFill>
                <a:latin typeface="Noto Sans KR"/>
                <a:ea typeface="Noto Sans KR"/>
                <a:cs typeface="Noto Sans KR"/>
              </a:rPr>
              <a:t>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2846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216548"/>
            <a:ext cx="6149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3360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8096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간"/>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 계산기 버튼을</a:t>
            </a:r>
          </a:p>
          <a:p>
            <a:pPr algn="l">
              <a:lnSpc>
                <a:spcPts val="2483"/>
              </a:lnSpc>
              <a:spcBef>
                <a:spcPts val="0"/>
              </a:spcBef>
              <a:spcAft>
                <a:spcPts val="0"/>
              </a:spcAft>
            </a:pPr>
            <a:r>
              <a:rPr sz="1800" b="0">
                <a:solidFill>
                  <a:srgbClr val="E4EFE6"/>
                </a:solidFill>
                <a:latin typeface="Noto Sans KR"/>
                <a:ea typeface="Noto Sans KR"/>
                <a:cs typeface="Noto Sans KR"/>
              </a:rPr>
              <a:t>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a:t>
            </a:r>
          </a:p>
          <a:p>
            <a:pPr algn="l">
              <a:lnSpc>
                <a:spcPts val="2483"/>
              </a:lnSpc>
              <a:spcBef>
                <a:spcPts val="0"/>
              </a:spcBef>
              <a:spcAft>
                <a:spcPts val="0"/>
              </a:spcAft>
            </a:pPr>
            <a:r>
              <a:rPr sz="1800" b="0">
                <a:solidFill>
                  <a:srgbClr val="E4EFE6"/>
                </a:solidFill>
                <a:latin typeface="Noto Sans KR"/>
                <a:ea typeface="Noto Sans KR"/>
                <a:cs typeface="Noto Sans KR"/>
              </a:rPr>
              <a:t>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 어디서</a:t>
            </a:r>
          </a:p>
          <a:p>
            <a:pPr algn="l">
              <a:lnSpc>
                <a:spcPts val="2483"/>
              </a:lnSpc>
              <a:spcBef>
                <a:spcPts val="0"/>
              </a:spcBef>
              <a:spcAft>
                <a:spcPts val="0"/>
              </a:spcAft>
            </a:pPr>
            <a:r>
              <a:rPr sz="1800" b="0">
                <a:solidFill>
                  <a:srgbClr val="E4EFE6"/>
                </a:solidFill>
                <a:latin typeface="Noto Sans KR"/>
                <a:ea typeface="Noto Sans KR"/>
                <a:cs typeface="Noto Sans KR"/>
              </a:rPr>
              <a:t>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7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95400" y="136611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12" name="body · Skill · 에이전트의 추가 도구"/>
          <p:cNvSpPr txBox="1"/>
          <p:nvPr/>
        </p:nvSpPr>
        <p:spPr>
          <a:xfrm>
            <a:off x="1844040" y="1396212"/>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3017520"/>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44240"/>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79520"/>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98520"/>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4884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3316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216548"/>
            <a:ext cx="5654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95400" y="1324051"/>
            <a:ext cx="9905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SKILL.md</a:t>
            </a:r>
          </a:p>
        </p:txBody>
      </p:sp>
      <p:sp>
        <p:nvSpPr>
          <p:cNvPr id="12" name="body · 스킬 설명서 파일"/>
          <p:cNvSpPr txBox="1"/>
          <p:nvPr/>
        </p:nvSpPr>
        <p:spPr>
          <a:xfrm>
            <a:off x="2377440" y="1354150"/>
            <a:ext cx="90525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 Use when the user types</a:t>
            </a:r>
          </a:p>
          <a:p>
            <a:pPr algn="l">
              <a:lnSpc>
                <a:spcPts val="1655"/>
              </a:lnSpc>
              <a:spcBef>
                <a:spcPts val="0"/>
              </a:spcBef>
              <a:spcAft>
                <a:spcPts val="0"/>
              </a:spcAft>
            </a:pPr>
            <a:r>
              <a:rPr sz="1200" b="0">
                <a:solidFill>
                  <a:srgbClr val="E4EFE6"/>
                </a:solidFill>
                <a:latin typeface="Noto Sans KR"/>
                <a:ea typeface="Noto Sans KR"/>
                <a:cs typeface="Noto Sans KR"/>
              </a:rPr>
              <a:t>/eli5 &lt;topic&gt; or asks for a dead-simple picture explainer of how something</a:t>
            </a:r>
          </a:p>
          <a:p>
            <a:pPr algn="l">
              <a:lnSpc>
                <a:spcPts val="1655"/>
              </a:lnSpc>
              <a:spcBef>
                <a:spcPts val="0"/>
              </a:spcBef>
              <a:spcAft>
                <a:spcPts val="0"/>
              </a:spcAft>
            </a:pPr>
            <a:r>
              <a:rPr sz="1200" b="0">
                <a:solidFill>
                  <a:srgbClr val="E4EFE6"/>
                </a:solidFill>
                <a:latin typeface="Noto Sans KR"/>
                <a:ea typeface="Noto Sans KR"/>
                <a:cs typeface="Noto Sans KR"/>
              </a:rPr>
              <a:t>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60975"/>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24172"/>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 AI가 알아서&#10;꺼내 "/>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 AI가 알아서</a:t>
            </a:r>
          </a:p>
          <a:p>
            <a:pPr algn="l">
              <a:lnSpc>
                <a:spcPts val="1987"/>
              </a:lnSpc>
              <a:spcBef>
                <a:spcPts val="0"/>
              </a:spcBef>
              <a:spcAft>
                <a:spcPts val="0"/>
              </a:spcAft>
            </a:pPr>
            <a:r>
              <a:rPr sz="1439" b="0">
                <a:solidFill>
                  <a:srgbClr val="17221B"/>
                </a:solidFill>
                <a:latin typeface="Noto Sans KR"/>
                <a:ea typeface="Noto Sans KR"/>
                <a:cs typeface="Noto Sans KR"/>
              </a:rPr>
              <a:t>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23660"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216548"/>
            <a:ext cx="5844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7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95400" y="1366113"/>
            <a:ext cx="502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ELI5</a:t>
            </a:r>
          </a:p>
        </p:txBody>
      </p:sp>
      <p:sp>
        <p:nvSpPr>
          <p:cNvPr id="12" name="body · Explain Like I'm 5"/>
          <p:cNvSpPr txBox="1"/>
          <p:nvPr/>
        </p:nvSpPr>
        <p:spPr>
          <a:xfrm>
            <a:off x="1889760" y="1396212"/>
            <a:ext cx="9540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423160"/>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26080"/>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91939"/>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54780" y="4404360"/>
            <a:ext cx="3025140"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122420" y="4495800"/>
            <a:ext cx="2689860"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5020055"/>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 짝이 없는</a:t>
            </a:r>
          </a:p>
          <a:p>
            <a:pPr algn="l">
              <a:lnSpc>
                <a:spcPts val="1821"/>
              </a:lnSpc>
              <a:spcBef>
                <a:spcPts val="0"/>
              </a:spcBef>
              <a:spcAft>
                <a:spcPts val="0"/>
              </a:spcAft>
            </a:pPr>
            <a:r>
              <a:rPr sz="1320" b="0">
                <a:solidFill>
                  <a:srgbClr val="17221B"/>
                </a:solidFill>
                <a:latin typeface="Noto Sans KR"/>
                <a:ea typeface="Noto Sans KR"/>
                <a:cs typeface="Noto Sans KR"/>
              </a:rPr>
              <a:t>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1"/>
          <p:cNvSpPr txBox="1"/>
          <p:nvPr/>
        </p:nvSpPr>
        <p:spPr>
          <a:xfrm>
            <a:off x="7543800" y="24079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6982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4320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body · 2"/>
          <p:cNvSpPr txBox="1"/>
          <p:nvPr/>
        </p:nvSpPr>
        <p:spPr>
          <a:xfrm>
            <a:off x="7543800" y="331089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7279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4617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body · 3"/>
          <p:cNvSpPr txBox="1"/>
          <p:nvPr/>
        </p:nvSpPr>
        <p:spPr>
          <a:xfrm>
            <a:off x="7543800" y="42138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7576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4914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body · 4"/>
          <p:cNvSpPr txBox="1"/>
          <p:nvPr/>
        </p:nvSpPr>
        <p:spPr>
          <a:xfrm>
            <a:off x="7543800" y="511683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7873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5211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216548"/>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7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95400" y="1366113"/>
            <a:ext cx="6705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슬롭</a:t>
            </a:r>
          </a:p>
        </p:txBody>
      </p:sp>
      <p:sp>
        <p:nvSpPr>
          <p:cNvPr id="12" name="body · AI Slop"/>
          <p:cNvSpPr txBox="1"/>
          <p:nvPr/>
        </p:nvSpPr>
        <p:spPr>
          <a:xfrm>
            <a:off x="2057400" y="1396212"/>
            <a:ext cx="93726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 표현을&#10;고쳐 줘」"/>
          <p:cNvSpPr txBox="1"/>
          <p:nvPr/>
        </p:nvSpPr>
        <p:spPr>
          <a:xfrm>
            <a:off x="83820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 표현을</a:t>
            </a:r>
          </a:p>
          <a:p>
            <a:pPr algn="l">
              <a:lnSpc>
                <a:spcPts val="1573"/>
              </a:lnSpc>
              <a:spcBef>
                <a:spcPts val="0"/>
              </a:spcBef>
              <a:spcAft>
                <a:spcPts val="0"/>
              </a:spcAft>
            </a:pPr>
            <a:r>
              <a:rPr sz="1140" b="1">
                <a:solidFill>
                  <a:srgbClr val="2F7048"/>
                </a:solidFill>
                <a:latin typeface="Noto Sans KR"/>
                <a:ea typeface="Noto Sans KR"/>
                <a:cs typeface="Noto Sans KR"/>
              </a:rPr>
              <a:t>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 수식으로&#10;만들어 줘」"/>
          <p:cNvSpPr txBox="1"/>
          <p:nvPr/>
        </p:nvSpPr>
        <p:spPr>
          <a:xfrm>
            <a:off x="362712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 수식으로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 PPT를&#10;만들어 줘」"/>
          <p:cNvSpPr txBox="1"/>
          <p:nvPr/>
        </p:nvSpPr>
        <p:spPr>
          <a:xfrm>
            <a:off x="641604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 PPT를</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imagegen.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이미지 만들기 (imagegen)"/>
          <p:cNvSpPr txBox="1"/>
          <p:nvPr/>
        </p:nvSpPr>
        <p:spPr>
          <a:xfrm>
            <a:off x="9128760" y="4114800"/>
            <a:ext cx="230124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이미지 만들기 (imagegen)</a:t>
            </a:r>
          </a:p>
        </p:txBody>
      </p:sp>
      <p:sp>
        <p:nvSpPr>
          <p:cNvPr id="39" name="body · 포스터·삽화·아이콘 같은 그림을&#10;만들고 고쳐 파일로"/>
          <p:cNvSpPr txBox="1"/>
          <p:nvPr/>
        </p:nvSpPr>
        <p:spPr>
          <a:xfrm>
            <a:off x="912876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포스터·삽화·아이콘 같은 그림을</a:t>
            </a:r>
          </a:p>
          <a:p>
            <a:pPr algn="l">
              <a:lnSpc>
                <a:spcPts val="1655"/>
              </a:lnSpc>
              <a:spcBef>
                <a:spcPts val="0"/>
              </a:spcBef>
              <a:spcAft>
                <a:spcPts val="0"/>
              </a:spcAft>
            </a:pPr>
            <a:r>
              <a:rPr sz="1200" b="0">
                <a:solidFill>
                  <a:srgbClr val="17221B"/>
                </a:solidFill>
                <a:latin typeface="Noto Sans KR"/>
                <a:ea typeface="Noto Sans KR"/>
                <a:cs typeface="Noto Sans KR"/>
              </a:rPr>
              <a:t>만들고 고쳐 파일로 저장합니다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행사 포스터 그림을 한 장 만들어&#10;줘」"/>
          <p:cNvSpPr txBox="1"/>
          <p:nvPr/>
        </p:nvSpPr>
        <p:spPr>
          <a:xfrm>
            <a:off x="920496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그림을 한 장 만들어</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42" name="Rounded Rectangle 41"/>
          <p:cNvSpPr/>
          <p:nvPr/>
        </p:nvSpPr>
        <p:spPr>
          <a:xfrm>
            <a:off x="609600" y="6111240"/>
            <a:ext cx="7726679"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216548"/>
            <a:ext cx="7147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7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95400" y="1366113"/>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탑다운 학습</a:t>
            </a:r>
          </a:p>
        </p:txBody>
      </p:sp>
      <p:sp>
        <p:nvSpPr>
          <p:cNvPr id="12" name="body · Top-down Learning"/>
          <p:cNvSpPr txBox="1"/>
          <p:nvPr/>
        </p:nvSpPr>
        <p:spPr>
          <a:xfrm>
            <a:off x="2385060" y="1396212"/>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423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850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850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3944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1013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1013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5572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8176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8176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720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339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339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882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501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501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05060" y="2331720"/>
            <a:ext cx="1470660"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05060" y="236982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 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 고교중퇴자가 오픈AI</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연구원이 되기까지</a:t>
            </a:r>
          </a:p>
        </p:txBody>
      </p:sp>
      <p:sp>
        <p:nvSpPr>
          <p:cNvPr id="47" name="caption · 토크아이티 · 가브리엘 페테르슨(OpenAI) 인터"/>
          <p:cNvSpPr txBox="1"/>
          <p:nvPr/>
        </p:nvSpPr>
        <p:spPr>
          <a:xfrm>
            <a:off x="7376160" y="520065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 채워 가는&#10;방법("/>
          <p:cNvSpPr txBox="1"/>
          <p:nvPr/>
        </p:nvSpPr>
        <p:spPr>
          <a:xfrm>
            <a:off x="7635240" y="5444490"/>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 채워 가는</a:t>
            </a:r>
          </a:p>
          <a:p>
            <a:pPr algn="l">
              <a:lnSpc>
                <a:spcPts val="1738"/>
              </a:lnSpc>
              <a:spcBef>
                <a:spcPts val="0"/>
              </a:spcBef>
              <a:spcAft>
                <a:spcPts val="0"/>
              </a:spcAft>
            </a:pPr>
            <a:r>
              <a:rPr sz="1260" b="0">
                <a:solidFill>
                  <a:srgbClr val="17221B"/>
                </a:solidFill>
                <a:latin typeface="Noto Sans KR"/>
                <a:ea typeface="Noto Sans KR"/>
                <a:cs typeface="Noto Sans KR"/>
              </a:rPr>
              <a:t>방법(top-down)</a:t>
            </a:r>
          </a:p>
        </p:txBody>
      </p:sp>
      <p:sp>
        <p:nvSpPr>
          <p:cNvPr id="50" name="Rounded Rectangle 49"/>
          <p:cNvSpPr/>
          <p:nvPr/>
        </p:nvSpPr>
        <p:spPr>
          <a:xfrm>
            <a:off x="609600" y="6111240"/>
            <a:ext cx="49758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216548"/>
            <a:ext cx="43967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8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질문 스킬</a:t>
            </a:r>
          </a:p>
        </p:txBody>
      </p:sp>
      <p:sp>
        <p:nvSpPr>
          <p:cNvPr id="12" name="body · Prompting · 묻는 요령"/>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66572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216548"/>
            <a:ext cx="7086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8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a:t>
            </a:r>
          </a:p>
        </p:txBody>
      </p:sp>
      <p:sp>
        <p:nvSpPr>
          <p:cNvPr id="12" name="body · Plugin"/>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48200"/>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29234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216548"/>
            <a:ext cx="6713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8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2260"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26388"/>
            <a:ext cx="2613660"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828800"/>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44240"/>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sheet-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엑셀 매칭"/>
          <p:cNvSpPr txBox="1"/>
          <p:nvPr/>
        </p:nvSpPr>
        <p:spPr>
          <a:xfrm>
            <a:off x="12496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매칭</a:t>
            </a:r>
          </a:p>
        </p:txBody>
      </p:sp>
      <p:sp>
        <p:nvSpPr>
          <p:cNvPr id="11" name="body · 나뉜 시트를 ID로&#10;맞춰 정리"/>
          <p:cNvSpPr txBox="1"/>
          <p:nvPr/>
        </p:nvSpPr>
        <p:spPr>
          <a:xfrm>
            <a:off x="7772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나뉜 시트를 ID로</a:t>
            </a:r>
          </a:p>
          <a:p>
            <a:pPr algn="l">
              <a:lnSpc>
                <a:spcPts val="1738"/>
              </a:lnSpc>
              <a:spcBef>
                <a:spcPts val="0"/>
              </a:spcBef>
              <a:spcAft>
                <a:spcPts val="0"/>
              </a:spcAft>
            </a:pPr>
            <a:r>
              <a:rPr sz="1260" b="0">
                <a:solidFill>
                  <a:srgbClr val="D3E8D5"/>
                </a:solidFill>
                <a:latin typeface="Noto Sans KR"/>
                <a:ea typeface="Noto Sans KR"/>
                <a:cs typeface="Noto Sans KR"/>
              </a:rPr>
              <a:t>맞춰 정리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database-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자료 보호"/>
          <p:cNvSpPr txBox="1"/>
          <p:nvPr/>
        </p:nvSpPr>
        <p:spPr>
          <a:xfrm>
            <a:off x="34340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6" name="body · 개인정보는 가명으로&#10;연결표는 따로"/>
          <p:cNvSpPr txBox="1"/>
          <p:nvPr/>
        </p:nvSpPr>
        <p:spPr>
          <a:xfrm>
            <a:off x="29616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개인정보는 가명으로</a:t>
            </a:r>
          </a:p>
          <a:p>
            <a:pPr algn="l">
              <a:lnSpc>
                <a:spcPts val="1738"/>
              </a:lnSpc>
              <a:spcBef>
                <a:spcPts val="0"/>
              </a:spcBef>
              <a:spcAft>
                <a:spcPts val="0"/>
              </a:spcAft>
            </a:pPr>
            <a:r>
              <a:rPr sz="1260" b="0">
                <a:solidFill>
                  <a:srgbClr val="D3E8D5"/>
                </a:solidFill>
                <a:latin typeface="Noto Sans KR"/>
                <a:ea typeface="Noto Sans KR"/>
                <a:cs typeface="Noto Sans KR"/>
              </a:rPr>
              <a:t>연결표는 따로</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권한 확인 후&#10;작은 업무부터"/>
          <p:cNvSpPr txBox="1"/>
          <p:nvPr/>
        </p:nvSpPr>
        <p:spPr>
          <a:xfrm>
            <a:off x="51460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권한 확인 후</a:t>
            </a:r>
          </a:p>
          <a:p>
            <a:pPr algn="l">
              <a:lnSpc>
                <a:spcPts val="1738"/>
              </a:lnSpc>
              <a:spcBef>
                <a:spcPts val="0"/>
              </a:spcBef>
              <a:spcAft>
                <a:spcPts val="0"/>
              </a:spcAft>
            </a:pPr>
            <a:r>
              <a:rPr sz="1260" b="0">
                <a:solidFill>
                  <a:srgbClr val="D3E8D5"/>
                </a:solidFill>
                <a:latin typeface="Noto Sans KR"/>
                <a:ea typeface="Noto Sans KR"/>
                <a:cs typeface="Noto Sans KR"/>
              </a:rPr>
              <a:t>작은 업무부터</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55920"/>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상품인데 매장마다 이름과 코드가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상품인데 매장마다 이름과 코드가 다릅니다</a:t>
            </a:r>
          </a:p>
        </p:txBody>
      </p:sp>
      <p:sp>
        <p:nvSpPr>
          <p:cNvPr id="8" name="subtitle · 실제 업무 파일은 이렇습니다 · 같은 두부가 「유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실제 업무 파일은 이렇습니다 · 같은 두부가 「유기농 두부」「유기농두부」「두부 유기농」「0001」</a:t>
            </a:r>
          </a:p>
        </p:txBody>
      </p:sp>
      <p:sp>
        <p:nvSpPr>
          <p:cNvPr id="9" name="label · A매장 (표준 코드)"/>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A매장 (표준 코드)</a:t>
            </a:r>
          </a:p>
        </p:txBody>
      </p:sp>
      <p:sp>
        <p:nvSpPr>
          <p:cNvPr id="10" name="label · B매장 · C점"/>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B매장 · C점</a:t>
            </a:r>
          </a:p>
        </p:txBody>
      </p:sp>
      <p:sp>
        <p:nvSpPr>
          <p:cNvPr id="11" name="label · 왜 헷갈리나"/>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왜 헷갈리나</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package-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두부"/>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두부</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01 유기농 두부"/>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P01 유기농 두부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유기농두부 · 0001 두부 유기농"/>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유기농두부 · 0001 두부 유기농</a:t>
            </a:r>
          </a:p>
        </p:txBody>
      </p:sp>
      <p:sp>
        <p:nvSpPr>
          <p:cNvPr id="20" name="body · 띄어쓰기·순서만 다름"/>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띄어쓰기·순서만 다름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package-FFFFFF.png"/>
          <p:cNvPicPr>
            <a:picLocks noChangeAspect="1"/>
          </p:cNvPicPr>
          <p:nvPr/>
        </p:nvPicPr>
        <p:blipFill>
          <a:blip r:embed="rId2"/>
          <a:srcRect/>
          <a:stretch>
            <a:fillRect/>
          </a:stretch>
        </p:blipFill>
        <p:spPr>
          <a:xfrm>
            <a:off x="857250" y="3707129"/>
            <a:ext cx="205740" cy="205740"/>
          </a:xfrm>
          <a:prstGeom prst="rect">
            <a:avLst/>
          </a:prstGeom>
        </p:spPr>
      </p:pic>
      <p:sp>
        <p:nvSpPr>
          <p:cNvPr id="24" name="body · 콩나물"/>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콩나물</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02 무농약 콩나물"/>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P02 무농약 콩나물</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콩나물(무농약) · 0002 콩나물"/>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콩나물(무농약) · 0002 콩나물</a:t>
            </a:r>
          </a:p>
        </p:txBody>
      </p:sp>
      <p:sp>
        <p:nvSpPr>
          <p:cNvPr id="29" name="body · 「무농약」이 빠짐"/>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「무농약」이 빠짐</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ackage-FFFFFF.png"/>
          <p:cNvPicPr>
            <a:picLocks noChangeAspect="1"/>
          </p:cNvPicPr>
          <p:nvPr/>
        </p:nvPicPr>
        <p:blipFill>
          <a:blip r:embed="rId2"/>
          <a:srcRect/>
          <a:stretch>
            <a:fillRect/>
          </a:stretch>
        </p:blipFill>
        <p:spPr>
          <a:xfrm>
            <a:off x="857250" y="4575810"/>
            <a:ext cx="205740" cy="205740"/>
          </a:xfrm>
          <a:prstGeom prst="rect">
            <a:avLst/>
          </a:prstGeom>
        </p:spPr>
      </p:pic>
      <p:sp>
        <p:nvSpPr>
          <p:cNvPr id="33" name="body · 달걀"/>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달걀</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04 유정란 10구"/>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P04 유정란 10구</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유정란10구 · 0004 유정란 10알"/>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유정란10구 · 0004 유정란 10알</a:t>
            </a:r>
          </a:p>
        </p:txBody>
      </p:sp>
      <p:sp>
        <p:nvSpPr>
          <p:cNvPr id="38" name="body · 10구 = 10알"/>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10구 = 10알</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package-FFFFFF.png"/>
          <p:cNvPicPr>
            <a:picLocks noChangeAspect="1"/>
          </p:cNvPicPr>
          <p:nvPr/>
        </p:nvPicPr>
        <p:blipFill>
          <a:blip r:embed="rId2"/>
          <a:srcRect/>
          <a:stretch>
            <a:fillRect/>
          </a:stretch>
        </p:blipFill>
        <p:spPr>
          <a:xfrm>
            <a:off x="857250" y="5444490"/>
            <a:ext cx="205740" cy="205740"/>
          </a:xfrm>
          <a:prstGeom prst="rect">
            <a:avLst/>
          </a:prstGeom>
        </p:spPr>
      </p:pic>
      <p:sp>
        <p:nvSpPr>
          <p:cNvPr id="42" name="body · 기름"/>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기름</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05 국산 참기름"/>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P05 국산 참기름</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참기름 · 들기름(B에만)"/>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참기름 · 들기름(B에만)</a:t>
            </a:r>
          </a:p>
        </p:txBody>
      </p:sp>
      <p:sp>
        <p:nvSpPr>
          <p:cNvPr id="47" name="body · 비슷해도 다른 상품"/>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비슷해도 다른 상품</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8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게 같은 상품을 찾아 한 파일로 합치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같은 상품을 찾아 한 파일로 합치게 합니다</a:t>
            </a:r>
          </a:p>
        </p:txBody>
      </p:sp>
      <p:sp>
        <p:nvSpPr>
          <p:cNvPr id="8" name="subtitle · 요청문 하나로 · 표준 상품목록의 ID를 기준으로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요청문 하나로 · 표준 상품목록의 ID를 기준으로 맞추고 근거를 남기게 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표준 상품목록의 상품ID를 기준으로&#10;삼게 합니다."/>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표준 상품목록의 상품ID를 기준으로</a:t>
            </a:r>
          </a:p>
          <a:p>
            <a:pPr algn="l">
              <a:lnSpc>
                <a:spcPts val="2235"/>
              </a:lnSpc>
              <a:spcBef>
                <a:spcPts val="0"/>
              </a:spcBef>
              <a:spcAft>
                <a:spcPts val="0"/>
              </a:spcAft>
            </a:pPr>
            <a:r>
              <a:rPr sz="1620" b="0">
                <a:solidFill>
                  <a:srgbClr val="17221B"/>
                </a:solidFill>
                <a:latin typeface="Noto Sans KR"/>
                <a:ea typeface="Noto Sans KR"/>
                <a:cs typeface="Noto Sans KR"/>
              </a:rPr>
              <a:t>삼게 합니다.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AI가 이름의 띄어쓰기·순서·단위와&#10;단가를 비교해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AI가 이름의 띄어쓰기·순서·단위와</a:t>
            </a:r>
          </a:p>
          <a:p>
            <a:pPr algn="l">
              <a:lnSpc>
                <a:spcPts val="2235"/>
              </a:lnSpc>
              <a:spcBef>
                <a:spcPts val="0"/>
              </a:spcBef>
              <a:spcAft>
                <a:spcPts val="0"/>
              </a:spcAft>
            </a:pPr>
            <a:r>
              <a:rPr sz="1620" b="0">
                <a:solidFill>
                  <a:srgbClr val="17221B"/>
                </a:solidFill>
                <a:latin typeface="Noto Sans KR"/>
                <a:ea typeface="Noto Sans KR"/>
                <a:cs typeface="Noto Sans KR"/>
              </a:rPr>
              <a:t>단가를 비교해 같은 상품을 찾습니다.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확실하지 않은 건 [확인 필요]로 남기고,&#10;판단 근"/>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확실하지 않은 건 [확인 필요]로 남기고,</a:t>
            </a:r>
          </a:p>
          <a:p>
            <a:pPr algn="l">
              <a:lnSpc>
                <a:spcPts val="2235"/>
              </a:lnSpc>
              <a:spcBef>
                <a:spcPts val="0"/>
              </a:spcBef>
              <a:spcAft>
                <a:spcPts val="0"/>
              </a:spcAft>
            </a:pPr>
            <a:r>
              <a:rPr sz="1620" b="0">
                <a:solidFill>
                  <a:srgbClr val="17221B"/>
                </a:solidFill>
                <a:latin typeface="Noto Sans KR"/>
                <a:ea typeface="Noto Sans KR"/>
                <a:cs typeface="Noto Sans KR"/>
              </a:rPr>
              <a:t>판단 근거를 열로 적게 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4" name="label · 요청문 예시"/>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요청문 예시</a:t>
            </a:r>
          </a:p>
        </p:txBody>
      </p:sp>
      <p:sp>
        <p:nvSpPr>
          <p:cNvPr id="25" name="body · 입력자료의 세 매장 파일을 하나의 엑셀로 합쳐 줘."/>
          <p:cNvSpPr txBox="1"/>
          <p:nvPr/>
        </p:nvSpPr>
        <p:spPr>
          <a:xfrm>
            <a:off x="5303520" y="2468880"/>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세 매장 파일을 하나의 엑셀로 합쳐 줘.</a:t>
            </a:r>
          </a:p>
          <a:p>
            <a:pPr algn="l">
              <a:lnSpc>
                <a:spcPts val="2483"/>
              </a:lnSpc>
              <a:spcBef>
                <a:spcPts val="0"/>
              </a:spcBef>
              <a:spcAft>
                <a:spcPts val="0"/>
              </a:spcAft>
            </a:pPr>
            <a:r>
              <a:rPr sz="1800" b="0">
                <a:solidFill>
                  <a:srgbClr val="E4EFE6"/>
                </a:solidFill>
                <a:latin typeface="Noto Sans KR"/>
                <a:ea typeface="Noto Sans KR"/>
                <a:cs typeface="Noto Sans KR"/>
              </a:rPr>
              <a:t>매장마다 상품 이름과 코드가 조금씩 달라. 표준_상품목록의</a:t>
            </a:r>
          </a:p>
          <a:p>
            <a:pPr algn="l">
              <a:lnSpc>
                <a:spcPts val="2483"/>
              </a:lnSpc>
              <a:spcBef>
                <a:spcPts val="0"/>
              </a:spcBef>
              <a:spcAft>
                <a:spcPts val="0"/>
              </a:spcAft>
            </a:pPr>
            <a:r>
              <a:rPr sz="1800" b="0">
                <a:solidFill>
                  <a:srgbClr val="E4EFE6"/>
                </a:solidFill>
                <a:latin typeface="Noto Sans KR"/>
                <a:ea typeface="Noto Sans KR"/>
                <a:cs typeface="Noto Sans KR"/>
              </a:rPr>
              <a:t>상품ID 하나로 맞춰 줘.</a:t>
            </a:r>
          </a:p>
          <a:p>
            <a:pPr algn="l">
              <a:lnSpc>
                <a:spcPts val="2483"/>
              </a:lnSpc>
              <a:spcBef>
                <a:spcPts val="0"/>
              </a:spcBef>
              <a:spcAft>
                <a:spcPts val="0"/>
              </a:spcAft>
            </a:pPr>
            <a:r>
              <a:rPr sz="1800" b="0">
                <a:solidFill>
                  <a:srgbClr val="E4EFE6"/>
                </a:solidFill>
                <a:latin typeface="Noto Sans KR"/>
                <a:ea typeface="Noto Sans KR"/>
                <a:cs typeface="Noto Sans KR"/>
              </a:rPr>
              <a:t>어떻게 같은 상품이라고 판단했는지 근거를 적고, 확실하지 않은</a:t>
            </a:r>
          </a:p>
          <a:p>
            <a:pPr algn="l">
              <a:lnSpc>
                <a:spcPts val="2483"/>
              </a:lnSpc>
              <a:spcBef>
                <a:spcPts val="0"/>
              </a:spcBef>
              <a:spcAft>
                <a:spcPts val="0"/>
              </a:spcAft>
            </a:pPr>
            <a:r>
              <a:rPr sz="1800" b="0">
                <a:solidFill>
                  <a:srgbClr val="E4EFE6"/>
                </a:solidFill>
                <a:latin typeface="Noto Sans KR"/>
                <a:ea typeface="Noto Sans KR"/>
                <a:cs typeface="Noto Sans KR"/>
              </a:rPr>
              <a:t>건 [확인 필요]로 남겨.</a:t>
            </a:r>
          </a:p>
          <a:p>
            <a:pPr algn="l">
              <a:lnSpc>
                <a:spcPts val="2483"/>
              </a:lnSpc>
              <a:spcBef>
                <a:spcPts val="0"/>
              </a:spcBef>
              <a:spcAft>
                <a:spcPts val="0"/>
              </a:spcAft>
            </a:pPr>
            <a:r>
              <a:rPr sz="1800" b="0">
                <a:solidFill>
                  <a:srgbClr val="E4EFE6"/>
                </a:solidFill>
                <a:latin typeface="Noto Sans KR"/>
                <a:ea typeface="Noto Sans KR"/>
                <a:cs typeface="Noto Sans KR"/>
              </a:rPr>
              <a:t>원본은 고치지 말고 결과/9월_통합.xlsx로 저장해.</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세 파일 13건이 한 파일로 · 11건은 근거와 함"/>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파일 13건이 한 파일로 · 11건은 근거와 함께 확정, 2건은 [확인 필요]로 남았습니다.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8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가 맞춘 결과 · 근거를 남기고, 모르면 멈춥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맞춘 결과 · 근거를 남기고, 모르면 멈춥니다</a:t>
            </a:r>
          </a:p>
        </p:txBody>
      </p:sp>
      <p:sp>
        <p:nvSpPr>
          <p:cNvPr id="8" name="subtitle · Claude Code로 실제 실행한 매칭표 일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Code로 실제 실행한 매칭표 일부 · 13건 중 11건 확정, 2건은 사람이 확인</a:t>
            </a:r>
          </a:p>
        </p:txBody>
      </p:sp>
      <p:sp>
        <p:nvSpPr>
          <p:cNvPr id="9" name="Rounded Rectangle 8"/>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11" name="Rectangle 10"/>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12" name="body · 매장"/>
          <p:cNvSpPr txBox="1"/>
          <p:nvPr/>
        </p:nvSpPr>
        <p:spPr>
          <a:xfrm>
            <a:off x="762000" y="21884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매장</a:t>
            </a:r>
          </a:p>
        </p:txBody>
      </p:sp>
      <p:sp>
        <p:nvSpPr>
          <p:cNvPr id="13" name="body · 원래 이름"/>
          <p:cNvSpPr txBox="1"/>
          <p:nvPr/>
        </p:nvSpPr>
        <p:spPr>
          <a:xfrm>
            <a:off x="1969008" y="2188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원래 이름</a:t>
            </a:r>
          </a:p>
        </p:txBody>
      </p:sp>
      <p:sp>
        <p:nvSpPr>
          <p:cNvPr id="14" name="body · 맞춘 ID"/>
          <p:cNvSpPr txBox="1"/>
          <p:nvPr/>
        </p:nvSpPr>
        <p:spPr>
          <a:xfrm>
            <a:off x="4163567" y="2188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맞춘 ID</a:t>
            </a:r>
          </a:p>
        </p:txBody>
      </p:sp>
      <p:sp>
        <p:nvSpPr>
          <p:cNvPr id="15" name="body · 판정"/>
          <p:cNvSpPr txBox="1"/>
          <p:nvPr/>
        </p:nvSpPr>
        <p:spPr>
          <a:xfrm>
            <a:off x="5480304" y="21884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판정</a:t>
            </a:r>
          </a:p>
        </p:txBody>
      </p:sp>
      <p:sp>
        <p:nvSpPr>
          <p:cNvPr id="16" name="body · AI가 적은 근거"/>
          <p:cNvSpPr txBox="1"/>
          <p:nvPr/>
        </p:nvSpPr>
        <p:spPr>
          <a:xfrm>
            <a:off x="7016496" y="21884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AI가 적은 근거</a:t>
            </a:r>
          </a:p>
        </p:txBody>
      </p:sp>
      <p:sp>
        <p:nvSpPr>
          <p:cNvPr id="17" name="Rectangle 16"/>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8" name="body · B매장"/>
          <p:cNvSpPr txBox="1"/>
          <p:nvPr/>
        </p:nvSpPr>
        <p:spPr>
          <a:xfrm>
            <a:off x="762000" y="27218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19" name="body · 유기농두부"/>
          <p:cNvSpPr txBox="1"/>
          <p:nvPr/>
        </p:nvSpPr>
        <p:spPr>
          <a:xfrm>
            <a:off x="1969008" y="2721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유기농두부</a:t>
            </a:r>
          </a:p>
        </p:txBody>
      </p:sp>
      <p:sp>
        <p:nvSpPr>
          <p:cNvPr id="20" name="body · P01"/>
          <p:cNvSpPr txBox="1"/>
          <p:nvPr/>
        </p:nvSpPr>
        <p:spPr>
          <a:xfrm>
            <a:off x="4163567" y="2721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1" name="body · 확정"/>
          <p:cNvSpPr txBox="1"/>
          <p:nvPr/>
        </p:nvSpPr>
        <p:spPr>
          <a:xfrm>
            <a:off x="5480304" y="27218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2" name="body · 띄어쓰기만 다름, 단가 3,500원 같음"/>
          <p:cNvSpPr txBox="1"/>
          <p:nvPr/>
        </p:nvSpPr>
        <p:spPr>
          <a:xfrm>
            <a:off x="7016496" y="27218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띄어쓰기만 다름, 단가 3,500원 같음</a:t>
            </a:r>
          </a:p>
        </p:txBody>
      </p:sp>
      <p:sp>
        <p:nvSpPr>
          <p:cNvPr id="23" name="Rectangle 22"/>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5" name="body · C점"/>
          <p:cNvSpPr txBox="1"/>
          <p:nvPr/>
        </p:nvSpPr>
        <p:spPr>
          <a:xfrm>
            <a:off x="762000" y="32552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26" name="body · 0001 두부 유기농"/>
          <p:cNvSpPr txBox="1"/>
          <p:nvPr/>
        </p:nvSpPr>
        <p:spPr>
          <a:xfrm>
            <a:off x="1969008" y="32552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0001 두부 유기농</a:t>
            </a:r>
          </a:p>
        </p:txBody>
      </p:sp>
      <p:sp>
        <p:nvSpPr>
          <p:cNvPr id="27" name="body · P01"/>
          <p:cNvSpPr txBox="1"/>
          <p:nvPr/>
        </p:nvSpPr>
        <p:spPr>
          <a:xfrm>
            <a:off x="4163567" y="32552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8" name="body · 확정"/>
          <p:cNvSpPr txBox="1"/>
          <p:nvPr/>
        </p:nvSpPr>
        <p:spPr>
          <a:xfrm>
            <a:off x="5480304" y="32552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9" name="body · 단어 순서만 다름, 단가 같음"/>
          <p:cNvSpPr txBox="1"/>
          <p:nvPr/>
        </p:nvSpPr>
        <p:spPr>
          <a:xfrm>
            <a:off x="7016496" y="32552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단어 순서만 다름, 단가 같음</a:t>
            </a:r>
          </a:p>
        </p:txBody>
      </p:sp>
      <p:sp>
        <p:nvSpPr>
          <p:cNvPr id="30" name="Rectangle 29"/>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31" name="body · C점"/>
          <p:cNvSpPr txBox="1"/>
          <p:nvPr/>
        </p:nvSpPr>
        <p:spPr>
          <a:xfrm>
            <a:off x="762000" y="37886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32" name="body · 0004 유정란 10알"/>
          <p:cNvSpPr txBox="1"/>
          <p:nvPr/>
        </p:nvSpPr>
        <p:spPr>
          <a:xfrm>
            <a:off x="1969008" y="37886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0004 유정란 10알</a:t>
            </a:r>
          </a:p>
        </p:txBody>
      </p:sp>
      <p:sp>
        <p:nvSpPr>
          <p:cNvPr id="33" name="body · P04"/>
          <p:cNvSpPr txBox="1"/>
          <p:nvPr/>
        </p:nvSpPr>
        <p:spPr>
          <a:xfrm>
            <a:off x="4163567" y="37886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P04</a:t>
            </a:r>
          </a:p>
        </p:txBody>
      </p:sp>
      <p:sp>
        <p:nvSpPr>
          <p:cNvPr id="34" name="body · 확정"/>
          <p:cNvSpPr txBox="1"/>
          <p:nvPr/>
        </p:nvSpPr>
        <p:spPr>
          <a:xfrm>
            <a:off x="5480304" y="37886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35" name="body · 10알 = 10구, 단가 6,800원 같음"/>
          <p:cNvSpPr txBox="1"/>
          <p:nvPr/>
        </p:nvSpPr>
        <p:spPr>
          <a:xfrm>
            <a:off x="7016496" y="37886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10알 = 10구, 단가 6,800원 같음</a:t>
            </a:r>
          </a:p>
        </p:txBody>
      </p:sp>
      <p:sp>
        <p:nvSpPr>
          <p:cNvPr id="36" name="Rectangle 35"/>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8" name="body · B매장"/>
          <p:cNvSpPr txBox="1"/>
          <p:nvPr/>
        </p:nvSpPr>
        <p:spPr>
          <a:xfrm>
            <a:off x="762000" y="43220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39" name="body · 참기름"/>
          <p:cNvSpPr txBox="1"/>
          <p:nvPr/>
        </p:nvSpPr>
        <p:spPr>
          <a:xfrm>
            <a:off x="1969008" y="43220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참기름</a:t>
            </a:r>
          </a:p>
        </p:txBody>
      </p:sp>
      <p:sp>
        <p:nvSpPr>
          <p:cNvPr id="40" name="body · P05"/>
          <p:cNvSpPr txBox="1"/>
          <p:nvPr/>
        </p:nvSpPr>
        <p:spPr>
          <a:xfrm>
            <a:off x="4163567" y="43220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P05</a:t>
            </a:r>
          </a:p>
        </p:txBody>
      </p:sp>
      <p:sp>
        <p:nvSpPr>
          <p:cNvPr id="41" name="body · 확정"/>
          <p:cNvSpPr txBox="1"/>
          <p:nvPr/>
        </p:nvSpPr>
        <p:spPr>
          <a:xfrm>
            <a:off x="5480304" y="43220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42" name="body · 표준목록의 유일한 참기름, 단가 같음"/>
          <p:cNvSpPr txBox="1"/>
          <p:nvPr/>
        </p:nvSpPr>
        <p:spPr>
          <a:xfrm>
            <a:off x="7016496" y="43220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표준목록의 유일한 참기름, 단가 같음</a:t>
            </a:r>
          </a:p>
        </p:txBody>
      </p:sp>
      <p:sp>
        <p:nvSpPr>
          <p:cNvPr id="43" name="Rectangle 42"/>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4" name="body · B매장"/>
          <p:cNvSpPr txBox="1"/>
          <p:nvPr/>
        </p:nvSpPr>
        <p:spPr>
          <a:xfrm>
            <a:off x="762000" y="48554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45" name="body · 들기름"/>
          <p:cNvSpPr txBox="1"/>
          <p:nvPr/>
        </p:nvSpPr>
        <p:spPr>
          <a:xfrm>
            <a:off x="1969008" y="4855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들기름</a:t>
            </a:r>
          </a:p>
        </p:txBody>
      </p:sp>
      <p:sp>
        <p:nvSpPr>
          <p:cNvPr id="46" name="body · —"/>
          <p:cNvSpPr txBox="1"/>
          <p:nvPr/>
        </p:nvSpPr>
        <p:spPr>
          <a:xfrm>
            <a:off x="4163567" y="4855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47" name="body · 확인 필요"/>
          <p:cNvSpPr txBox="1"/>
          <p:nvPr/>
        </p:nvSpPr>
        <p:spPr>
          <a:xfrm>
            <a:off x="5480304" y="48554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48" name="body · 표준목록에 없음, 참기름과 다른 상품"/>
          <p:cNvSpPr txBox="1"/>
          <p:nvPr/>
        </p:nvSpPr>
        <p:spPr>
          <a:xfrm>
            <a:off x="7016496" y="48554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표준목록에 없음, 참기름과 다른 상품</a:t>
            </a:r>
          </a:p>
        </p:txBody>
      </p:sp>
      <p:sp>
        <p:nvSpPr>
          <p:cNvPr id="49" name="Rectangle 48"/>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50" name="body · C점"/>
          <p:cNvSpPr txBox="1"/>
          <p:nvPr/>
        </p:nvSpPr>
        <p:spPr>
          <a:xfrm>
            <a:off x="762000" y="53888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51" name="body · 0007 현미 잡곡"/>
          <p:cNvSpPr txBox="1"/>
          <p:nvPr/>
        </p:nvSpPr>
        <p:spPr>
          <a:xfrm>
            <a:off x="1969008" y="5388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0007 현미 잡곡</a:t>
            </a:r>
          </a:p>
        </p:txBody>
      </p:sp>
      <p:sp>
        <p:nvSpPr>
          <p:cNvPr id="52" name="body · —"/>
          <p:cNvSpPr txBox="1"/>
          <p:nvPr/>
        </p:nvSpPr>
        <p:spPr>
          <a:xfrm>
            <a:off x="4163567" y="5388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53" name="body · 확인 필요"/>
          <p:cNvSpPr txBox="1"/>
          <p:nvPr/>
        </p:nvSpPr>
        <p:spPr>
          <a:xfrm>
            <a:off x="5480304" y="53888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54" name="body · P06 후보지만 용량 없음, 단가 9,000 ≠ 8"/>
          <p:cNvSpPr txBox="1"/>
          <p:nvPr/>
        </p:nvSpPr>
        <p:spPr>
          <a:xfrm>
            <a:off x="7016496" y="53888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P06 후보지만 용량 없음, 단가 9,000 ≠ 8,500</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8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보기 좋은 표, 숫자도 맞을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95400" y="136611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검수</a:t>
            </a:r>
          </a:p>
        </p:txBody>
      </p:sp>
      <p:sp>
        <p:nvSpPr>
          <p:cNvPr id="12" name="body · Validation · 검증"/>
          <p:cNvSpPr txBox="1"/>
          <p:nvPr/>
        </p:nvSpPr>
        <p:spPr>
          <a:xfrm>
            <a:off x="1844040" y="1396212"/>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건수"/>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건수</a:t>
            </a:r>
          </a:p>
        </p:txBody>
      </p:sp>
      <p:sp>
        <p:nvSpPr>
          <p:cNvPr id="18" name="body · A 4 + B 5 + C 4&#10;= 통합 13건"/>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A 4 + B 5 + C 4</a:t>
            </a:r>
          </a:p>
          <a:p>
            <a:pPr algn="l">
              <a:lnSpc>
                <a:spcPts val="2483"/>
              </a:lnSpc>
              <a:spcBef>
                <a:spcPts val="0"/>
              </a:spcBef>
              <a:spcAft>
                <a:spcPts val="0"/>
              </a:spcAft>
            </a:pPr>
            <a:r>
              <a:rPr sz="1800" b="0">
                <a:solidFill>
                  <a:srgbClr val="17221B"/>
                </a:solidFill>
                <a:latin typeface="Noto Sans KR"/>
                <a:ea typeface="Noto Sans KR"/>
                <a:cs typeface="Noto Sans KR"/>
              </a:rPr>
              <a:t>= 통합 13건</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금액"/>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a:t>
            </a:r>
          </a:p>
        </p:txBody>
      </p:sp>
      <p:sp>
        <p:nvSpPr>
          <p:cNvPr id="23" name="body · 세 파일 금액의 합&#10;= 통합 99,200원"/>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세 파일 금액의 합</a:t>
            </a:r>
          </a:p>
          <a:p>
            <a:pPr algn="l">
              <a:lnSpc>
                <a:spcPts val="2483"/>
              </a:lnSpc>
              <a:spcBef>
                <a:spcPts val="0"/>
              </a:spcBef>
              <a:spcAft>
                <a:spcPts val="0"/>
              </a:spcAft>
            </a:pPr>
            <a:r>
              <a:rPr sz="1800" b="0">
                <a:solidFill>
                  <a:srgbClr val="17221B"/>
                </a:solidFill>
                <a:latin typeface="Noto Sans KR"/>
                <a:ea typeface="Noto Sans KR"/>
                <a:cs typeface="Noto Sans KR"/>
              </a:rPr>
              <a:t>= 통합 99,200원</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보류"/>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보류</a:t>
            </a:r>
          </a:p>
        </p:txBody>
      </p:sp>
      <p:sp>
        <p:nvSpPr>
          <p:cNvPr id="28" name="body · [확인 필요] 2건이&#10;빠지지 않았는지"/>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[확인 필요] 2건이</a:t>
            </a:r>
          </a:p>
          <a:p>
            <a:pPr algn="l">
              <a:lnSpc>
                <a:spcPts val="2483"/>
              </a:lnSpc>
              <a:spcBef>
                <a:spcPts val="0"/>
              </a:spcBef>
              <a:spcAft>
                <a:spcPts val="0"/>
              </a:spcAft>
            </a:pPr>
            <a:r>
              <a:rPr sz="1800" b="0">
                <a:solidFill>
                  <a:srgbClr val="17221B"/>
                </a:solidFill>
                <a:latin typeface="Noto Sans KR"/>
                <a:ea typeface="Noto Sans KR"/>
                <a:cs typeface="Noto Sans KR"/>
              </a:rPr>
              <a:t>빠지지 않았는지</a:t>
            </a:r>
          </a:p>
        </p:txBody>
      </p:sp>
      <p:sp>
        <p:nvSpPr>
          <p:cNvPr id="29" name="Rounded Rectangle 28"/>
          <p:cNvSpPr/>
          <p:nvPr/>
        </p:nvSpPr>
        <p:spPr>
          <a:xfrm>
            <a:off x="609600" y="6111240"/>
            <a:ext cx="45567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2" name="callout · 합계가 맞아도 다른 상품끼리 묶였으면 틀린 결과입니"/>
          <p:cNvSpPr txBox="1"/>
          <p:nvPr/>
        </p:nvSpPr>
        <p:spPr>
          <a:xfrm>
            <a:off x="1082040" y="6216548"/>
            <a:ext cx="39776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다른 상품끼리 묶였으면 틀린 결과입니다.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8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결과가 이상하면 이렇게 다시 요청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AI가 맞춘 결과를 보고, 어느 줄이 왜 다른지 콕"/>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맞춘 결과를 보고, 어느 줄이 왜 다른지 콕 집어 말합니다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참기름은 [확인 필요]로 바꿔 줘.&#10;0007 현미 "/>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참기름은 [확인 필요]로 바꿔 줘.</a:t>
            </a:r>
          </a:p>
          <a:p>
            <a:pPr algn="l">
              <a:lnSpc>
                <a:spcPts val="2483"/>
              </a:lnSpc>
              <a:spcBef>
                <a:spcPts val="0"/>
              </a:spcBef>
              <a:spcAft>
                <a:spcPts val="0"/>
              </a:spcAft>
            </a:pPr>
            <a:r>
              <a:rPr sz="1800" b="0">
                <a:solidFill>
                  <a:srgbClr val="17221B"/>
                </a:solidFill>
                <a:latin typeface="Noto Sans KR"/>
                <a:ea typeface="Noto Sans KR"/>
                <a:cs typeface="Noto Sans KR"/>
              </a:rPr>
              <a:t>0007 현미 잡곡은 P06 1kg이 맞아.</a:t>
            </a:r>
          </a:p>
          <a:p>
            <a:pPr algn="l">
              <a:lnSpc>
                <a:spcPts val="2483"/>
              </a:lnSpc>
              <a:spcBef>
                <a:spcPts val="0"/>
              </a:spcBef>
              <a:spcAft>
                <a:spcPts val="0"/>
              </a:spcAft>
            </a:pPr>
            <a:r>
              <a:rPr sz="1800" b="0">
                <a:solidFill>
                  <a:srgbClr val="17221B"/>
                </a:solidFill>
                <a:latin typeface="Noto Sans KR"/>
                <a:ea typeface="Noto Sans KR"/>
                <a:cs typeface="Noto Sans KR"/>
              </a:rPr>
              <a:t>원본은 두고 v2로 저장해.</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8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이름·전화번호 같은 민감한 정보가 있다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이름·전화번호 같은 민감한 정보가 있다면?</a:t>
            </a:r>
          </a:p>
        </p:txBody>
      </p:sp>
      <p:sp>
        <p:nvSpPr>
          <p:cNvPr id="8" name="subtitle · 정리는 AI에게 맡겨도 되지만, 개인정보가 들어 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정리는 AI에게 맡겨도 되지만, 개인정보가 들어 있는 표는 그대로 넣지 않습니다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table-2-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흔한 상황"/>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흔한 상황</a:t>
            </a:r>
          </a:p>
        </p:txBody>
      </p:sp>
      <p:sp>
        <p:nvSpPr>
          <p:cNvPr id="13" name="body · 회원 시트와 주문 시트가&#10;따로, ID도 제각각"/>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회원 시트와 주문 시트가</a:t>
            </a:r>
          </a:p>
          <a:p>
            <a:pPr algn="l">
              <a:lnSpc>
                <a:spcPts val="2815"/>
              </a:lnSpc>
              <a:spcBef>
                <a:spcPts val="0"/>
              </a:spcBef>
              <a:spcAft>
                <a:spcPts val="0"/>
              </a:spcAft>
            </a:pPr>
            <a:r>
              <a:rPr sz="2039" b="1">
                <a:solidFill>
                  <a:srgbClr val="2F7048"/>
                </a:solidFill>
                <a:latin typeface="Noto Sans KR"/>
                <a:ea typeface="Noto Sans KR"/>
                <a:cs typeface="Noto Sans KR"/>
              </a:rPr>
              <a:t>따로, ID도 제각각</a:t>
            </a:r>
          </a:p>
        </p:txBody>
      </p:sp>
      <p:sp>
        <p:nvSpPr>
          <p:cNvPr id="14" name="body · 이름으로 맞춰야 할 것처럼 보입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이름으로 맞춰야 할 것처럼 보입니다.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user-chec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문제"/>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문제</a:t>
            </a:r>
          </a:p>
        </p:txBody>
      </p:sp>
      <p:sp>
        <p:nvSpPr>
          <p:cNvPr id="20" name="body · 같은 사람인지 보려면&#10;이름·전화번호가 필요"/>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같은 사람인지 보려면</a:t>
            </a:r>
          </a:p>
          <a:p>
            <a:pPr algn="l">
              <a:lnSpc>
                <a:spcPts val="2815"/>
              </a:lnSpc>
              <a:spcBef>
                <a:spcPts val="0"/>
              </a:spcBef>
              <a:spcAft>
                <a:spcPts val="0"/>
              </a:spcAft>
            </a:pPr>
            <a:r>
              <a:rPr sz="2039" b="1">
                <a:solidFill>
                  <a:srgbClr val="2F7048"/>
                </a:solidFill>
                <a:latin typeface="Noto Sans KR"/>
                <a:ea typeface="Noto Sans KR"/>
                <a:cs typeface="Noto Sans KR"/>
              </a:rPr>
              <a:t>이름·전화번호가 필요</a:t>
            </a:r>
          </a:p>
        </p:txBody>
      </p:sp>
      <p:sp>
        <p:nvSpPr>
          <p:cNvPr id="21" name="body · 이건 개인정보입니다."/>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이건 개인정보입니다.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방법"/>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방법</a:t>
            </a:r>
          </a:p>
        </p:txBody>
      </p:sp>
      <p:sp>
        <p:nvSpPr>
          <p:cNvPr id="27" name="body · 보안 수준에 따라&#10;가명·익명 ID로 바꾼 뒤&#10;AI는"/>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보안 수준에 따라</a:t>
            </a:r>
          </a:p>
          <a:p>
            <a:pPr algn="l">
              <a:lnSpc>
                <a:spcPts val="2815"/>
              </a:lnSpc>
              <a:spcBef>
                <a:spcPts val="0"/>
              </a:spcBef>
              <a:spcAft>
                <a:spcPts val="0"/>
              </a:spcAft>
            </a:pPr>
            <a:r>
              <a:rPr sz="2039" b="1">
                <a:solidFill>
                  <a:srgbClr val="FFFFFF"/>
                </a:solidFill>
                <a:latin typeface="Noto Sans KR"/>
                <a:ea typeface="Noto Sans KR"/>
                <a:cs typeface="Noto Sans KR"/>
              </a:rPr>
              <a:t>가명·익명 ID로 바꾼 뒤</a:t>
            </a:r>
          </a:p>
          <a:p>
            <a:pPr algn="l">
              <a:lnSpc>
                <a:spcPts val="2815"/>
              </a:lnSpc>
              <a:spcBef>
                <a:spcPts val="0"/>
              </a:spcBef>
              <a:spcAft>
                <a:spcPts val="0"/>
              </a:spcAft>
            </a:pPr>
            <a:r>
              <a:rPr sz="2039" b="1">
                <a:solidFill>
                  <a:srgbClr val="FFFFFF"/>
                </a:solidFill>
                <a:latin typeface="Noto Sans KR"/>
                <a:ea typeface="Noto Sans KR"/>
                <a:cs typeface="Noto Sans KR"/>
              </a:rPr>
              <a:t>AI는 그 자료로 매칭</a:t>
            </a:r>
          </a:p>
        </p:txBody>
      </p:sp>
      <p:sp>
        <p:nvSpPr>
          <p:cNvPr id="28" name="body · 이제부터 그 방법을 봅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이제부터 그 방법을 봅니다.</a:t>
            </a:r>
          </a:p>
        </p:txBody>
      </p:sp>
      <p:sp>
        <p:nvSpPr>
          <p:cNvPr id="29" name="Rounded Rectangle 28"/>
          <p:cNvSpPr/>
          <p:nvPr/>
        </p:nvSpPr>
        <p:spPr>
          <a:xfrm>
            <a:off x="609600" y="6111240"/>
            <a:ext cx="67132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매칭에 꼭 필요한 열만 남기고, 사람을 알아볼 수 "/>
          <p:cNvSpPr txBox="1"/>
          <p:nvPr/>
        </p:nvSpPr>
        <p:spPr>
          <a:xfrm>
            <a:off x="1082040" y="6216548"/>
            <a:ext cx="6134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매칭에 꼭 필요한 열만 남기고, 사람을 알아볼 수 있는 열은 AI에게 보내기 전에 바꿉니다.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개인정보</a:t>
            </a:r>
          </a:p>
        </p:txBody>
      </p:sp>
      <p:sp>
        <p:nvSpPr>
          <p:cNvPr id="12" name="body · 개인정보 보호법 제2조"/>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ounded Rectangle 13"/>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5" name="Rounded Rectangle 14"/>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883920" y="2316480"/>
            <a:ext cx="228600" cy="228600"/>
          </a:xfrm>
          <a:prstGeom prst="rect">
            <a:avLst/>
          </a:prstGeom>
        </p:spPr>
      </p:pic>
      <p:sp>
        <p:nvSpPr>
          <p:cNvPr id="17" name="label · 01"/>
          <p:cNvSpPr txBox="1"/>
          <p:nvPr/>
        </p:nvSpPr>
        <p:spPr>
          <a:xfrm>
            <a:off x="2625090"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8" name="body · 입력"/>
          <p:cNvSpPr txBox="1"/>
          <p:nvPr/>
        </p:nvSpPr>
        <p:spPr>
          <a:xfrm>
            <a:off x="77724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19" name="body · 내가 붙여 넣은 표에&#10;이름·전화번호가 그대로&#10;들어갑"/>
          <p:cNvSpPr txBox="1"/>
          <p:nvPr/>
        </p:nvSpPr>
        <p:spPr>
          <a:xfrm>
            <a:off x="77724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붙여 넣은 표에</a:t>
            </a:r>
          </a:p>
          <a:p>
            <a:pPr algn="l">
              <a:lnSpc>
                <a:spcPts val="1738"/>
              </a:lnSpc>
              <a:spcBef>
                <a:spcPts val="0"/>
              </a:spcBef>
              <a:spcAft>
                <a:spcPts val="0"/>
              </a:spcAft>
            </a:pPr>
            <a:r>
              <a:rPr sz="1260" b="0">
                <a:solidFill>
                  <a:srgbClr val="17221B"/>
                </a:solidFill>
                <a:latin typeface="Noto Sans KR"/>
                <a:ea typeface="Noto Sans KR"/>
                <a:cs typeface="Noto Sans KR"/>
              </a:rPr>
              <a:t>이름·전화번호가 그대로</a:t>
            </a:r>
          </a:p>
          <a:p>
            <a:pPr algn="l">
              <a:lnSpc>
                <a:spcPts val="1738"/>
              </a:lnSpc>
              <a:spcBef>
                <a:spcPts val="0"/>
              </a:spcBef>
              <a:spcAft>
                <a:spcPts val="0"/>
              </a:spcAft>
            </a:pPr>
            <a:r>
              <a:rPr sz="1260" b="0">
                <a:solidFill>
                  <a:srgbClr val="17221B"/>
                </a:solidFill>
                <a:latin typeface="Noto Sans KR"/>
                <a:ea typeface="Noto Sans KR"/>
                <a:cs typeface="Noto Sans KR"/>
              </a:rPr>
              <a:t>들어갑니다.</a:t>
            </a:r>
          </a:p>
        </p:txBody>
      </p:sp>
      <p:sp>
        <p:nvSpPr>
          <p:cNvPr id="20" name="Rounded Rectangle 19"/>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1" name="body · 한 번 보내면 되돌릴 수 없음"/>
          <p:cNvSpPr txBox="1"/>
          <p:nvPr/>
        </p:nvSpPr>
        <p:spPr>
          <a:xfrm>
            <a:off x="83820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한 번 보내면 되돌릴 수 없음</a:t>
            </a:r>
          </a:p>
        </p:txBody>
      </p:sp>
      <p:pic>
        <p:nvPicPr>
          <p:cNvPr id="22" name="Picture 21"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23" name="Rounded Rectangle 22"/>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4" name="Rounded Rectangle 23"/>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5" name="Picture 24" descr="send-FFFFFF.png"/>
          <p:cNvPicPr>
            <a:picLocks noChangeAspect="1"/>
          </p:cNvPicPr>
          <p:nvPr/>
        </p:nvPicPr>
        <p:blipFill>
          <a:blip r:embed="rId4"/>
          <a:srcRect/>
          <a:stretch>
            <a:fillRect/>
          </a:stretch>
        </p:blipFill>
        <p:spPr>
          <a:xfrm>
            <a:off x="3691889" y="2316480"/>
            <a:ext cx="228600" cy="228600"/>
          </a:xfrm>
          <a:prstGeom prst="rect">
            <a:avLst/>
          </a:prstGeom>
        </p:spPr>
      </p:pic>
      <p:sp>
        <p:nvSpPr>
          <p:cNvPr id="26" name="label · 02"/>
          <p:cNvSpPr txBox="1"/>
          <p:nvPr/>
        </p:nvSpPr>
        <p:spPr>
          <a:xfrm>
            <a:off x="5433060"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7" name="body · 전송"/>
          <p:cNvSpPr txBox="1"/>
          <p:nvPr/>
        </p:nvSpPr>
        <p:spPr>
          <a:xfrm>
            <a:off x="358521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전송</a:t>
            </a:r>
          </a:p>
        </p:txBody>
      </p:sp>
      <p:sp>
        <p:nvSpPr>
          <p:cNvPr id="28" name="body · 인터넷으로 AI 회사 서버에&#10;갑니다. 해외 서버일 "/>
          <p:cNvSpPr txBox="1"/>
          <p:nvPr/>
        </p:nvSpPr>
        <p:spPr>
          <a:xfrm>
            <a:off x="358521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인터넷으로 AI 회사 서버에</a:t>
            </a:r>
          </a:p>
          <a:p>
            <a:pPr algn="l">
              <a:lnSpc>
                <a:spcPts val="1738"/>
              </a:lnSpc>
              <a:spcBef>
                <a:spcPts val="0"/>
              </a:spcBef>
              <a:spcAft>
                <a:spcPts val="0"/>
              </a:spcAft>
            </a:pPr>
            <a:r>
              <a:rPr sz="1260" b="0">
                <a:solidFill>
                  <a:srgbClr val="17221B"/>
                </a:solidFill>
                <a:latin typeface="Noto Sans KR"/>
                <a:ea typeface="Noto Sans KR"/>
                <a:cs typeface="Noto Sans KR"/>
              </a:rPr>
              <a:t>갑니다. 해외 서버일 수</a:t>
            </a:r>
          </a:p>
          <a:p>
            <a:pPr algn="l">
              <a:lnSpc>
                <a:spcPts val="1738"/>
              </a:lnSpc>
              <a:spcBef>
                <a:spcPts val="0"/>
              </a:spcBef>
              <a:spcAft>
                <a:spcPts val="0"/>
              </a:spcAft>
            </a:pPr>
            <a:r>
              <a:rPr sz="1260" b="0">
                <a:solidFill>
                  <a:srgbClr val="17221B"/>
                </a:solidFill>
                <a:latin typeface="Noto Sans KR"/>
                <a:ea typeface="Noto Sans KR"/>
                <a:cs typeface="Noto Sans KR"/>
              </a:rPr>
              <a:t>있습니다.</a:t>
            </a:r>
          </a:p>
        </p:txBody>
      </p:sp>
      <p:sp>
        <p:nvSpPr>
          <p:cNvPr id="29" name="Rounded Rectangle 28"/>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0" name="body · 국외 이전 검토 대상"/>
          <p:cNvSpPr txBox="1"/>
          <p:nvPr/>
        </p:nvSpPr>
        <p:spPr>
          <a:xfrm>
            <a:off x="364617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국외 이전 검토 대상</a:t>
            </a:r>
          </a:p>
        </p:txBody>
      </p:sp>
      <p:pic>
        <p:nvPicPr>
          <p:cNvPr id="31" name="Picture 30"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32" name="Rounded Rectangle 31"/>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3" name="Rounded Rectangle 32"/>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4" name="Picture 33" descr="server-FFFFFF.png"/>
          <p:cNvPicPr>
            <a:picLocks noChangeAspect="1"/>
          </p:cNvPicPr>
          <p:nvPr/>
        </p:nvPicPr>
        <p:blipFill>
          <a:blip r:embed="rId5"/>
          <a:srcRect/>
          <a:stretch>
            <a:fillRect/>
          </a:stretch>
        </p:blipFill>
        <p:spPr>
          <a:xfrm>
            <a:off x="6499860" y="2316480"/>
            <a:ext cx="228600" cy="228600"/>
          </a:xfrm>
          <a:prstGeom prst="rect">
            <a:avLst/>
          </a:prstGeom>
        </p:spPr>
      </p:pic>
      <p:sp>
        <p:nvSpPr>
          <p:cNvPr id="35" name="label · 03"/>
          <p:cNvSpPr txBox="1"/>
          <p:nvPr/>
        </p:nvSpPr>
        <p:spPr>
          <a:xfrm>
            <a:off x="8241029"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6" name="body · 처리"/>
          <p:cNvSpPr txBox="1"/>
          <p:nvPr/>
        </p:nvSpPr>
        <p:spPr>
          <a:xfrm>
            <a:off x="639318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처리</a:t>
            </a:r>
          </a:p>
        </p:txBody>
      </p:sp>
      <p:sp>
        <p:nvSpPr>
          <p:cNvPr id="37" name="body · 설정에 따라 30일에서 수년까지&#10;보관되고, 검토에 "/>
          <p:cNvSpPr txBox="1"/>
          <p:nvPr/>
        </p:nvSpPr>
        <p:spPr>
          <a:xfrm>
            <a:off x="639318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설정에 따라 30일에서 수년까지</a:t>
            </a:r>
          </a:p>
          <a:p>
            <a:pPr algn="l">
              <a:lnSpc>
                <a:spcPts val="1738"/>
              </a:lnSpc>
              <a:spcBef>
                <a:spcPts val="0"/>
              </a:spcBef>
              <a:spcAft>
                <a:spcPts val="0"/>
              </a:spcAft>
            </a:pPr>
            <a:r>
              <a:rPr sz="1260" b="0">
                <a:solidFill>
                  <a:srgbClr val="17221B"/>
                </a:solidFill>
                <a:latin typeface="Noto Sans KR"/>
                <a:ea typeface="Noto Sans KR"/>
                <a:cs typeface="Noto Sans KR"/>
              </a:rPr>
              <a:t>보관되고, 검토에 쓰일 수</a:t>
            </a:r>
          </a:p>
          <a:p>
            <a:pPr algn="l">
              <a:lnSpc>
                <a:spcPts val="1738"/>
              </a:lnSpc>
              <a:spcBef>
                <a:spcPts val="0"/>
              </a:spcBef>
              <a:spcAft>
                <a:spcPts val="0"/>
              </a:spcAft>
            </a:pPr>
            <a:r>
              <a:rPr sz="1260" b="0">
                <a:solidFill>
                  <a:srgbClr val="17221B"/>
                </a:solidFill>
                <a:latin typeface="Noto Sans KR"/>
                <a:ea typeface="Noto Sans KR"/>
                <a:cs typeface="Noto Sans KR"/>
              </a:rPr>
              <a:t>있습니다.</a:t>
            </a:r>
          </a:p>
        </p:txBody>
      </p:sp>
      <p:sp>
        <p:nvSpPr>
          <p:cNvPr id="38" name="Rounded Rectangle 37"/>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9" name="body · 누가 볼 수 있는지 모름"/>
          <p:cNvSpPr txBox="1"/>
          <p:nvPr/>
        </p:nvSpPr>
        <p:spPr>
          <a:xfrm>
            <a:off x="645414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누가 볼 수 있는지 모름</a:t>
            </a:r>
          </a:p>
        </p:txBody>
      </p:sp>
      <p:pic>
        <p:nvPicPr>
          <p:cNvPr id="40" name="Picture 39"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41" name="Rounded Rectangle 40"/>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42" name="Rounded Rectangle 41"/>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43" name="Picture 42"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44" name="label · 04"/>
          <p:cNvSpPr txBox="1"/>
          <p:nvPr/>
        </p:nvSpPr>
        <p:spPr>
          <a:xfrm>
            <a:off x="11049000"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5" name="body · 결과"/>
          <p:cNvSpPr txBox="1"/>
          <p:nvPr/>
        </p:nvSpPr>
        <p:spPr>
          <a:xfrm>
            <a:off x="920115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6" name="body · 답과 대화 기록, 공유 링크에 다시&#10;나올 수 있습니"/>
          <p:cNvSpPr txBox="1"/>
          <p:nvPr/>
        </p:nvSpPr>
        <p:spPr>
          <a:xfrm>
            <a:off x="920115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답과 대화 기록, 공유 링크에 다시</a:t>
            </a:r>
          </a:p>
          <a:p>
            <a:pPr algn="l">
              <a:lnSpc>
                <a:spcPts val="1738"/>
              </a:lnSpc>
              <a:spcBef>
                <a:spcPts val="0"/>
              </a:spcBef>
              <a:spcAft>
                <a:spcPts val="0"/>
              </a:spcAft>
            </a:pPr>
            <a:r>
              <a:rPr sz="1260" b="0">
                <a:solidFill>
                  <a:srgbClr val="17221B"/>
                </a:solidFill>
                <a:latin typeface="Noto Sans KR"/>
                <a:ea typeface="Noto Sans KR"/>
                <a:cs typeface="Noto Sans KR"/>
              </a:rPr>
              <a:t>나올 수 있습니다.</a:t>
            </a:r>
          </a:p>
        </p:txBody>
      </p:sp>
      <p:sp>
        <p:nvSpPr>
          <p:cNvPr id="47" name="Rounded Rectangle 46"/>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8" name="body · 재노출 · 잘못된 판단"/>
          <p:cNvSpPr txBox="1"/>
          <p:nvPr/>
        </p:nvSpPr>
        <p:spPr>
          <a:xfrm>
            <a:off x="926211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재노출 · 잘못된 판단</a:t>
            </a:r>
          </a:p>
        </p:txBody>
      </p:sp>
      <p:sp>
        <p:nvSpPr>
          <p:cNvPr id="49" name="Rounded Rectangle 48"/>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50" name="label · 보내기 전 확인"/>
          <p:cNvSpPr txBox="1"/>
          <p:nvPr/>
        </p:nvSpPr>
        <p:spPr>
          <a:xfrm>
            <a:off x="792480" y="5311140"/>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보내기 전 확인</a:t>
            </a:r>
          </a:p>
        </p:txBody>
      </p:sp>
      <p:sp>
        <p:nvSpPr>
          <p:cNvPr id="51" name="Rounded Rectangle 50"/>
          <p:cNvSpPr/>
          <p:nvPr/>
        </p:nvSpPr>
        <p:spPr>
          <a:xfrm>
            <a:off x="220980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52" name="Rounded Rectangle 51"/>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3" name="label · 1"/>
          <p:cNvSpPr txBox="1"/>
          <p:nvPr/>
        </p:nvSpPr>
        <p:spPr>
          <a:xfrm>
            <a:off x="228600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54" name="body · 꼭 필요한가"/>
          <p:cNvSpPr txBox="1"/>
          <p:nvPr/>
        </p:nvSpPr>
        <p:spPr>
          <a:xfrm>
            <a:off x="268224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꼭 필요한가</a:t>
            </a:r>
          </a:p>
        </p:txBody>
      </p:sp>
      <p:sp>
        <p:nvSpPr>
          <p:cNvPr id="55" name="Rounded Rectangle 54"/>
          <p:cNvSpPr/>
          <p:nvPr/>
        </p:nvSpPr>
        <p:spPr>
          <a:xfrm>
            <a:off x="457962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56" name="Rounded Rectangle 55"/>
          <p:cNvSpPr/>
          <p:nvPr/>
        </p:nvSpPr>
        <p:spPr>
          <a:xfrm>
            <a:off x="465582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7" name="label · 2"/>
          <p:cNvSpPr txBox="1"/>
          <p:nvPr/>
        </p:nvSpPr>
        <p:spPr>
          <a:xfrm>
            <a:off x="465582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8" name="body · 누가 처리하나"/>
          <p:cNvSpPr txBox="1"/>
          <p:nvPr/>
        </p:nvSpPr>
        <p:spPr>
          <a:xfrm>
            <a:off x="505206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누가 처리하나</a:t>
            </a:r>
          </a:p>
        </p:txBody>
      </p:sp>
      <p:sp>
        <p:nvSpPr>
          <p:cNvPr id="59" name="Rounded Rectangle 58"/>
          <p:cNvSpPr/>
          <p:nvPr/>
        </p:nvSpPr>
        <p:spPr>
          <a:xfrm>
            <a:off x="694944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702564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1" name="label · 3"/>
          <p:cNvSpPr txBox="1"/>
          <p:nvPr/>
        </p:nvSpPr>
        <p:spPr>
          <a:xfrm>
            <a:off x="702564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62" name="body · 어디로 가나"/>
          <p:cNvSpPr txBox="1"/>
          <p:nvPr/>
        </p:nvSpPr>
        <p:spPr>
          <a:xfrm>
            <a:off x="742188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어디로 가나</a:t>
            </a:r>
          </a:p>
        </p:txBody>
      </p:sp>
      <p:sp>
        <p:nvSpPr>
          <p:cNvPr id="63" name="Rounded Rectangle 62"/>
          <p:cNvSpPr/>
          <p:nvPr/>
        </p:nvSpPr>
        <p:spPr>
          <a:xfrm>
            <a:off x="931926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64" name="Rounded Rectangle 63"/>
          <p:cNvSpPr/>
          <p:nvPr/>
        </p:nvSpPr>
        <p:spPr>
          <a:xfrm>
            <a:off x="939546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5" name="label · 4"/>
          <p:cNvSpPr txBox="1"/>
          <p:nvPr/>
        </p:nvSpPr>
        <p:spPr>
          <a:xfrm>
            <a:off x="939546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6" name="body · 언제 지우나"/>
          <p:cNvSpPr txBox="1"/>
          <p:nvPr/>
        </p:nvSpPr>
        <p:spPr>
          <a:xfrm>
            <a:off x="979170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언제 지우나</a:t>
            </a:r>
          </a:p>
        </p:txBody>
      </p:sp>
      <p:sp>
        <p:nvSpPr>
          <p:cNvPr id="6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8" name="footer · 9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PII)는 지우거나, 가명으로 바꾸거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개인정보(PII)는 지우거나, 가명으로 바꾸거나, 범위를 줄입니다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PII"/>
          <p:cNvSpPr txBox="1"/>
          <p:nvPr/>
        </p:nvSpPr>
        <p:spPr>
          <a:xfrm>
            <a:off x="1295400" y="1324051"/>
            <a:ext cx="365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PII</a:t>
            </a:r>
          </a:p>
        </p:txBody>
      </p:sp>
      <p:sp>
        <p:nvSpPr>
          <p:cNvPr id="12" name="body · Personally Identifiable Info"/>
          <p:cNvSpPr txBox="1"/>
          <p:nvPr/>
        </p:nvSpPr>
        <p:spPr>
          <a:xfrm>
            <a:off x="1752600" y="1354150"/>
            <a:ext cx="9677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Personally Identifiable Information · 개인 식별 정보</a:t>
            </a:r>
          </a:p>
        </p:txBody>
      </p:sp>
      <p:sp>
        <p:nvSpPr>
          <p:cNvPr id="13" name="body · 이름·전화번호·주소처럼 특정한 사람을 알아볼 수 있"/>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이름·전화번호·주소처럼 특정한 사람을 알아볼 수 있는 정보</a:t>
            </a:r>
          </a:p>
        </p:txBody>
      </p:sp>
      <p:sp>
        <p:nvSpPr>
          <p:cNvPr id="14" name="label · 원래 값"/>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원래 값</a:t>
            </a:r>
          </a:p>
        </p:txBody>
      </p:sp>
      <p:sp>
        <p:nvSpPr>
          <p:cNvPr id="15" name="label · AI에게 보낼 값"/>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AI에게 보낼 값</a:t>
            </a:r>
          </a:p>
        </p:txBody>
      </p:sp>
      <p:sp>
        <p:nvSpPr>
          <p:cNvPr id="16" name="label · 언제 쓰나"/>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 쓰나</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eye-off-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지우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지우기</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홍길동 · 010-1234-5678"/>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010-1234-5678</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열 자체를 지움)"/>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(열 자체를 지움)</a:t>
            </a:r>
          </a:p>
        </p:txBody>
      </p:sp>
      <p:sp>
        <p:nvSpPr>
          <p:cNvPr id="25" name="body · 분석에&#10;필요 없을 때"/>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분석에</a:t>
            </a:r>
          </a:p>
          <a:p>
            <a:pPr algn="l">
              <a:lnSpc>
                <a:spcPts val="1655"/>
              </a:lnSpc>
              <a:spcBef>
                <a:spcPts val="0"/>
              </a:spcBef>
              <a:spcAft>
                <a:spcPts val="0"/>
              </a:spcAft>
            </a:pPr>
            <a:r>
              <a:rPr sz="1200" b="0">
                <a:solidFill>
                  <a:srgbClr val="7A5214"/>
                </a:solidFill>
                <a:latin typeface="Noto Sans KR"/>
                <a:ea typeface="Noto Sans KR"/>
                <a:cs typeface="Noto Sans KR"/>
              </a:rPr>
              <a:t>필요 없을 때</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venetian-mask-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가명"/>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가명</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홍길동"/>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회원_017&#10;(연결표는 내 PC에만)"/>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회원_017</a:t>
            </a:r>
          </a:p>
          <a:p>
            <a:pPr algn="l">
              <a:lnSpc>
                <a:spcPts val="1738"/>
              </a:lnSpc>
              <a:spcBef>
                <a:spcPts val="0"/>
              </a:spcBef>
              <a:spcAft>
                <a:spcPts val="0"/>
              </a:spcAft>
            </a:pPr>
            <a:r>
              <a:rPr sz="1260" b="1">
                <a:solidFill>
                  <a:srgbClr val="1D4430"/>
                </a:solidFill>
                <a:latin typeface="Noto Sans KR"/>
                <a:ea typeface="Noto Sans KR"/>
                <a:cs typeface="Noto Sans KR"/>
              </a:rPr>
              <a:t>(연결표는 내 PC에만)</a:t>
            </a:r>
          </a:p>
        </p:txBody>
      </p:sp>
      <p:sp>
        <p:nvSpPr>
          <p:cNvPr id="34" name="body · 같은 사람끼리&#10;묶어야 할 때"/>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같은 사람끼리</a:t>
            </a:r>
          </a:p>
          <a:p>
            <a:pPr algn="l">
              <a:lnSpc>
                <a:spcPts val="1655"/>
              </a:lnSpc>
              <a:spcBef>
                <a:spcPts val="0"/>
              </a:spcBef>
              <a:spcAft>
                <a:spcPts val="0"/>
              </a:spcAft>
            </a:pPr>
            <a:r>
              <a:rPr sz="1200" b="0">
                <a:solidFill>
                  <a:srgbClr val="7A5214"/>
                </a:solidFill>
                <a:latin typeface="Noto Sans KR"/>
                <a:ea typeface="Noto Sans KR"/>
                <a:cs typeface="Noto Sans KR"/>
              </a:rPr>
              <a:t>묶어야 할 때</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users-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범위 줄이기"/>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범위 줄이기</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홍길동 · 34세 · 성남시 분당구"/>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34세 · 성남시 분당구</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30대 · 성남시"/>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30대 · 성남시</a:t>
            </a:r>
          </a:p>
        </p:txBody>
      </p:sp>
      <p:sp>
        <p:nvSpPr>
          <p:cNvPr id="43" name="body · 통계만 볼 때&#10;이것만으로 익명은 아님"/>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통계만 볼 때</a:t>
            </a:r>
          </a:p>
          <a:p>
            <a:pPr algn="l">
              <a:lnSpc>
                <a:spcPts val="1655"/>
              </a:lnSpc>
              <a:spcBef>
                <a:spcPts val="0"/>
              </a:spcBef>
              <a:spcAft>
                <a:spcPts val="0"/>
              </a:spcAft>
            </a:pPr>
            <a:r>
              <a:rPr sz="1200" b="0">
                <a:solidFill>
                  <a:srgbClr val="7A5214"/>
                </a:solidFill>
                <a:latin typeface="Noto Sans KR"/>
                <a:ea typeface="Noto Sans KR"/>
                <a:cs typeface="Noto Sans KR"/>
              </a:rPr>
              <a:t>이것만으로 익명은 아님</a:t>
            </a:r>
          </a:p>
        </p:txBody>
      </p:sp>
      <p:sp>
        <p:nvSpPr>
          <p:cNvPr id="44" name="Rounded Rectangle 43"/>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5" name="Rounded Rectangle 44"/>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7" name="body · 기억할 것"/>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기억할 것</a:t>
            </a:r>
          </a:p>
        </p:txBody>
      </p:sp>
      <p:sp>
        <p:nvSpPr>
          <p:cNvPr id="48" name="Rounded Rectangle 47"/>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9" name="body · 가명은 연결표로 되돌릴 수 있음"/>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가명은 연결표로 되돌릴 수 있음</a:t>
            </a:r>
          </a:p>
        </p:txBody>
      </p:sp>
      <p:sp>
        <p:nvSpPr>
          <p:cNvPr id="50" name="Rounded Rectangle 49"/>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51" name="body · 그래서 가명 자료도 개인정보"/>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그래서 가명 자료도 개인정보</a:t>
            </a:r>
          </a:p>
        </p:txBody>
      </p:sp>
      <p:sp>
        <p:nvSpPr>
          <p:cNvPr id="52" name="body · 연결표는 절대&#10;AI에 보내지 않기"/>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연결표는 절대</a:t>
            </a:r>
          </a:p>
          <a:p>
            <a:pPr algn="l">
              <a:lnSpc>
                <a:spcPts val="1655"/>
              </a:lnSpc>
              <a:spcBef>
                <a:spcPts val="0"/>
              </a:spcBef>
              <a:spcAft>
                <a:spcPts val="0"/>
              </a:spcAft>
            </a:pPr>
            <a:r>
              <a:rPr sz="1200" b="0">
                <a:solidFill>
                  <a:srgbClr val="7A5214"/>
                </a:solidFill>
                <a:latin typeface="Noto Sans KR"/>
                <a:ea typeface="Noto Sans KR"/>
                <a:cs typeface="Noto Sans KR"/>
              </a:rPr>
              <a:t>AI에 보내지 않기</a:t>
            </a:r>
          </a:p>
        </p:txBody>
      </p:sp>
      <p:sp>
        <p:nvSpPr>
          <p:cNvPr id="5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4" name="footer · 9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최소 처리</a:t>
            </a:r>
          </a:p>
        </p:txBody>
      </p:sp>
      <p:sp>
        <p:nvSpPr>
          <p:cNvPr id="12" name="body · 데이터 최소화 원칙"/>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958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244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216548"/>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9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스크립트</a:t>
            </a:r>
          </a:p>
        </p:txBody>
      </p:sp>
      <p:sp>
        <p:nvSpPr>
          <p:cNvPr id="12" name="body · Script · 파이썬 코드"/>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301240"/>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75760"/>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815840"/>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66360"/>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 휴대전화·이메일·메모는 지우고</a:t>
            </a:r>
          </a:p>
          <a:p>
            <a:pPr algn="l">
              <a:lnSpc>
                <a:spcPts val="1738"/>
              </a:lnSpc>
              <a:spcBef>
                <a:spcPts val="0"/>
              </a:spcBef>
              <a:spcAft>
                <a:spcPts val="0"/>
              </a:spcAft>
            </a:pPr>
            <a:r>
              <a:rPr sz="1260" b="0">
                <a:solidFill>
                  <a:srgbClr val="FFFFFF"/>
                </a:solidFill>
                <a:latin typeface="Noto Sans KR"/>
                <a:ea typeface="Noto Sans KR"/>
                <a:cs typeface="Noto Sans KR"/>
              </a:rPr>
              <a:t>주소는 시·구까지만, 연결표는 따로 저장하는 가명처리.py를</a:t>
            </a:r>
          </a:p>
          <a:p>
            <a:pPr algn="l">
              <a:lnSpc>
                <a:spcPts val="1738"/>
              </a:lnSpc>
              <a:spcBef>
                <a:spcPts val="0"/>
              </a:spcBef>
              <a:spcAft>
                <a:spcPts val="0"/>
              </a:spcAft>
            </a:pPr>
            <a:r>
              <a:rPr sz="1260" b="0">
                <a:solidFill>
                  <a:srgbClr val="FFFFFF"/>
                </a:solidFill>
                <a:latin typeface="Noto Sans KR"/>
                <a:ea typeface="Noto Sans KR"/>
                <a:cs typeface="Noto Sans KR"/>
              </a:rPr>
              <a:t>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781800"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216548"/>
            <a:ext cx="62026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9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95400" y="1324051"/>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연결표</a:t>
            </a:r>
          </a:p>
        </p:txBody>
      </p:sp>
      <p:sp>
        <p:nvSpPr>
          <p:cNvPr id="12" name="body · Key Table"/>
          <p:cNvSpPr txBox="1"/>
          <p:nvPr/>
        </p:nvSpPr>
        <p:spPr>
          <a:xfrm>
            <a:off x="2011680" y="1354150"/>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2034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461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4612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4612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35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4246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4246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4246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709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777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7774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7774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1960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1960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7091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7159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71594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4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5122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5122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95800"/>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80060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 화면에는</a:t>
            </a:r>
          </a:p>
          <a:p>
            <a:pPr algn="l">
              <a:lnSpc>
                <a:spcPts val="1738"/>
              </a:lnSpc>
              <a:spcBef>
                <a:spcPts val="0"/>
              </a:spcBef>
              <a:spcAft>
                <a:spcPts val="0"/>
              </a:spcAft>
            </a:pPr>
            <a:r>
              <a:rPr sz="1260" b="0">
                <a:solidFill>
                  <a:srgbClr val="FFFFFF"/>
                </a:solidFill>
                <a:latin typeface="Noto Sans KR"/>
                <a:ea typeface="Noto Sans KR"/>
                <a:cs typeface="Noto Sans KR"/>
              </a:rPr>
              <a:t>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216548"/>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9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9748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9748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3011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3011424"/>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92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92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73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73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54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54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35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35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916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916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3504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216548"/>
            <a:ext cx="5455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9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95400" y="1324051"/>
            <a:ext cx="1264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51760" y="1354150"/>
            <a:ext cx="8778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9748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9748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011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3011424"/>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92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92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73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73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54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54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35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35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916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916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 바꾸는</a:t>
            </a:r>
          </a:p>
          <a:p>
            <a:pPr algn="l">
              <a:lnSpc>
                <a:spcPts val="1738"/>
              </a:lnSpc>
              <a:spcBef>
                <a:spcPts val="0"/>
              </a:spcBef>
              <a:spcAft>
                <a:spcPts val="0"/>
              </a:spcAft>
            </a:pPr>
            <a:r>
              <a:rPr sz="1260" b="0">
                <a:solidFill>
                  <a:srgbClr val="FFFFFF"/>
                </a:solidFill>
                <a:latin typeface="Noto Sans KR"/>
                <a:ea typeface="Noto Sans KR"/>
                <a:cs typeface="Noto Sans KR"/>
              </a:rPr>
              <a:t>파이썬 스크립트 「복구.py」를 만들어 줘. 연결표의 열은 가명ID,</a:t>
            </a:r>
          </a:p>
          <a:p>
            <a:pPr algn="l">
              <a:lnSpc>
                <a:spcPts val="1738"/>
              </a:lnSpc>
              <a:spcBef>
                <a:spcPts val="0"/>
              </a:spcBef>
              <a:spcAft>
                <a:spcPts val="0"/>
              </a:spcAft>
            </a:pPr>
            <a:r>
              <a:rPr sz="1260" b="0">
                <a:solidFill>
                  <a:srgbClr val="FFFFFF"/>
                </a:solidFill>
                <a:latin typeface="Noto Sans KR"/>
                <a:ea typeface="Noto Sans KR"/>
                <a:cs typeface="Noto Sans KR"/>
              </a:rPr>
              <a:t>이름, 휴대전화야(내용은 보여 주지 않을게). 결과는</a:t>
            </a:r>
          </a:p>
          <a:p>
            <a:pPr algn="l">
              <a:lnSpc>
                <a:spcPts val="1738"/>
              </a:lnSpc>
              <a:spcBef>
                <a:spcPts val="0"/>
              </a:spcBef>
              <a:spcAft>
                <a:spcPts val="0"/>
              </a:spcAft>
            </a:pPr>
            <a:r>
              <a:rPr sz="1260" b="0">
                <a:solidFill>
                  <a:srgbClr val="FFFFFF"/>
                </a:solidFill>
                <a:latin typeface="Noto Sans KR"/>
                <a:ea typeface="Noto Sans KR"/>
                <a:cs typeface="Noto Sans KR"/>
              </a:rPr>
              <a:t>결과_복구.xlsx로 저장하고 화면에는 몇 명을 되돌렸는지만 보여</a:t>
            </a:r>
          </a:p>
          <a:p>
            <a:pPr algn="l">
              <a:lnSpc>
                <a:spcPts val="1738"/>
              </a:lnSpc>
              <a:spcBef>
                <a:spcPts val="0"/>
              </a:spcBef>
              <a:spcAft>
                <a:spcPts val="0"/>
              </a:spcAft>
            </a:pPr>
            <a:r>
              <a:rPr sz="1260" b="0">
                <a:solidFill>
                  <a:srgbClr val="FFFFFF"/>
                </a:solidFill>
                <a:latin typeface="Noto Sans KR"/>
                <a:ea typeface="Noto Sans KR"/>
                <a:cs typeface="Noto Sans KR"/>
              </a:rPr>
              <a:t>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28760"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216548"/>
            <a:ext cx="85496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9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국외 이전</a:t>
            </a:r>
          </a:p>
        </p:txBody>
      </p:sp>
      <p:sp>
        <p:nvSpPr>
          <p:cNvPr id="12" name="body · Cross-border Transfer"/>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58440"/>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74720"/>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58440"/>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74720"/>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62399"/>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88280"/>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216548"/>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9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관계 판단"/>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문서와 공개"/>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운영 확인"/>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216548"/>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사용</a:t>
            </a:r>
          </a:p>
        </p:txBody>
      </p:sp>
      <p:sp>
        <p:nvSpPr>
          <p:cNvPr id="12" name="body · Model Training"/>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31770"/>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3177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3177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31770"/>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5760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5760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5760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5760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80436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2529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2529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80436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5112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5112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5112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5112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9788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41881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41881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9788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216548"/>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10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 계정이면 학습 설정부터 끄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계정이면 학습 설정부터 끄세요</a:t>
            </a:r>
          </a:p>
        </p:txBody>
      </p:sp>
      <p:sp>
        <p:nvSpPr>
          <p:cNvPr id="8" name="subtitle · 강사 개인 계정의 실제 화면 · 빨간 상자가 켜져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개인 계정의 실제 화면 · 빨간 상자가 켜져 있으면 끕니다</a:t>
            </a:r>
          </a:p>
        </p:txBody>
      </p:sp>
      <p:sp>
        <p:nvSpPr>
          <p:cNvPr id="9" name="label · ChatGPT · Codex"/>
          <p:cNvSpPr txBox="1"/>
          <p:nvPr/>
        </p:nvSpPr>
        <p:spPr>
          <a:xfrm>
            <a:off x="609600" y="1996439"/>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ChatGPT · Codex</a:t>
            </a:r>
          </a:p>
        </p:txBody>
      </p:sp>
      <p:sp>
        <p:nvSpPr>
          <p:cNvPr id="10" name="Rounded Rectangle 9"/>
          <p:cNvSpPr/>
          <p:nvPr/>
        </p:nvSpPr>
        <p:spPr>
          <a:xfrm>
            <a:off x="60960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1" name="Picture 10" descr="chatgpt-training.png"/>
          <p:cNvPicPr>
            <a:picLocks noChangeAspect="1"/>
          </p:cNvPicPr>
          <p:nvPr/>
        </p:nvPicPr>
        <p:blipFill>
          <a:blip r:embed="rId2"/>
          <a:srcRect/>
          <a:stretch>
            <a:fillRect/>
          </a:stretch>
        </p:blipFill>
        <p:spPr>
          <a:xfrm>
            <a:off x="677477" y="2377440"/>
            <a:ext cx="3399924" cy="1508760"/>
          </a:xfrm>
          <a:prstGeom prst="rect">
            <a:avLst/>
          </a:prstGeom>
        </p:spPr>
      </p:pic>
      <p:sp>
        <p:nvSpPr>
          <p:cNvPr id="12" name="body · chatgpt.com › 설정 › 데이터 관리&#10;「모"/>
          <p:cNvSpPr txBox="1"/>
          <p:nvPr/>
        </p:nvSpPr>
        <p:spPr>
          <a:xfrm>
            <a:off x="609600" y="4038600"/>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chatgpt.com › 설정 › 데이터 관리</a:t>
            </a:r>
          </a:p>
          <a:p>
            <a:pPr algn="l">
              <a:lnSpc>
                <a:spcPts val="1573"/>
              </a:lnSpc>
              <a:spcBef>
                <a:spcPts val="0"/>
              </a:spcBef>
              <a:spcAft>
                <a:spcPts val="0"/>
              </a:spcAft>
            </a:pPr>
            <a:r>
              <a:rPr sz="1140" b="0">
                <a:solidFill>
                  <a:srgbClr val="1D4430"/>
                </a:solidFill>
                <a:latin typeface="Noto Sans KR"/>
                <a:ea typeface="Noto Sans KR"/>
                <a:cs typeface="Noto Sans KR"/>
              </a:rPr>
              <a:t>「모델 개선을 위한 데이터 학습 허용」 끄기</a:t>
            </a:r>
          </a:p>
        </p:txBody>
      </p:sp>
      <p:sp>
        <p:nvSpPr>
          <p:cNvPr id="13" name="label · Claude · Claude Code"/>
          <p:cNvSpPr txBox="1"/>
          <p:nvPr/>
        </p:nvSpPr>
        <p:spPr>
          <a:xfrm>
            <a:off x="4328160" y="1996439"/>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 Claude Code</a:t>
            </a:r>
          </a:p>
        </p:txBody>
      </p:sp>
      <p:sp>
        <p:nvSpPr>
          <p:cNvPr id="14" name="Rounded Rectangle 13"/>
          <p:cNvSpPr/>
          <p:nvPr/>
        </p:nvSpPr>
        <p:spPr>
          <a:xfrm>
            <a:off x="432816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5" name="Picture 14" descr="claude-training.png"/>
          <p:cNvPicPr>
            <a:picLocks noChangeAspect="1"/>
          </p:cNvPicPr>
          <p:nvPr/>
        </p:nvPicPr>
        <p:blipFill>
          <a:blip r:embed="rId3"/>
          <a:srcRect/>
          <a:stretch>
            <a:fillRect/>
          </a:stretch>
        </p:blipFill>
        <p:spPr>
          <a:xfrm>
            <a:off x="4544020" y="2377440"/>
            <a:ext cx="3103959" cy="1508760"/>
          </a:xfrm>
          <a:prstGeom prst="rect">
            <a:avLst/>
          </a:prstGeom>
        </p:spPr>
      </p:pic>
      <p:sp>
        <p:nvSpPr>
          <p:cNvPr id="16" name="body · claude.ai › 설정 › 개인정보보호&#10;「Hel"/>
          <p:cNvSpPr txBox="1"/>
          <p:nvPr/>
        </p:nvSpPr>
        <p:spPr>
          <a:xfrm>
            <a:off x="4328160" y="4038600"/>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claude.ai › 설정 › 개인정보보호</a:t>
            </a:r>
          </a:p>
          <a:p>
            <a:pPr algn="l">
              <a:lnSpc>
                <a:spcPts val="1573"/>
              </a:lnSpc>
              <a:spcBef>
                <a:spcPts val="0"/>
              </a:spcBef>
              <a:spcAft>
                <a:spcPts val="0"/>
              </a:spcAft>
            </a:pPr>
            <a:r>
              <a:rPr sz="1140" b="0">
                <a:solidFill>
                  <a:srgbClr val="1D4430"/>
                </a:solidFill>
                <a:latin typeface="Noto Sans KR"/>
                <a:ea typeface="Noto Sans KR"/>
                <a:cs typeface="Noto Sans KR"/>
              </a:rPr>
              <a:t>「Help improve our AI models」 끄기</a:t>
            </a:r>
          </a:p>
        </p:txBody>
      </p:sp>
      <p:sp>
        <p:nvSpPr>
          <p:cNvPr id="17" name="label · Gemini"/>
          <p:cNvSpPr txBox="1"/>
          <p:nvPr/>
        </p:nvSpPr>
        <p:spPr>
          <a:xfrm>
            <a:off x="8046720" y="1996439"/>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Gemini</a:t>
            </a:r>
          </a:p>
        </p:txBody>
      </p:sp>
      <p:sp>
        <p:nvSpPr>
          <p:cNvPr id="18" name="Rounded Rectangle 17"/>
          <p:cNvSpPr/>
          <p:nvPr/>
        </p:nvSpPr>
        <p:spPr>
          <a:xfrm>
            <a:off x="804672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9" name="Picture 18" descr="gemini-training.png"/>
          <p:cNvPicPr>
            <a:picLocks noChangeAspect="1"/>
          </p:cNvPicPr>
          <p:nvPr/>
        </p:nvPicPr>
        <p:blipFill>
          <a:blip r:embed="rId4"/>
          <a:srcRect/>
          <a:stretch>
            <a:fillRect/>
          </a:stretch>
        </p:blipFill>
        <p:spPr>
          <a:xfrm>
            <a:off x="8107680" y="2453552"/>
            <a:ext cx="3413760" cy="1356535"/>
          </a:xfrm>
          <a:prstGeom prst="rect">
            <a:avLst/>
          </a:prstGeom>
        </p:spPr>
      </p:pic>
      <p:sp>
        <p:nvSpPr>
          <p:cNvPr id="20" name="body · myactivity.google.com › Gemi"/>
          <p:cNvSpPr txBox="1"/>
          <p:nvPr/>
        </p:nvSpPr>
        <p:spPr>
          <a:xfrm>
            <a:off x="8046720" y="4038600"/>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myactivity.google.com › Gemini 앱 활동</a:t>
            </a:r>
          </a:p>
          <a:p>
            <a:pPr algn="l">
              <a:lnSpc>
                <a:spcPts val="1573"/>
              </a:lnSpc>
              <a:spcBef>
                <a:spcPts val="0"/>
              </a:spcBef>
              <a:spcAft>
                <a:spcPts val="0"/>
              </a:spcAft>
            </a:pPr>
            <a:r>
              <a:rPr sz="1140" b="0">
                <a:solidFill>
                  <a:srgbClr val="1D4430"/>
                </a:solidFill>
                <a:latin typeface="Noto Sans KR"/>
                <a:ea typeface="Noto Sans KR"/>
                <a:cs typeface="Noto Sans KR"/>
              </a:rPr>
              <a:t>「사용」 › 「사용 중지」</a:t>
            </a:r>
          </a:p>
        </p:txBody>
      </p:sp>
      <p:sp>
        <p:nvSpPr>
          <p:cNvPr id="21" name="Rounded Rectangle 20"/>
          <p:cNvSpPr/>
          <p:nvPr/>
        </p:nvSpPr>
        <p:spPr>
          <a:xfrm>
            <a:off x="609600" y="4876800"/>
            <a:ext cx="10972800" cy="1143000"/>
          </a:xfrm>
          <a:prstGeom prst="roundRect">
            <a:avLst>
              <a:gd name="adj" fmla="val 9333"/>
            </a:avLst>
          </a:prstGeom>
          <a:solidFill>
            <a:srgbClr val="F3F7F3"/>
          </a:solidFill>
          <a:ln>
            <a:noFill/>
          </a:ln>
          <a:effectLst/>
        </p:spPr>
        <p:txBody>
          <a:bodyPr rtlCol="0" anchor="ctr"/>
          <a:lstStyle/>
          <a:p>
            <a:pPr algn="ctr"/>
          </a:p>
        </p:txBody>
      </p:sp>
      <p:pic>
        <p:nvPicPr>
          <p:cNvPr id="22" name="Picture 21" descr="code-2F7048.png"/>
          <p:cNvPicPr>
            <a:picLocks noChangeAspect="1"/>
          </p:cNvPicPr>
          <p:nvPr/>
        </p:nvPicPr>
        <p:blipFill>
          <a:blip r:embed="rId5"/>
          <a:srcRect/>
          <a:stretch>
            <a:fillRect/>
          </a:stretch>
        </p:blipFill>
        <p:spPr>
          <a:xfrm>
            <a:off x="822960" y="5090160"/>
            <a:ext cx="335280" cy="335280"/>
          </a:xfrm>
          <a:prstGeom prst="rect">
            <a:avLst/>
          </a:prstGeom>
        </p:spPr>
      </p:pic>
      <p:sp>
        <p:nvSpPr>
          <p:cNvPr id="23" name="body · VS Code의 Claude Code·Codex 확"/>
          <p:cNvSpPr txBox="1"/>
          <p:nvPr/>
        </p:nvSpPr>
        <p:spPr>
          <a:xfrm>
            <a:off x="1310640" y="5059680"/>
            <a:ext cx="10058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VS Code의 Claude Code·Codex 확장에는 따로 끄는 스위치가 없습니다</a:t>
            </a:r>
          </a:p>
        </p:txBody>
      </p:sp>
      <p:sp>
        <p:nvSpPr>
          <p:cNvPr id="24" name="body · 로그인한 계정의 위 설정을 그대로 따릅니다. 끈 뒤"/>
          <p:cNvSpPr txBox="1"/>
          <p:nvPr/>
        </p:nvSpPr>
        <p:spPr>
          <a:xfrm>
            <a:off x="1310640" y="5394960"/>
            <a:ext cx="10058400" cy="5486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D4430"/>
                </a:solidFill>
                <a:latin typeface="Noto Sans KR"/>
                <a:ea typeface="Noto Sans KR"/>
                <a:cs typeface="Noto Sans KR"/>
              </a:rPr>
              <a:t>로그인한 계정의 위 설정을 그대로 따릅니다. 끈 뒤에 시작한 대화부터 적용됩니다.</a:t>
            </a:r>
          </a:p>
          <a:p>
            <a:pPr algn="l">
              <a:lnSpc>
                <a:spcPts val="1655"/>
              </a:lnSpc>
              <a:spcBef>
                <a:spcPts val="0"/>
              </a:spcBef>
              <a:spcAft>
                <a:spcPts val="0"/>
              </a:spcAft>
            </a:pPr>
            <a:r>
              <a:rPr sz="1200" b="0">
                <a:solidFill>
                  <a:srgbClr val="1D4430"/>
                </a:solidFill>
                <a:latin typeface="Noto Sans KR"/>
                <a:ea typeface="Noto Sans KR"/>
                <a:cs typeface="Noto Sans KR"/>
              </a:rPr>
              <a:t>좋아요·싫어요나 「대화를 봐도 될까요?」에 「예」를 누르면 그 대화는 회사로 보내집니다.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10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95400" y="1366113"/>
            <a:ext cx="14401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827020" y="1396212"/>
            <a:ext cx="86029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8318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84420" y="2606040"/>
            <a:ext cx="937259"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52060" y="2636215"/>
            <a:ext cx="70866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49880"/>
            <a:ext cx="209549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01340" y="2872740"/>
            <a:ext cx="26289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86100"/>
            <a:ext cx="268986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695700" y="3108960"/>
            <a:ext cx="20345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6710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52060" y="3489960"/>
            <a:ext cx="769620"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9700" y="3520135"/>
            <a:ext cx="54102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33799"/>
            <a:ext cx="271272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18560" y="3756660"/>
            <a:ext cx="20116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70020"/>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573780" y="3992879"/>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5102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57800" y="4373880"/>
            <a:ext cx="563880"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5440" y="4404055"/>
            <a:ext cx="33528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617720"/>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573780" y="4640580"/>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53940"/>
            <a:ext cx="27355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1420" y="4876800"/>
            <a:ext cx="19888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57800"/>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516880"/>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4132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9080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6512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4236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9184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6616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4340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92879"/>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6720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9392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6824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9496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6928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256020"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216548"/>
            <a:ext cx="5676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1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건 우리 서버의 AI(sLLM)지만,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건 우리 서버의 AI(sLLM)지만, 현실적으론 아직 어렵습니다</a:t>
            </a:r>
          </a:p>
        </p:txBody>
      </p:sp>
      <p:sp>
        <p:nvSpPr>
          <p:cNvPr id="8" name="subtitle · 자료가 밖으로 안 나가 가장 안전 · 하지만 성능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자료가 밖으로 안 나가 가장 안전 · 하지만 성능은 프런티어에 못 미치고 초기 투자가 큽니다 · 가격은 해외 추정가</a:t>
            </a:r>
          </a:p>
        </p:txBody>
      </p:sp>
      <p:sp>
        <p:nvSpPr>
          <p:cNvPr id="9" name="label · 클라우드 AI (Claude · ChatGPT)"/>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초기 투자가 큼&#10;H200 서버 1억 원 안팎 + 관"/>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초기 투자가 큼</a:t>
            </a:r>
          </a:p>
          <a:p>
            <a:pPr algn="l">
              <a:lnSpc>
                <a:spcPts val="1738"/>
              </a:lnSpc>
              <a:spcBef>
                <a:spcPts val="0"/>
              </a:spcBef>
              <a:spcAft>
                <a:spcPts val="0"/>
              </a:spcAft>
            </a:pPr>
            <a:r>
              <a:rPr sz="1260" b="1">
                <a:solidFill>
                  <a:srgbClr val="1D4430"/>
                </a:solidFill>
                <a:latin typeface="Noto Sans KR"/>
                <a:ea typeface="Noto Sans KR"/>
                <a:cs typeface="Noto Sans KR"/>
              </a:rPr>
              <a:t>H200 서버 1억 원 안팎 + 관리</a:t>
            </a:r>
          </a:p>
        </p:txBody>
      </p:sp>
      <p:sp>
        <p:nvSpPr>
          <p:cNvPr id="29" name="body · 처음 드는 돈과&#10;관리할 사람"/>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10;프런티어 모델"/>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a:t>
            </a:r>
          </a:p>
          <a:p>
            <a:pPr algn="l">
              <a:lnSpc>
                <a:spcPts val="1738"/>
              </a:lnSpc>
              <a:spcBef>
                <a:spcPts val="0"/>
              </a:spcBef>
              <a:spcAft>
                <a:spcPts val="0"/>
              </a:spcAft>
            </a:pPr>
            <a:r>
              <a:rPr sz="1260" b="1">
                <a:solidFill>
                  <a:srgbClr val="1D4430"/>
                </a:solidFill>
                <a:latin typeface="Noto Sans KR"/>
                <a:ea typeface="Noto Sans KR"/>
                <a:cs typeface="Noto Sans KR"/>
              </a:rPr>
              <a:t>프런티어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프런티어보다 낮음&#10;6개월~1년 전 최신 수준"/>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프런티어보다 낮음</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1323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그래서 지금은 가명 자료로 클라우드 AI를 쓰고, "/>
          <p:cNvSpPr txBox="1"/>
          <p:nvPr/>
        </p:nvSpPr>
        <p:spPr>
          <a:xfrm>
            <a:off x="1082040" y="6216548"/>
            <a:ext cx="6553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지금은 가명 자료로 클라우드 AI를 쓰고, 민감한 일이 많아지면 직접 운영을 검토합니다.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95400" y="1366113"/>
            <a:ext cx="838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225040" y="1396212"/>
            <a:ext cx="9204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4121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4121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9653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9653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5185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5185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40717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40717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6249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6249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3880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4523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216548"/>
            <a:ext cx="6873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95400" y="136611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권한</a:t>
            </a:r>
          </a:p>
        </p:txBody>
      </p:sp>
      <p:sp>
        <p:nvSpPr>
          <p:cNvPr id="12" name="body · Permission"/>
          <p:cNvSpPr txBox="1"/>
          <p:nvPr/>
        </p:nvSpPr>
        <p:spPr>
          <a:xfrm>
            <a:off x="1844040" y="1396212"/>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7074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8788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 사람이 확인 ·&#10;실습"/>
          <p:cNvSpPr txBox="1"/>
          <p:nvPr/>
        </p:nvSpPr>
        <p:spPr>
          <a:xfrm>
            <a:off x="8305800" y="237744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 사람이 확인 ·</a:t>
            </a:r>
          </a:p>
          <a:p>
            <a:pPr algn="l">
              <a:lnSpc>
                <a:spcPts val="1738"/>
              </a:lnSpc>
              <a:spcBef>
                <a:spcPts val="0"/>
              </a:spcBef>
              <a:spcAft>
                <a:spcPts val="0"/>
              </a:spcAft>
            </a:pPr>
            <a:r>
              <a:rPr sz="1260" b="0">
                <a:solidFill>
                  <a:srgbClr val="17221B"/>
                </a:solidFill>
                <a:latin typeface="Noto Sans KR"/>
                <a:ea typeface="Noto Sans KR"/>
                <a:cs typeface="Noto Sans KR"/>
              </a:rPr>
              <a:t>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3756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2712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60248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8724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 없음 · 업무 PC에서는&#10;"/>
          <p:cNvSpPr txBox="1"/>
          <p:nvPr/>
        </p:nvSpPr>
        <p:spPr>
          <a:xfrm>
            <a:off x="8305800" y="487680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 없음 · 업무 PC에서는</a:t>
            </a:r>
          </a:p>
          <a:p>
            <a:pPr algn="l">
              <a:lnSpc>
                <a:spcPts val="1738"/>
              </a:lnSpc>
              <a:spcBef>
                <a:spcPts val="0"/>
              </a:spcBef>
              <a:spcAft>
                <a:spcPts val="0"/>
              </a:spcAft>
            </a:pPr>
            <a:r>
              <a:rPr sz="1260" b="0">
                <a:solidFill>
                  <a:srgbClr val="17221B"/>
                </a:solidFill>
                <a:latin typeface="Noto Sans KR"/>
                <a:ea typeface="Noto Sans KR"/>
                <a:cs typeface="Noto Sans KR"/>
              </a:rPr>
              <a:t>쓰지 않기</a:t>
            </a:r>
          </a:p>
        </p:txBody>
      </p:sp>
      <p:sp>
        <p:nvSpPr>
          <p:cNvPr id="33" name="Rounded Rectangle 32"/>
          <p:cNvSpPr/>
          <p:nvPr/>
        </p:nvSpPr>
        <p:spPr>
          <a:xfrm>
            <a:off x="609600" y="6111240"/>
            <a:ext cx="561594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216548"/>
            <a:ext cx="5036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1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95400" y="1366113"/>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217420" y="1396212"/>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즉시"/>
          <p:cNvSpPr txBox="1"/>
          <p:nvPr/>
        </p:nvSpPr>
        <p:spPr>
          <a:xfrm>
            <a:off x="6096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ctr">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기록·보고"/>
          <p:cNvSpPr txBox="1"/>
          <p:nvPr/>
        </p:nvSpPr>
        <p:spPr>
          <a:xfrm>
            <a:off x="43434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ctr">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후속 조치"/>
          <p:cNvSpPr txBox="1"/>
          <p:nvPr/>
        </p:nvSpPr>
        <p:spPr>
          <a:xfrm>
            <a:off x="80772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ctr">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216548"/>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18922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216548"/>
            <a:ext cx="4610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472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216548"/>
            <a:ext cx="41681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95400" y="1366113"/>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대시보드</a:t>
            </a:r>
          </a:p>
        </p:txBody>
      </p:sp>
      <p:sp>
        <p:nvSpPr>
          <p:cNvPr id="12" name="body · Dashboard"/>
          <p:cNvSpPr txBox="1"/>
          <p:nvPr/>
        </p:nvSpPr>
        <p:spPr>
          <a:xfrm>
            <a:off x="2179320" y="1396212"/>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주마다 쌓기"/>
          <p:cNvSpPr txBox="1"/>
          <p:nvPr/>
        </p:nvSpPr>
        <p:spPr>
          <a:xfrm>
            <a:off x="6096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ctr">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규칙 유지"/>
          <p:cNvSpPr txBox="1"/>
          <p:nvPr/>
        </p:nvSpPr>
        <p:spPr>
          <a:xfrm>
            <a:off x="43434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ctr">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보고 연결"/>
          <p:cNvSpPr txBox="1"/>
          <p:nvPr/>
        </p:nvSpPr>
        <p:spPr>
          <a:xfrm>
            <a:off x="80772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ctr">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186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216548"/>
            <a:ext cx="3939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78536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216548"/>
            <a:ext cx="420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30240"/>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8788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77440"/>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29128"/>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91388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2034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55136"/>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3989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294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81144"/>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6590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55464"/>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9191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81472"/>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0467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216548"/>
            <a:ext cx="74675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1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429000"/>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53000"/>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6385560" y="25603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52222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9560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6385560" y="37185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8046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538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6385560" y="48768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3870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2120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3024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216548"/>
            <a:ext cx="51511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42360"/>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오후 실습 진행 방법"/>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공통 과정은 가명처리 → 매출 정리·검수&#10;→ 1쪽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공통 과정은 가명처리 → 매출 정리·검수</a:t>
            </a:r>
          </a:p>
          <a:p>
            <a:pPr algn="l">
              <a:lnSpc>
                <a:spcPts val="2235"/>
              </a:lnSpc>
              <a:spcBef>
                <a:spcPts val="0"/>
              </a:spcBef>
              <a:spcAft>
                <a:spcPts val="0"/>
              </a:spcAft>
            </a:pPr>
            <a:r>
              <a:rPr sz="1620" b="0">
                <a:solidFill>
                  <a:srgbClr val="17221B"/>
                </a:solidFill>
                <a:latin typeface="Noto Sans KR"/>
                <a:ea typeface="Noto Sans KR"/>
                <a:cs typeface="Noto Sans KR"/>
              </a:rPr>
              <a:t>→ 1쪽 보고입니다. 끝나면 선택 실습</a:t>
            </a:r>
          </a:p>
          <a:p>
            <a:pPr algn="l">
              <a:lnSpc>
                <a:spcPts val="2235"/>
              </a:lnSpc>
              <a:spcBef>
                <a:spcPts val="0"/>
              </a:spcBef>
              <a:spcAft>
                <a:spcPts val="0"/>
              </a:spcAft>
            </a:pPr>
            <a:r>
              <a:rPr sz="1620" b="0">
                <a:solidFill>
                  <a:srgbClr val="17221B"/>
                </a:solidFill>
                <a:latin typeface="Noto Sans KR"/>
                <a:ea typeface="Noto Sans KR"/>
                <a:cs typeface="Noto Sans KR"/>
              </a:rPr>
              <a:t>하나를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본인 계정의 도구 하나로 끝까지 할 수&#10;있습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본인 계정의 도구 하나로 끝까지 할 수</a:t>
            </a:r>
          </a:p>
          <a:p>
            <a:pPr algn="l">
              <a:lnSpc>
                <a:spcPts val="2235"/>
              </a:lnSpc>
              <a:spcBef>
                <a:spcPts val="0"/>
              </a:spcBef>
              <a:spcAft>
                <a:spcPts val="0"/>
              </a:spcAft>
            </a:pPr>
            <a:r>
              <a:rPr sz="1620" b="0">
                <a:solidFill>
                  <a:srgbClr val="17221B"/>
                </a:solidFill>
                <a:latin typeface="Noto Sans KR"/>
                <a:ea typeface="Noto Sans KR"/>
                <a:cs typeface="Noto Sans KR"/>
              </a:rPr>
              <a:t>있습니다. 「Codex」 단계는 같은</a:t>
            </a:r>
          </a:p>
          <a:p>
            <a:pPr algn="l">
              <a:lnSpc>
                <a:spcPts val="2235"/>
              </a:lnSpc>
              <a:spcBef>
                <a:spcPts val="0"/>
              </a:spcBef>
              <a:spcAft>
                <a:spcPts val="0"/>
              </a:spcAft>
            </a:pPr>
            <a:r>
              <a:rPr sz="1620" b="0">
                <a:solidFill>
                  <a:srgbClr val="17221B"/>
                </a:solidFill>
                <a:latin typeface="Noto Sans KR"/>
                <a:ea typeface="Noto Sans KR"/>
                <a:cs typeface="Noto Sans KR"/>
              </a:rPr>
              <a:t>도구의 새 대화에서 하세요.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 · 블로그에서 실습 자료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a:t>
            </a:r>
          </a:p>
          <a:p>
            <a:pPr algn="l">
              <a:lnSpc>
                <a:spcPts val="2235"/>
              </a:lnSpc>
              <a:spcBef>
                <a:spcPts val="0"/>
              </a:spcBef>
              <a:spcAft>
                <a:spcPts val="0"/>
              </a:spcAft>
            </a:pPr>
            <a:r>
              <a:rPr sz="1620" b="0">
                <a:solidFill>
                  <a:srgbClr val="17221B"/>
                </a:solidFill>
                <a:latin typeface="Noto Sans KR"/>
                <a:ea typeface="Noto Sans KR"/>
                <a:cs typeface="Noto Sans KR"/>
              </a:rPr>
              <a:t>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 바탕</a:t>
            </a:r>
          </a:p>
          <a:p>
            <a:pPr algn="l">
              <a:lnSpc>
                <a:spcPts val="2235"/>
              </a:lnSpc>
              <a:spcBef>
                <a:spcPts val="0"/>
              </a:spcBef>
              <a:spcAft>
                <a:spcPts val="0"/>
              </a:spcAft>
            </a:pPr>
            <a:r>
              <a:rPr sz="1620" b="0">
                <a:solidFill>
                  <a:srgbClr val="17221B"/>
                </a:solidFill>
                <a:latin typeface="Noto Sans KR"/>
                <a:ea typeface="Noto Sans KR"/>
                <a:cs typeface="Noto Sans KR"/>
              </a:rPr>
              <a:t>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2 · 압축 풀어 바탕화면에 두고 VS C"/>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 실습 자료 "/>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 실습 자료 ZIP을</a:t>
            </a:r>
          </a:p>
          <a:p>
            <a:pPr algn="l">
              <a:lnSpc>
                <a:spcPts val="1738"/>
              </a:lnSpc>
              <a:spcBef>
                <a:spcPts val="0"/>
              </a:spcBef>
              <a:spcAft>
                <a:spcPts val="0"/>
              </a:spcAft>
            </a:pPr>
            <a:r>
              <a:rPr sz="1260" b="1">
                <a:solidFill>
                  <a:srgbClr val="1D4430"/>
                </a:solidFill>
                <a:latin typeface="Noto Sans KR"/>
                <a:ea typeface="Noto Sans KR"/>
                <a:cs typeface="Noto Sans KR"/>
              </a:rPr>
              <a:t>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 다운로드 폴더에&#10;저장됩니다"/>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 다운로드 폴더에</a:t>
            </a:r>
          </a:p>
          <a:p>
            <a:pPr algn="l">
              <a:lnSpc>
                <a:spcPts val="1738"/>
              </a:lnSpc>
              <a:spcBef>
                <a:spcPts val="0"/>
              </a:spcBef>
              <a:spcAft>
                <a:spcPts val="0"/>
              </a:spcAft>
            </a:pPr>
            <a:r>
              <a:rPr sz="1260" b="1">
                <a:solidFill>
                  <a:srgbClr val="1D4430"/>
                </a:solidFill>
                <a:latin typeface="Noto Sans KR"/>
                <a:ea typeface="Noto Sans KR"/>
                <a:cs typeface="Noto Sans KR"/>
              </a:rPr>
              <a:t>저장됩니다.</a:t>
            </a:r>
          </a:p>
        </p:txBody>
      </p:sp>
      <p:sp>
        <p:nvSpPr>
          <p:cNvPr id="17" name="body · 다운로드 폴더에 ZIP"/>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 폴더가&#10;보임"/>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 폴더가</a:t>
            </a:r>
          </a:p>
          <a:p>
            <a:pPr algn="l">
              <a:lnSpc>
                <a:spcPts val="1655"/>
              </a:lnSpc>
              <a:spcBef>
                <a:spcPts val="0"/>
              </a:spcBef>
              <a:spcAft>
                <a:spcPts val="0"/>
              </a:spcAft>
            </a:pPr>
            <a:r>
              <a:rPr sz="1200" b="0">
                <a:solidFill>
                  <a:srgbClr val="7A5214"/>
                </a:solidFill>
                <a:latin typeface="Noto Sans KR"/>
                <a:ea typeface="Noto Sans KR"/>
                <a:cs typeface="Noto Sans KR"/>
              </a:rPr>
              <a:t>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 바탕 화면으로 끌어&#10;"/>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 바탕 화면으로 끌어</a:t>
            </a:r>
          </a:p>
          <a:p>
            <a:pPr algn="l">
              <a:lnSpc>
                <a:spcPts val="1738"/>
              </a:lnSpc>
              <a:spcBef>
                <a:spcPts val="0"/>
              </a:spcBef>
              <a:spcAft>
                <a:spcPts val="0"/>
              </a:spcAft>
            </a:pPr>
            <a:r>
              <a:rPr sz="1260" b="1">
                <a:solidFill>
                  <a:srgbClr val="1D4430"/>
                </a:solidFill>
                <a:latin typeface="Noto Sans KR"/>
                <a:ea typeface="Noto Sans KR"/>
                <a:cs typeface="Noto Sans KR"/>
              </a:rPr>
              <a:t>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 열기 › 바탕 화면 › 한살림_AI실"/>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바탕 화면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 열기 › 데스크탑 › 한살림_AI실습"/>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데스크탑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열기</a:t>
            </a:r>
          </a:p>
        </p:txBody>
      </p:sp>
      <p:sp>
        <p:nvSpPr>
          <p:cNvPr id="44" name="body · 「신뢰」 누르면 왼쪽에&#10;폴더 목록"/>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 왼쪽에</a:t>
            </a:r>
          </a:p>
          <a:p>
            <a:pPr algn="l">
              <a:lnSpc>
                <a:spcPts val="1655"/>
              </a:lnSpc>
              <a:spcBef>
                <a:spcPts val="0"/>
              </a:spcBef>
              <a:spcAft>
                <a:spcPts val="0"/>
              </a:spcAft>
            </a:pPr>
            <a:r>
              <a:rPr sz="1200" b="0">
                <a:solidFill>
                  <a:srgbClr val="7A5214"/>
                </a:solidFill>
                <a:latin typeface="Noto Sans KR"/>
                <a:ea typeface="Noto Sans KR"/>
                <a:cs typeface="Noto Sans KR"/>
              </a:rPr>
              <a:t>폴더 목록</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2 · 확장 두 개 설치하고 로그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3095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계정이 있는 도구로 로그인하세요. 하나뿐이면&#10;그 도"/>
          <p:cNvSpPr txBox="1"/>
          <p:nvPr/>
        </p:nvSpPr>
        <p:spPr>
          <a:xfrm>
            <a:off x="1219200" y="330951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계정이 있는 도구로 로그인하세요. 하나뿐이면</a:t>
            </a:r>
          </a:p>
          <a:p>
            <a:pPr algn="l">
              <a:lnSpc>
                <a:spcPts val="1987"/>
              </a:lnSpc>
              <a:spcBef>
                <a:spcPts val="0"/>
              </a:spcBef>
              <a:spcAft>
                <a:spcPts val="0"/>
              </a:spcAft>
            </a:pPr>
            <a:r>
              <a:rPr sz="1439" b="0">
                <a:solidFill>
                  <a:srgbClr val="17221B"/>
                </a:solidFill>
                <a:latin typeface="Noto Sans KR"/>
                <a:ea typeface="Noto Sans KR"/>
                <a:cs typeface="Noto Sans KR"/>
              </a:rPr>
              <a:t>그 도구로 끝까지 하고, 「Codex」 단계는</a:t>
            </a:r>
          </a:p>
          <a:p>
            <a:pPr algn="l">
              <a:lnSpc>
                <a:spcPts val="1987"/>
              </a:lnSpc>
              <a:spcBef>
                <a:spcPts val="0"/>
              </a:spcBef>
              <a:spcAft>
                <a:spcPts val="0"/>
              </a:spcAft>
            </a:pPr>
            <a:r>
              <a:rPr sz="1439" b="0">
                <a:solidFill>
                  <a:srgbClr val="17221B"/>
                </a:solidFill>
                <a:latin typeface="Noto Sans KR"/>
                <a:ea typeface="Noto Sans KR"/>
                <a:cs typeface="Noto Sans KR"/>
              </a:rPr>
              <a:t>같은 도구의 새 대화에서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 그대로&#10;둡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 그대로</a:t>
            </a:r>
          </a:p>
          <a:p>
            <a:pPr algn="l">
              <a:lnSpc>
                <a:spcPts val="2235"/>
              </a:lnSpc>
              <a:spcBef>
                <a:spcPts val="0"/>
              </a:spcBef>
              <a:spcAft>
                <a:spcPts val="0"/>
              </a:spcAft>
            </a:pPr>
            <a:r>
              <a:rPr sz="1620" b="0">
                <a:solidFill>
                  <a:srgbClr val="17221B"/>
                </a:solidFill>
                <a:latin typeface="Noto Sans KR"/>
                <a:ea typeface="Noto Sans KR"/>
                <a:cs typeface="Noto Sans KR"/>
              </a:rPr>
              <a:t>둡니다. 「전체 액세스」는 켜지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27320"/>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본인 도구 패널에 입력창이 보이면 됩니다. 다른 도"/>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본인 도구 패널에 입력창이 보이면 됩니다. 다른 도구는 계정이 있을 때만 씁니다. 비슷한 이름의 다른 확장은 설치하지 않습니다.</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1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1 · 실습 폴더 파일 이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 ZIP 안에서 열지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 Codex&#10;패"/>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 Codex</a:t>
            </a:r>
          </a:p>
          <a:p>
            <a:pPr algn="l">
              <a:lnSpc>
                <a:spcPts val="2235"/>
              </a:lnSpc>
              <a:spcBef>
                <a:spcPts val="0"/>
              </a:spcBef>
              <a:spcAft>
                <a:spcPts val="0"/>
              </a:spcAft>
            </a:pPr>
            <a:r>
              <a:rPr sz="1620" b="0">
                <a:solidFill>
                  <a:srgbClr val="17221B"/>
                </a:solidFill>
                <a:latin typeface="Noto Sans KR"/>
                <a:ea typeface="Noto Sans KR"/>
                <a:cs typeface="Noto Sans KR"/>
              </a:rPr>
              <a:t>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5834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33600"/>
            <a:ext cx="19583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30758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 파일</a:t>
            </a:r>
          </a:p>
          <a:p>
            <a:pPr algn="l">
              <a:lnSpc>
                <a:spcPts val="2483"/>
              </a:lnSpc>
              <a:spcBef>
                <a:spcPts val="0"/>
              </a:spcBef>
              <a:spcAft>
                <a:spcPts val="0"/>
              </a:spcAft>
            </a:pPr>
            <a:r>
              <a:rPr sz="1800" b="0">
                <a:solidFill>
                  <a:srgbClr val="E4EFE6"/>
                </a:solidFill>
                <a:latin typeface="Noto Sans KR"/>
                <a:ea typeface="Noto Sans KR"/>
                <a:cs typeface="Noto Sans KR"/>
              </a:rPr>
              <a:t>이름만 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 열었는지</a:t>
            </a:r>
          </a:p>
          <a:p>
            <a:pPr algn="l">
              <a:lnSpc>
                <a:spcPts val="2483"/>
              </a:lnSpc>
              <a:spcBef>
                <a:spcPts val="0"/>
              </a:spcBef>
              <a:spcAft>
                <a:spcPts val="0"/>
              </a:spcAft>
            </a:pPr>
            <a:r>
              <a:rPr sz="1800" b="0">
                <a:solidFill>
                  <a:srgbClr val="E4EFE6"/>
                </a:solidFill>
                <a:latin typeface="Noto Sans KR"/>
                <a:ea typeface="Noto Sans KR"/>
                <a:cs typeface="Noto Sans KR"/>
              </a:rPr>
              <a:t>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1 · 폴더 하나에 담긴 가상"/>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1 · 폴더 하나에 담긴 가상 상황</a:t>
            </a:r>
          </a:p>
        </p:txBody>
      </p:sp>
      <p:sp>
        <p:nvSpPr>
          <p:cNvPr id="5" name="subtitle · 가상 생협의 9월 매장 거래와 회원 자료입니다 ·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생협의 9월 매장 거래와 회원 자료입니다 · 행사메모와 지식보관함은 MCP 실습에서 엽니다</a:t>
            </a:r>
          </a:p>
        </p:txBody>
      </p:sp>
      <p:sp>
        <p:nvSpPr>
          <p:cNvPr id="6" name="label · 무엇을 가정했나"/>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가정했나</a:t>
            </a:r>
          </a:p>
        </p:txBody>
      </p:sp>
      <p:sp>
        <p:nvSpPr>
          <p:cNvPr id="7" name="label · 실습에서 쓰는 곳"/>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실습에서 쓰는 곳</a:t>
            </a:r>
          </a:p>
        </p:txBody>
      </p:sp>
      <p:sp>
        <p:nvSpPr>
          <p:cNvPr id="8" name="label · 열어 볼 곳"/>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열어 볼 곳</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매장 거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매장 거래</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02·03·04 · 가상 A·B·C매장의 9월 상품"/>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02·03·04 · 가상 A·B·C매장의 9월 상품 거래</a:t>
            </a:r>
          </a:p>
          <a:p>
            <a:pPr algn="l">
              <a:lnSpc>
                <a:spcPts val="1738"/>
              </a:lnSpc>
              <a:spcBef>
                <a:spcPts val="0"/>
              </a:spcBef>
              <a:spcAft>
                <a:spcPts val="0"/>
              </a:spcAft>
            </a:pPr>
            <a:r>
              <a:rPr sz="1260" b="1">
                <a:solidFill>
                  <a:srgbClr val="1D4430"/>
                </a:solidFill>
                <a:latin typeface="Noto Sans KR"/>
                <a:ea typeface="Noto Sans KR"/>
                <a:cs typeface="Noto Sans KR"/>
              </a:rPr>
              <a:t>50줄씩, 일부러 넣은 오류 10줄</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매출 정리 · Codex 검수"/>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매출 정리 · Codex 검수</a:t>
            </a:r>
          </a:p>
        </p:txBody>
      </p:sp>
      <p:sp>
        <p:nvSpPr>
          <p:cNvPr id="17" name="body · 거래내역 시트"/>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거래내역 시트</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table-2-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기준표"/>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기준표</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05 · 매장 3곳, 상품 6가지와 기준단가"/>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05 · 매장 3곳, 상품 6가지와 기준단가</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거래에 이름 붙이기(JOIN) · 미등록 찾기"/>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거래에 이름 붙이기(JOIN) · 미등록 찾기</a:t>
            </a:r>
          </a:p>
        </p:txBody>
      </p:sp>
      <p:sp>
        <p:nvSpPr>
          <p:cNvPr id="26" name="body · 상품마스터 시트"/>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상품마스터 시트</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처리규칙"/>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처리규칙</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06 · 오류를 어떤 순서로 거를지 정한 업무 규칙"/>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06 · 오류를 어떤 순서로 거를지 정한 업무 규칙</a:t>
            </a:r>
          </a:p>
          <a:p>
            <a:pPr algn="l">
              <a:lnSpc>
                <a:spcPts val="1738"/>
              </a:lnSpc>
              <a:spcBef>
                <a:spcPts val="0"/>
              </a:spcBef>
              <a:spcAft>
                <a:spcPts val="0"/>
              </a:spcAft>
            </a:pPr>
            <a:r>
              <a:rPr sz="1260" b="1">
                <a:solidFill>
                  <a:srgbClr val="1D4430"/>
                </a:solidFill>
                <a:latin typeface="Noto Sans KR"/>
                <a:ea typeface="Noto Sans KR"/>
                <a:cs typeface="Noto Sans KR"/>
              </a:rPr>
              <a:t>v1.0</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AI에게 주는 기준"/>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AI에게 주는 기준</a:t>
            </a:r>
          </a:p>
        </p:txBody>
      </p:sp>
      <p:sp>
        <p:nvSpPr>
          <p:cNvPr id="35" name="body · 검사 순서 1~5"/>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검사 순서 1~5</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회원 원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회원 원본</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00 · 이름·전화·이메일이 섞인 가상 회원 거래&#10;"/>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00 · 이름·전화·이메일이 섞인 가상 회원 거래</a:t>
            </a:r>
          </a:p>
          <a:p>
            <a:pPr algn="l">
              <a:lnSpc>
                <a:spcPts val="1738"/>
              </a:lnSpc>
              <a:spcBef>
                <a:spcPts val="0"/>
              </a:spcBef>
              <a:spcAft>
                <a:spcPts val="0"/>
              </a:spcAft>
            </a:pPr>
            <a:r>
              <a:rPr sz="1260" b="1">
                <a:solidFill>
                  <a:srgbClr val="1D4430"/>
                </a:solidFill>
                <a:latin typeface="Noto Sans KR"/>
                <a:ea typeface="Noto Sans KR"/>
                <a:cs typeface="Noto Sans KR"/>
              </a:rPr>
              <a:t>30줄</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가명처리 실습"/>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가명처리 실습</a:t>
            </a:r>
          </a:p>
        </p:txBody>
      </p:sp>
      <p:sp>
        <p:nvSpPr>
          <p:cNvPr id="44" name="body · 이름·휴대전화 열"/>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이름·휴대전화 열</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2 · 매장 거래 파일을 열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2 · 매장 거래 파일을 열면 이렇게 보입니다</a:t>
            </a:r>
          </a:p>
        </p:txBody>
      </p:sp>
      <p:sp>
        <p:nvSpPr>
          <p:cNvPr id="5" name="subtitle · 02_가상_A매장.xlsx 거래내역 시트 1~26행"/>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02_가상_A매장.xlsx 거래내역 시트 1~26행 · 한 행은 상품 거래 한 줄입니다</a:t>
            </a:r>
          </a:p>
        </p:txBody>
      </p:sp>
      <p:pic>
        <p:nvPicPr>
          <p:cNvPr id="6" name="Picture 5" descr="a-store.png"/>
          <p:cNvPicPr>
            <a:picLocks noChangeAspect="1"/>
          </p:cNvPicPr>
          <p:nvPr/>
        </p:nvPicPr>
        <p:blipFill>
          <a:blip r:embed="rId2"/>
          <a:srcRect l="0" r="0"/>
          <a:stretch>
            <a:fillRect/>
          </a:stretch>
        </p:blipFill>
        <p:spPr>
          <a:xfrm>
            <a:off x="609600" y="1920240"/>
            <a:ext cx="5486400" cy="3602044"/>
          </a:xfrm>
          <a:prstGeom prst="rect">
            <a:avLst/>
          </a:prstGeom>
        </p:spPr>
      </p:pic>
      <p:sp>
        <p:nvSpPr>
          <p:cNvPr id="7" name="body · 12행 · 중복"/>
          <p:cNvSpPr txBox="1"/>
          <p:nvPr/>
        </p:nvSpPr>
        <p:spPr>
          <a:xfrm>
            <a:off x="6400800" y="1920240"/>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12행 · 중복</a:t>
            </a:r>
          </a:p>
        </p:txBody>
      </p:sp>
      <p:sp>
        <p:nvSpPr>
          <p:cNvPr id="8" name="body · S01-TX-009가 10행과 똑같이 한 번 더 들"/>
          <p:cNvSpPr txBox="1"/>
          <p:nvPr/>
        </p:nvSpPr>
        <p:spPr>
          <a:xfrm>
            <a:off x="6400800" y="2377440"/>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S01-TX-009가 10행과 똑같이 한 번 더 들어 있습니다.</a:t>
            </a:r>
          </a:p>
          <a:p>
            <a:pPr algn="l">
              <a:lnSpc>
                <a:spcPts val="2235"/>
              </a:lnSpc>
              <a:spcBef>
                <a:spcPts val="0"/>
              </a:spcBef>
              <a:spcAft>
                <a:spcPts val="0"/>
              </a:spcAft>
            </a:pPr>
            <a:r>
              <a:rPr sz="1620" b="0">
                <a:solidFill>
                  <a:srgbClr val="17221B"/>
                </a:solidFill>
                <a:latin typeface="Noto Sans KR"/>
                <a:ea typeface="Noto Sans KR"/>
                <a:cs typeface="Noto Sans KR"/>
              </a:rPr>
              <a:t>처리규칙 1번에 따라 뺍니다.</a:t>
            </a:r>
          </a:p>
        </p:txBody>
      </p:sp>
      <p:sp>
        <p:nvSpPr>
          <p:cNvPr id="9" name="body · 25행 · 금액 불일치"/>
          <p:cNvSpPr txBox="1"/>
          <p:nvPr/>
        </p:nvSpPr>
        <p:spPr>
          <a:xfrm>
            <a:off x="6400800" y="4053840"/>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25행 · 금액 불일치</a:t>
            </a:r>
          </a:p>
        </p:txBody>
      </p:sp>
      <p:sp>
        <p:nvSpPr>
          <p:cNvPr id="10" name="body · 수량 1 × 단가 2,000원은 2,000원인데 장"/>
          <p:cNvSpPr txBox="1"/>
          <p:nvPr/>
        </p:nvSpPr>
        <p:spPr>
          <a:xfrm>
            <a:off x="6400800" y="4511040"/>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수량 1 × 단가 2,000원은 2,000원인데 장부금액이</a:t>
            </a:r>
          </a:p>
          <a:p>
            <a:pPr algn="l">
              <a:lnSpc>
                <a:spcPts val="2235"/>
              </a:lnSpc>
              <a:spcBef>
                <a:spcPts val="0"/>
              </a:spcBef>
              <a:spcAft>
                <a:spcPts val="0"/>
              </a:spcAft>
            </a:pPr>
            <a:r>
              <a:rPr sz="1620" b="0">
                <a:solidFill>
                  <a:srgbClr val="17221B"/>
                </a:solidFill>
                <a:latin typeface="Noto Sans KR"/>
                <a:ea typeface="Noto Sans KR"/>
                <a:cs typeface="Noto Sans KR"/>
              </a:rPr>
              <a:t>20,000원입니다. 처리규칙 5번입니다.</a:t>
            </a:r>
          </a:p>
        </p:txBody>
      </p:sp>
      <p:sp>
        <p:nvSpPr>
          <p:cNvPr id="11" name="caption · 실습 폴더의 실제 파일을 표 계산 프로그램으로 연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실습 폴더의 실제 파일을 표 계산 프로그램으로 연 화면 · 고치지 않은 원본</a:t>
            </a:r>
          </a:p>
        </p:txBody>
      </p:sp>
      <p:sp>
        <p:nvSpPr>
          <p:cNvPr id="12" name="body · 이런 줄을 사람이 눈으로 150줄 다 찾기는 어렵습"/>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이런 줄을 사람이 눈으로 150줄 다 찾기는 어렵습니다. 오늘은 규칙을 주고 AI와 Python에 맡깁니다.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3 · 두 표를 같은 열로 잇"/>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3 · 두 표를 같은 열로 잇는 JOIN</a:t>
            </a:r>
          </a:p>
        </p:txBody>
      </p:sp>
      <p:sp>
        <p:nvSpPr>
          <p:cNvPr id="5" name="subtitle · 거래표의 상품ID로 기준표의 상품명을 찾아 붙입니다"/>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거래표의 상품ID로 기준표의 상품명을 찾아 붙입니다 · 엑셀의 XLOOKUP, 데이터베이스의 JOIN이 같은 일입니다</a:t>
            </a:r>
          </a:p>
        </p:txBody>
      </p:sp>
      <p:sp>
        <p:nvSpPr>
          <p:cNvPr id="6" name="label · 거래표 · 03_가상_B매장.xlsx"/>
          <p:cNvSpPr txBox="1"/>
          <p:nvPr/>
        </p:nvSpPr>
        <p:spPr>
          <a:xfrm>
            <a:off x="609600" y="1996439"/>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거래표 · 03_가상_B매장.xlsx</a:t>
            </a:r>
          </a:p>
        </p:txBody>
      </p:sp>
      <p:sp>
        <p:nvSpPr>
          <p:cNvPr id="7" name="Rounded Rectangle 6"/>
          <p:cNvSpPr/>
          <p:nvPr/>
        </p:nvSpPr>
        <p:spPr>
          <a:xfrm>
            <a:off x="609600" y="2255520"/>
            <a:ext cx="4876800" cy="1219200"/>
          </a:xfrm>
          <a:prstGeom prst="roundRect">
            <a:avLst>
              <a:gd name="adj" fmla="val 8750"/>
            </a:avLst>
          </a:prstGeom>
          <a:solidFill>
            <a:srgbClr val="F3F7F3"/>
          </a:solidFill>
          <a:ln>
            <a:noFill/>
          </a:ln>
          <a:effectLst/>
        </p:spPr>
        <p:txBody>
          <a:bodyPr rtlCol="0" anchor="ctr"/>
          <a:lstStyle/>
          <a:p>
            <a:pPr algn="ctr"/>
          </a:p>
        </p:txBody>
      </p:sp>
      <p:sp>
        <p:nvSpPr>
          <p:cNvPr id="8" name="Rounded Rectangle 7"/>
          <p:cNvSpPr/>
          <p:nvPr/>
        </p:nvSpPr>
        <p:spPr>
          <a:xfrm>
            <a:off x="609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9" name="Rectangle 8"/>
          <p:cNvSpPr/>
          <p:nvPr/>
        </p:nvSpPr>
        <p:spPr>
          <a:xfrm>
            <a:off x="609600" y="2453640"/>
            <a:ext cx="4876800" cy="106680"/>
          </a:xfrm>
          <a:prstGeom prst="rect">
            <a:avLst/>
          </a:prstGeom>
          <a:solidFill>
            <a:srgbClr val="1D4430"/>
          </a:solidFill>
          <a:ln>
            <a:noFill/>
          </a:ln>
          <a:effectLst/>
        </p:spPr>
        <p:txBody>
          <a:bodyPr rtlCol="0" anchor="ctr"/>
          <a:lstStyle/>
          <a:p>
            <a:pPr algn="ctr"/>
          </a:p>
        </p:txBody>
      </p:sp>
      <p:sp>
        <p:nvSpPr>
          <p:cNvPr id="10" name="body · 거래행ID"/>
          <p:cNvSpPr txBox="1"/>
          <p:nvPr/>
        </p:nvSpPr>
        <p:spPr>
          <a:xfrm>
            <a:off x="762000" y="23080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11" name="body · 상품ID"/>
          <p:cNvSpPr txBox="1"/>
          <p:nvPr/>
        </p:nvSpPr>
        <p:spPr>
          <a:xfrm>
            <a:off x="2907792" y="2308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12" name="body · 수량"/>
          <p:cNvSpPr txBox="1"/>
          <p:nvPr/>
        </p:nvSpPr>
        <p:spPr>
          <a:xfrm>
            <a:off x="4273296" y="2308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수량</a:t>
            </a:r>
          </a:p>
        </p:txBody>
      </p:sp>
      <p:sp>
        <p:nvSpPr>
          <p:cNvPr id="13" name="Rectangle 12"/>
          <p:cNvSpPr/>
          <p:nvPr/>
        </p:nvSpPr>
        <p:spPr>
          <a:xfrm>
            <a:off x="731520" y="2857500"/>
            <a:ext cx="4632960" cy="7620"/>
          </a:xfrm>
          <a:prstGeom prst="rect">
            <a:avLst/>
          </a:prstGeom>
          <a:solidFill>
            <a:srgbClr val="D5DDD6"/>
          </a:solidFill>
          <a:ln>
            <a:noFill/>
          </a:ln>
          <a:effectLst/>
        </p:spPr>
        <p:txBody>
          <a:bodyPr rtlCol="0" anchor="ctr"/>
          <a:lstStyle/>
          <a:p>
            <a:pPr algn="ctr"/>
          </a:p>
        </p:txBody>
      </p:sp>
      <p:sp>
        <p:nvSpPr>
          <p:cNvPr id="14" name="body · S02-TX-001"/>
          <p:cNvSpPr txBox="1"/>
          <p:nvPr/>
        </p:nvSpPr>
        <p:spPr>
          <a:xfrm>
            <a:off x="762000" y="26128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15" name="body · P04"/>
          <p:cNvSpPr txBox="1"/>
          <p:nvPr/>
        </p:nvSpPr>
        <p:spPr>
          <a:xfrm>
            <a:off x="2907792" y="2612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16" name="body · 3"/>
          <p:cNvSpPr txBox="1"/>
          <p:nvPr/>
        </p:nvSpPr>
        <p:spPr>
          <a:xfrm>
            <a:off x="4273296" y="2612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17" name="Rectangle 16"/>
          <p:cNvSpPr/>
          <p:nvPr/>
        </p:nvSpPr>
        <p:spPr>
          <a:xfrm>
            <a:off x="609600" y="2865120"/>
            <a:ext cx="4876800" cy="30480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162300"/>
            <a:ext cx="4632960" cy="7620"/>
          </a:xfrm>
          <a:prstGeom prst="rect">
            <a:avLst/>
          </a:prstGeom>
          <a:solidFill>
            <a:srgbClr val="D5DDD6"/>
          </a:solidFill>
          <a:ln>
            <a:noFill/>
          </a:ln>
          <a:effectLst/>
        </p:spPr>
        <p:txBody>
          <a:bodyPr rtlCol="0" anchor="ctr"/>
          <a:lstStyle/>
          <a:p>
            <a:pPr algn="ctr"/>
          </a:p>
        </p:txBody>
      </p:sp>
      <p:sp>
        <p:nvSpPr>
          <p:cNvPr id="19" name="body · S02-TX-003"/>
          <p:cNvSpPr txBox="1"/>
          <p:nvPr/>
        </p:nvSpPr>
        <p:spPr>
          <a:xfrm>
            <a:off x="762000" y="29176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20" name="body · P02"/>
          <p:cNvSpPr txBox="1"/>
          <p:nvPr/>
        </p:nvSpPr>
        <p:spPr>
          <a:xfrm>
            <a:off x="2907792" y="29176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21" name="body · 1"/>
          <p:cNvSpPr txBox="1"/>
          <p:nvPr/>
        </p:nvSpPr>
        <p:spPr>
          <a:xfrm>
            <a:off x="4273296" y="29176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a:t>
            </a:r>
          </a:p>
        </p:txBody>
      </p:sp>
      <p:sp>
        <p:nvSpPr>
          <p:cNvPr id="22" name="body · S02-TX-036"/>
          <p:cNvSpPr txBox="1"/>
          <p:nvPr/>
        </p:nvSpPr>
        <p:spPr>
          <a:xfrm>
            <a:off x="762000" y="32224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23" name="body · P99"/>
          <p:cNvSpPr txBox="1"/>
          <p:nvPr/>
        </p:nvSpPr>
        <p:spPr>
          <a:xfrm>
            <a:off x="2907792" y="32224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24" name="body · 3"/>
          <p:cNvSpPr txBox="1"/>
          <p:nvPr/>
        </p:nvSpPr>
        <p:spPr>
          <a:xfrm>
            <a:off x="4273296" y="32224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25" name="label · 기준표 · 05_가상_기준표.xlsx 상품마스터"/>
          <p:cNvSpPr txBox="1"/>
          <p:nvPr/>
        </p:nvSpPr>
        <p:spPr>
          <a:xfrm>
            <a:off x="6705600" y="1996439"/>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기준표 · 05_가상_기준표.xlsx 상품마스터</a:t>
            </a:r>
          </a:p>
        </p:txBody>
      </p:sp>
      <p:sp>
        <p:nvSpPr>
          <p:cNvPr id="26" name="Rounded Rectangle 25"/>
          <p:cNvSpPr/>
          <p:nvPr/>
        </p:nvSpPr>
        <p:spPr>
          <a:xfrm>
            <a:off x="6705600" y="2255520"/>
            <a:ext cx="4876800" cy="2133600"/>
          </a:xfrm>
          <a:prstGeom prst="roundRect">
            <a:avLst>
              <a:gd name="adj" fmla="val 5000"/>
            </a:avLst>
          </a:prstGeom>
          <a:solidFill>
            <a:srgbClr val="F3F7F3"/>
          </a:solidFill>
          <a:ln>
            <a:noFill/>
          </a:ln>
          <a:effectLst/>
        </p:spPr>
        <p:txBody>
          <a:bodyPr rtlCol="0" anchor="ctr"/>
          <a:lstStyle/>
          <a:p>
            <a:pPr algn="ctr"/>
          </a:p>
        </p:txBody>
      </p:sp>
      <p:sp>
        <p:nvSpPr>
          <p:cNvPr id="27" name="Rounded Rectangle 26"/>
          <p:cNvSpPr/>
          <p:nvPr/>
        </p:nvSpPr>
        <p:spPr>
          <a:xfrm>
            <a:off x="6705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28" name="Rectangle 27"/>
          <p:cNvSpPr/>
          <p:nvPr/>
        </p:nvSpPr>
        <p:spPr>
          <a:xfrm>
            <a:off x="6705600" y="2453640"/>
            <a:ext cx="487680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6858000" y="23080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30" name="body · 상품명"/>
          <p:cNvSpPr txBox="1"/>
          <p:nvPr/>
        </p:nvSpPr>
        <p:spPr>
          <a:xfrm>
            <a:off x="8028431" y="23080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상품명</a:t>
            </a:r>
          </a:p>
        </p:txBody>
      </p:sp>
      <p:sp>
        <p:nvSpPr>
          <p:cNvPr id="31" name="body · 기준단가"/>
          <p:cNvSpPr txBox="1"/>
          <p:nvPr/>
        </p:nvSpPr>
        <p:spPr>
          <a:xfrm>
            <a:off x="10369296" y="2308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기준단가</a:t>
            </a:r>
          </a:p>
        </p:txBody>
      </p:sp>
      <p:sp>
        <p:nvSpPr>
          <p:cNvPr id="32" name="Rectangle 31"/>
          <p:cNvSpPr/>
          <p:nvPr/>
        </p:nvSpPr>
        <p:spPr>
          <a:xfrm>
            <a:off x="6827520" y="2857500"/>
            <a:ext cx="4632960" cy="7620"/>
          </a:xfrm>
          <a:prstGeom prst="rect">
            <a:avLst/>
          </a:prstGeom>
          <a:solidFill>
            <a:srgbClr val="D5DDD6"/>
          </a:solidFill>
          <a:ln>
            <a:noFill/>
          </a:ln>
          <a:effectLst/>
        </p:spPr>
        <p:txBody>
          <a:bodyPr rtlCol="0" anchor="ctr"/>
          <a:lstStyle/>
          <a:p>
            <a:pPr algn="ctr"/>
          </a:p>
        </p:txBody>
      </p:sp>
      <p:sp>
        <p:nvSpPr>
          <p:cNvPr id="33" name="body · P01"/>
          <p:cNvSpPr txBox="1"/>
          <p:nvPr/>
        </p:nvSpPr>
        <p:spPr>
          <a:xfrm>
            <a:off x="6858000" y="26128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P01</a:t>
            </a:r>
          </a:p>
        </p:txBody>
      </p:sp>
      <p:sp>
        <p:nvSpPr>
          <p:cNvPr id="34" name="body · 유기농 두부"/>
          <p:cNvSpPr txBox="1"/>
          <p:nvPr/>
        </p:nvSpPr>
        <p:spPr>
          <a:xfrm>
            <a:off x="8028431" y="26128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유기농 두부</a:t>
            </a:r>
          </a:p>
        </p:txBody>
      </p:sp>
      <p:sp>
        <p:nvSpPr>
          <p:cNvPr id="35" name="body · 3,500"/>
          <p:cNvSpPr txBox="1"/>
          <p:nvPr/>
        </p:nvSpPr>
        <p:spPr>
          <a:xfrm>
            <a:off x="10369296" y="2612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3,500</a:t>
            </a:r>
          </a:p>
        </p:txBody>
      </p:sp>
      <p:sp>
        <p:nvSpPr>
          <p:cNvPr id="36" name="Rectangle 35"/>
          <p:cNvSpPr/>
          <p:nvPr/>
        </p:nvSpPr>
        <p:spPr>
          <a:xfrm>
            <a:off x="6705600" y="2865120"/>
            <a:ext cx="4876800" cy="304800"/>
          </a:xfrm>
          <a:prstGeom prst="rect">
            <a:avLst/>
          </a:prstGeom>
          <a:solidFill>
            <a:srgbClr val="FFFFFF"/>
          </a:solidFill>
          <a:ln>
            <a:noFill/>
          </a:ln>
          <a:effectLst/>
        </p:spPr>
        <p:txBody>
          <a:bodyPr rtlCol="0" anchor="ctr"/>
          <a:lstStyle/>
          <a:p>
            <a:pPr algn="ctr"/>
          </a:p>
        </p:txBody>
      </p:sp>
      <p:sp>
        <p:nvSpPr>
          <p:cNvPr id="37" name="Rectangle 36"/>
          <p:cNvSpPr/>
          <p:nvPr/>
        </p:nvSpPr>
        <p:spPr>
          <a:xfrm>
            <a:off x="6827520" y="3162300"/>
            <a:ext cx="4632960" cy="7620"/>
          </a:xfrm>
          <a:prstGeom prst="rect">
            <a:avLst/>
          </a:prstGeom>
          <a:solidFill>
            <a:srgbClr val="D5DDD6"/>
          </a:solidFill>
          <a:ln>
            <a:noFill/>
          </a:ln>
          <a:effectLst/>
        </p:spPr>
        <p:txBody>
          <a:bodyPr rtlCol="0" anchor="ctr"/>
          <a:lstStyle/>
          <a:p>
            <a:pPr algn="ctr"/>
          </a:p>
        </p:txBody>
      </p:sp>
      <p:sp>
        <p:nvSpPr>
          <p:cNvPr id="38" name="body · P02"/>
          <p:cNvSpPr txBox="1"/>
          <p:nvPr/>
        </p:nvSpPr>
        <p:spPr>
          <a:xfrm>
            <a:off x="6858000" y="29176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P02</a:t>
            </a:r>
          </a:p>
        </p:txBody>
      </p:sp>
      <p:sp>
        <p:nvSpPr>
          <p:cNvPr id="39" name="body · 무농약 콩나물"/>
          <p:cNvSpPr txBox="1"/>
          <p:nvPr/>
        </p:nvSpPr>
        <p:spPr>
          <a:xfrm>
            <a:off x="8028431" y="29176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40" name="body · 2,000"/>
          <p:cNvSpPr txBox="1"/>
          <p:nvPr/>
        </p:nvSpPr>
        <p:spPr>
          <a:xfrm>
            <a:off x="10369296" y="29176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2,000</a:t>
            </a:r>
          </a:p>
        </p:txBody>
      </p:sp>
      <p:sp>
        <p:nvSpPr>
          <p:cNvPr id="41" name="Rectangle 40"/>
          <p:cNvSpPr/>
          <p:nvPr/>
        </p:nvSpPr>
        <p:spPr>
          <a:xfrm>
            <a:off x="6827520" y="3467100"/>
            <a:ext cx="4632960" cy="7620"/>
          </a:xfrm>
          <a:prstGeom prst="rect">
            <a:avLst/>
          </a:prstGeom>
          <a:solidFill>
            <a:srgbClr val="D5DDD6"/>
          </a:solidFill>
          <a:ln>
            <a:noFill/>
          </a:ln>
          <a:effectLst/>
        </p:spPr>
        <p:txBody>
          <a:bodyPr rtlCol="0" anchor="ctr"/>
          <a:lstStyle/>
          <a:p>
            <a:pPr algn="ctr"/>
          </a:p>
        </p:txBody>
      </p:sp>
      <p:sp>
        <p:nvSpPr>
          <p:cNvPr id="42" name="body · P03"/>
          <p:cNvSpPr txBox="1"/>
          <p:nvPr/>
        </p:nvSpPr>
        <p:spPr>
          <a:xfrm>
            <a:off x="6858000" y="32224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P03</a:t>
            </a:r>
          </a:p>
        </p:txBody>
      </p:sp>
      <p:sp>
        <p:nvSpPr>
          <p:cNvPr id="43" name="body · 우리밀 식빵"/>
          <p:cNvSpPr txBox="1"/>
          <p:nvPr/>
        </p:nvSpPr>
        <p:spPr>
          <a:xfrm>
            <a:off x="8028431" y="32224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우리밀 식빵</a:t>
            </a:r>
          </a:p>
        </p:txBody>
      </p:sp>
      <p:sp>
        <p:nvSpPr>
          <p:cNvPr id="44" name="body · 4,800"/>
          <p:cNvSpPr txBox="1"/>
          <p:nvPr/>
        </p:nvSpPr>
        <p:spPr>
          <a:xfrm>
            <a:off x="10369296" y="32224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4,800</a:t>
            </a:r>
          </a:p>
        </p:txBody>
      </p:sp>
      <p:sp>
        <p:nvSpPr>
          <p:cNvPr id="45" name="Rectangle 44"/>
          <p:cNvSpPr/>
          <p:nvPr/>
        </p:nvSpPr>
        <p:spPr>
          <a:xfrm>
            <a:off x="6705600" y="3474720"/>
            <a:ext cx="4876800" cy="304800"/>
          </a:xfrm>
          <a:prstGeom prst="rect">
            <a:avLst/>
          </a:prstGeom>
          <a:solidFill>
            <a:srgbClr val="FFFFFF"/>
          </a:solidFill>
          <a:ln>
            <a:noFill/>
          </a:ln>
          <a:effectLst/>
        </p:spPr>
        <p:txBody>
          <a:bodyPr rtlCol="0" anchor="ctr"/>
          <a:lstStyle/>
          <a:p>
            <a:pPr algn="ctr"/>
          </a:p>
        </p:txBody>
      </p:sp>
      <p:sp>
        <p:nvSpPr>
          <p:cNvPr id="46" name="Rectangle 45"/>
          <p:cNvSpPr/>
          <p:nvPr/>
        </p:nvSpPr>
        <p:spPr>
          <a:xfrm>
            <a:off x="6827520" y="3771900"/>
            <a:ext cx="4632960" cy="7620"/>
          </a:xfrm>
          <a:prstGeom prst="rect">
            <a:avLst/>
          </a:prstGeom>
          <a:solidFill>
            <a:srgbClr val="D5DDD6"/>
          </a:solidFill>
          <a:ln>
            <a:noFill/>
          </a:ln>
          <a:effectLst/>
        </p:spPr>
        <p:txBody>
          <a:bodyPr rtlCol="0" anchor="ctr"/>
          <a:lstStyle/>
          <a:p>
            <a:pPr algn="ctr"/>
          </a:p>
        </p:txBody>
      </p:sp>
      <p:sp>
        <p:nvSpPr>
          <p:cNvPr id="47" name="body · P04"/>
          <p:cNvSpPr txBox="1"/>
          <p:nvPr/>
        </p:nvSpPr>
        <p:spPr>
          <a:xfrm>
            <a:off x="6858000" y="35272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P04</a:t>
            </a:r>
          </a:p>
        </p:txBody>
      </p:sp>
      <p:sp>
        <p:nvSpPr>
          <p:cNvPr id="48" name="body · 유정란 10구"/>
          <p:cNvSpPr txBox="1"/>
          <p:nvPr/>
        </p:nvSpPr>
        <p:spPr>
          <a:xfrm>
            <a:off x="8028431" y="35272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49" name="body · 6,800"/>
          <p:cNvSpPr txBox="1"/>
          <p:nvPr/>
        </p:nvSpPr>
        <p:spPr>
          <a:xfrm>
            <a:off x="10369296" y="35272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6,800</a:t>
            </a:r>
          </a:p>
        </p:txBody>
      </p:sp>
      <p:sp>
        <p:nvSpPr>
          <p:cNvPr id="50" name="Rectangle 49"/>
          <p:cNvSpPr/>
          <p:nvPr/>
        </p:nvSpPr>
        <p:spPr>
          <a:xfrm>
            <a:off x="6827520" y="4076699"/>
            <a:ext cx="4632960" cy="7620"/>
          </a:xfrm>
          <a:prstGeom prst="rect">
            <a:avLst/>
          </a:prstGeom>
          <a:solidFill>
            <a:srgbClr val="D5DDD6"/>
          </a:solidFill>
          <a:ln>
            <a:noFill/>
          </a:ln>
          <a:effectLst/>
        </p:spPr>
        <p:txBody>
          <a:bodyPr rtlCol="0" anchor="ctr"/>
          <a:lstStyle/>
          <a:p>
            <a:pPr algn="ctr"/>
          </a:p>
        </p:txBody>
      </p:sp>
      <p:sp>
        <p:nvSpPr>
          <p:cNvPr id="51" name="body · P05"/>
          <p:cNvSpPr txBox="1"/>
          <p:nvPr/>
        </p:nvSpPr>
        <p:spPr>
          <a:xfrm>
            <a:off x="6858000" y="38320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P05</a:t>
            </a:r>
          </a:p>
        </p:txBody>
      </p:sp>
      <p:sp>
        <p:nvSpPr>
          <p:cNvPr id="52" name="body · 국산 참기름"/>
          <p:cNvSpPr txBox="1"/>
          <p:nvPr/>
        </p:nvSpPr>
        <p:spPr>
          <a:xfrm>
            <a:off x="8028431" y="38320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국산 참기름</a:t>
            </a:r>
          </a:p>
        </p:txBody>
      </p:sp>
      <p:sp>
        <p:nvSpPr>
          <p:cNvPr id="53" name="body · 12,000"/>
          <p:cNvSpPr txBox="1"/>
          <p:nvPr/>
        </p:nvSpPr>
        <p:spPr>
          <a:xfrm>
            <a:off x="10369296" y="3832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12,000</a:t>
            </a:r>
          </a:p>
        </p:txBody>
      </p:sp>
      <p:sp>
        <p:nvSpPr>
          <p:cNvPr id="54" name="Rectangle 53"/>
          <p:cNvSpPr/>
          <p:nvPr/>
        </p:nvSpPr>
        <p:spPr>
          <a:xfrm>
            <a:off x="6705600" y="4084320"/>
            <a:ext cx="4876800" cy="304800"/>
          </a:xfrm>
          <a:prstGeom prst="rect">
            <a:avLst/>
          </a:prstGeom>
          <a:solidFill>
            <a:srgbClr val="FFFFFF"/>
          </a:solidFill>
          <a:ln>
            <a:noFill/>
          </a:ln>
          <a:effectLst/>
        </p:spPr>
        <p:txBody>
          <a:bodyPr rtlCol="0" anchor="ctr"/>
          <a:lstStyle/>
          <a:p>
            <a:pPr algn="ctr"/>
          </a:p>
        </p:txBody>
      </p:sp>
      <p:sp>
        <p:nvSpPr>
          <p:cNvPr id="55" name="body · P06"/>
          <p:cNvSpPr txBox="1"/>
          <p:nvPr/>
        </p:nvSpPr>
        <p:spPr>
          <a:xfrm>
            <a:off x="6858000" y="41368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P06</a:t>
            </a:r>
          </a:p>
        </p:txBody>
      </p:sp>
      <p:sp>
        <p:nvSpPr>
          <p:cNvPr id="56" name="body · 현미 잡곡 1kg"/>
          <p:cNvSpPr txBox="1"/>
          <p:nvPr/>
        </p:nvSpPr>
        <p:spPr>
          <a:xfrm>
            <a:off x="8028431" y="41368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현미 잡곡 1kg</a:t>
            </a:r>
          </a:p>
        </p:txBody>
      </p:sp>
      <p:sp>
        <p:nvSpPr>
          <p:cNvPr id="57" name="body · 8,500"/>
          <p:cNvSpPr txBox="1"/>
          <p:nvPr/>
        </p:nvSpPr>
        <p:spPr>
          <a:xfrm>
            <a:off x="10369296" y="4136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8,500</a:t>
            </a:r>
          </a:p>
        </p:txBody>
      </p:sp>
      <p:pic>
        <p:nvPicPr>
          <p:cNvPr id="58" name="Picture 57" descr="arrow-right-2F7048.png"/>
          <p:cNvPicPr>
            <a:picLocks noChangeAspect="1"/>
          </p:cNvPicPr>
          <p:nvPr/>
        </p:nvPicPr>
        <p:blipFill>
          <a:blip r:embed="rId2"/>
          <a:srcRect/>
          <a:stretch>
            <a:fillRect/>
          </a:stretch>
        </p:blipFill>
        <p:spPr>
          <a:xfrm>
            <a:off x="5791200" y="2514600"/>
            <a:ext cx="365760" cy="365760"/>
          </a:xfrm>
          <a:prstGeom prst="rect">
            <a:avLst/>
          </a:prstGeom>
        </p:spPr>
      </p:pic>
      <p:sp>
        <p:nvSpPr>
          <p:cNvPr id="59" name="label · 상품ID로&#10;잇기"/>
          <p:cNvSpPr txBox="1"/>
          <p:nvPr/>
        </p:nvSpPr>
        <p:spPr>
          <a:xfrm>
            <a:off x="5577840" y="2941320"/>
            <a:ext cx="838200" cy="4572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2F7048"/>
                </a:solidFill>
                <a:latin typeface="Noto Sans KR"/>
                <a:ea typeface="Noto Sans KR"/>
                <a:cs typeface="Noto Sans KR"/>
              </a:rPr>
              <a:t>상품ID로</a:t>
            </a:r>
          </a:p>
          <a:p>
            <a:pPr algn="ctr">
              <a:lnSpc>
                <a:spcPts val="1490"/>
              </a:lnSpc>
              <a:spcBef>
                <a:spcPts val="0"/>
              </a:spcBef>
              <a:spcAft>
                <a:spcPts val="0"/>
              </a:spcAft>
            </a:pPr>
            <a:r>
              <a:rPr sz="1080" b="1">
                <a:solidFill>
                  <a:srgbClr val="2F7048"/>
                </a:solidFill>
                <a:latin typeface="Noto Sans KR"/>
                <a:ea typeface="Noto Sans KR"/>
                <a:cs typeface="Noto Sans KR"/>
              </a:rPr>
              <a:t>잇기</a:t>
            </a:r>
          </a:p>
        </p:txBody>
      </p:sp>
      <p:sp>
        <p:nvSpPr>
          <p:cNvPr id="60" name="label · 이은 결과 · 짝이 없는 코드는 「미등록 상품」으로"/>
          <p:cNvSpPr txBox="1"/>
          <p:nvPr/>
        </p:nvSpPr>
        <p:spPr>
          <a:xfrm>
            <a:off x="609600" y="4587240"/>
            <a:ext cx="10972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이은 결과 · 짝이 없는 코드는 「미등록 상품」으로 빠집니다</a:t>
            </a:r>
          </a:p>
        </p:txBody>
      </p:sp>
      <p:sp>
        <p:nvSpPr>
          <p:cNvPr id="61" name="Rounded Rectangle 60"/>
          <p:cNvSpPr/>
          <p:nvPr/>
        </p:nvSpPr>
        <p:spPr>
          <a:xfrm>
            <a:off x="609600" y="4846320"/>
            <a:ext cx="10972800" cy="1219200"/>
          </a:xfrm>
          <a:prstGeom prst="roundRect">
            <a:avLst>
              <a:gd name="adj" fmla="val 8750"/>
            </a:avLst>
          </a:prstGeom>
          <a:solidFill>
            <a:srgbClr val="F3F7F3"/>
          </a:solidFill>
          <a:ln>
            <a:noFill/>
          </a:ln>
          <a:effectLst/>
        </p:spPr>
        <p:txBody>
          <a:bodyPr rtlCol="0" anchor="ctr"/>
          <a:lstStyle/>
          <a:p>
            <a:pPr algn="ctr"/>
          </a:p>
        </p:txBody>
      </p:sp>
      <p:sp>
        <p:nvSpPr>
          <p:cNvPr id="62" name="Rounded Rectangle 61"/>
          <p:cNvSpPr/>
          <p:nvPr/>
        </p:nvSpPr>
        <p:spPr>
          <a:xfrm>
            <a:off x="609600" y="4846320"/>
            <a:ext cx="10972800" cy="304800"/>
          </a:xfrm>
          <a:prstGeom prst="roundRect">
            <a:avLst>
              <a:gd name="adj" fmla="val 35000"/>
            </a:avLst>
          </a:prstGeom>
          <a:solidFill>
            <a:srgbClr val="1D4430"/>
          </a:solidFill>
          <a:ln>
            <a:noFill/>
          </a:ln>
          <a:effectLst/>
        </p:spPr>
        <p:txBody>
          <a:bodyPr rtlCol="0" anchor="ctr"/>
          <a:lstStyle/>
          <a:p>
            <a:pPr algn="ctr"/>
          </a:p>
        </p:txBody>
      </p:sp>
      <p:sp>
        <p:nvSpPr>
          <p:cNvPr id="63" name="Rectangle 62"/>
          <p:cNvSpPr/>
          <p:nvPr/>
        </p:nvSpPr>
        <p:spPr>
          <a:xfrm>
            <a:off x="609600" y="5044440"/>
            <a:ext cx="10972800" cy="106680"/>
          </a:xfrm>
          <a:prstGeom prst="rect">
            <a:avLst/>
          </a:prstGeom>
          <a:solidFill>
            <a:srgbClr val="1D4430"/>
          </a:solidFill>
          <a:ln>
            <a:noFill/>
          </a:ln>
          <a:effectLst/>
        </p:spPr>
        <p:txBody>
          <a:bodyPr rtlCol="0" anchor="ctr"/>
          <a:lstStyle/>
          <a:p>
            <a:pPr algn="ctr"/>
          </a:p>
        </p:txBody>
      </p:sp>
      <p:sp>
        <p:nvSpPr>
          <p:cNvPr id="64" name="body · 거래행ID"/>
          <p:cNvSpPr txBox="1"/>
          <p:nvPr/>
        </p:nvSpPr>
        <p:spPr>
          <a:xfrm>
            <a:off x="762000" y="48988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65" name="body · 상품ID"/>
          <p:cNvSpPr txBox="1"/>
          <p:nvPr/>
        </p:nvSpPr>
        <p:spPr>
          <a:xfrm>
            <a:off x="3505200" y="48988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66" name="body · 붙은 상품명"/>
          <p:cNvSpPr txBox="1"/>
          <p:nvPr/>
        </p:nvSpPr>
        <p:spPr>
          <a:xfrm>
            <a:off x="5151120" y="48988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붙은 상품명</a:t>
            </a:r>
          </a:p>
        </p:txBody>
      </p:sp>
      <p:sp>
        <p:nvSpPr>
          <p:cNvPr id="67" name="body · 결과"/>
          <p:cNvSpPr txBox="1"/>
          <p:nvPr/>
        </p:nvSpPr>
        <p:spPr>
          <a:xfrm>
            <a:off x="8991600" y="48988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결과</a:t>
            </a:r>
          </a:p>
        </p:txBody>
      </p:sp>
      <p:sp>
        <p:nvSpPr>
          <p:cNvPr id="68" name="Rectangle 67"/>
          <p:cNvSpPr/>
          <p:nvPr/>
        </p:nvSpPr>
        <p:spPr>
          <a:xfrm>
            <a:off x="731520" y="5448300"/>
            <a:ext cx="10728960" cy="7620"/>
          </a:xfrm>
          <a:prstGeom prst="rect">
            <a:avLst/>
          </a:prstGeom>
          <a:solidFill>
            <a:srgbClr val="D5DDD6"/>
          </a:solidFill>
          <a:ln>
            <a:noFill/>
          </a:ln>
          <a:effectLst/>
        </p:spPr>
        <p:txBody>
          <a:bodyPr rtlCol="0" anchor="ctr"/>
          <a:lstStyle/>
          <a:p>
            <a:pPr algn="ctr"/>
          </a:p>
        </p:txBody>
      </p:sp>
      <p:sp>
        <p:nvSpPr>
          <p:cNvPr id="69" name="body · S02-TX-001"/>
          <p:cNvSpPr txBox="1"/>
          <p:nvPr/>
        </p:nvSpPr>
        <p:spPr>
          <a:xfrm>
            <a:off x="762000" y="52036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70" name="body · P04"/>
          <p:cNvSpPr txBox="1"/>
          <p:nvPr/>
        </p:nvSpPr>
        <p:spPr>
          <a:xfrm>
            <a:off x="3505200" y="52036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71" name="body · 유정란 10구"/>
          <p:cNvSpPr txBox="1"/>
          <p:nvPr/>
        </p:nvSpPr>
        <p:spPr>
          <a:xfrm>
            <a:off x="5151120" y="52036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72" name="body · 통과"/>
          <p:cNvSpPr txBox="1"/>
          <p:nvPr/>
        </p:nvSpPr>
        <p:spPr>
          <a:xfrm>
            <a:off x="8991600" y="52036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3" name="Rectangle 72"/>
          <p:cNvSpPr/>
          <p:nvPr/>
        </p:nvSpPr>
        <p:spPr>
          <a:xfrm>
            <a:off x="609600" y="5455920"/>
            <a:ext cx="10972800" cy="304800"/>
          </a:xfrm>
          <a:prstGeom prst="rect">
            <a:avLst/>
          </a:prstGeom>
          <a:solidFill>
            <a:srgbClr val="FFFFFF"/>
          </a:solidFill>
          <a:ln>
            <a:noFill/>
          </a:ln>
          <a:effectLst/>
        </p:spPr>
        <p:txBody>
          <a:bodyPr rtlCol="0" anchor="ctr"/>
          <a:lstStyle/>
          <a:p>
            <a:pPr algn="ctr"/>
          </a:p>
        </p:txBody>
      </p:sp>
      <p:sp>
        <p:nvSpPr>
          <p:cNvPr id="74" name="Rectangle 73"/>
          <p:cNvSpPr/>
          <p:nvPr/>
        </p:nvSpPr>
        <p:spPr>
          <a:xfrm>
            <a:off x="731520" y="5753100"/>
            <a:ext cx="10728960" cy="7620"/>
          </a:xfrm>
          <a:prstGeom prst="rect">
            <a:avLst/>
          </a:prstGeom>
          <a:solidFill>
            <a:srgbClr val="D5DDD6"/>
          </a:solidFill>
          <a:ln>
            <a:noFill/>
          </a:ln>
          <a:effectLst/>
        </p:spPr>
        <p:txBody>
          <a:bodyPr rtlCol="0" anchor="ctr"/>
          <a:lstStyle/>
          <a:p>
            <a:pPr algn="ctr"/>
          </a:p>
        </p:txBody>
      </p:sp>
      <p:sp>
        <p:nvSpPr>
          <p:cNvPr id="75" name="body · S02-TX-003"/>
          <p:cNvSpPr txBox="1"/>
          <p:nvPr/>
        </p:nvSpPr>
        <p:spPr>
          <a:xfrm>
            <a:off x="762000" y="55084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76" name="body · P02"/>
          <p:cNvSpPr txBox="1"/>
          <p:nvPr/>
        </p:nvSpPr>
        <p:spPr>
          <a:xfrm>
            <a:off x="3505200" y="55084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77" name="body · 무농약 콩나물"/>
          <p:cNvSpPr txBox="1"/>
          <p:nvPr/>
        </p:nvSpPr>
        <p:spPr>
          <a:xfrm>
            <a:off x="5151120" y="55084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78" name="body · 통과"/>
          <p:cNvSpPr txBox="1"/>
          <p:nvPr/>
        </p:nvSpPr>
        <p:spPr>
          <a:xfrm>
            <a:off x="8991600" y="55084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9" name="body · S02-TX-036"/>
          <p:cNvSpPr txBox="1"/>
          <p:nvPr/>
        </p:nvSpPr>
        <p:spPr>
          <a:xfrm>
            <a:off x="762000" y="58132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80" name="body · P99"/>
          <p:cNvSpPr txBox="1"/>
          <p:nvPr/>
        </p:nvSpPr>
        <p:spPr>
          <a:xfrm>
            <a:off x="3505200" y="58132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81" name="body · (기준표에 없음)"/>
          <p:cNvSpPr txBox="1"/>
          <p:nvPr/>
        </p:nvSpPr>
        <p:spPr>
          <a:xfrm>
            <a:off x="5151120" y="58132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(기준표에 없음)</a:t>
            </a:r>
          </a:p>
        </p:txBody>
      </p:sp>
      <p:sp>
        <p:nvSpPr>
          <p:cNvPr id="82" name="body · 미등록 상품 · 제외"/>
          <p:cNvSpPr txBox="1"/>
          <p:nvPr/>
        </p:nvSpPr>
        <p:spPr>
          <a:xfrm>
            <a:off x="8991600" y="58132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미등록 상품 · 제외</a:t>
            </a:r>
          </a:p>
        </p:txBody>
      </p:sp>
      <p:sp>
        <p:nvSpPr>
          <p:cNvPr id="8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4" name="footer · 1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2 · 모르는 말은 「다섯 살에게 설명해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2 · 모르는 말은 「다섯 살에게 설명해 줘」</a:t>
            </a:r>
          </a:p>
        </p:txBody>
      </p:sp>
      <p:sp>
        <p:nvSpPr>
          <p:cNvPr id="5" name="subtitle · ELI5(Explain Like I'm 5) · 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ELI5(Explain Like I'm 5) · 오후에 나올 말 두 개를 먼저 쉽게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아무 도구에나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아무 도구에나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명이 어려우면 「더 쉽게」라고 한 번&#10;더 보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설명이 어려우면 「더 쉽게」라고 한 번</a:t>
            </a:r>
          </a:p>
          <a:p>
            <a:pPr algn="l">
              <a:lnSpc>
                <a:spcPts val="2235"/>
              </a:lnSpc>
              <a:spcBef>
                <a:spcPts val="0"/>
              </a:spcBef>
              <a:spcAft>
                <a:spcPts val="0"/>
              </a:spcAft>
            </a:pPr>
            <a:r>
              <a:rPr sz="1620" b="0">
                <a:solidFill>
                  <a:srgbClr val="17221B"/>
                </a:solidFill>
                <a:latin typeface="Noto Sans KR"/>
                <a:ea typeface="Noto Sans KR"/>
                <a:cs typeface="Noto Sans KR"/>
              </a:rPr>
              <a:t>더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후 내내 모르는 말이 나오면 이렇게&#10;물으면 됩니다"/>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오후 내내 모르는 말이 나오면 이렇게</a:t>
            </a:r>
          </a:p>
          <a:p>
            <a:pPr algn="l">
              <a:lnSpc>
                <a:spcPts val="2235"/>
              </a:lnSpc>
              <a:spcBef>
                <a:spcPts val="0"/>
              </a:spcBef>
              <a:spcAft>
                <a:spcPts val="0"/>
              </a:spcAft>
            </a:pPr>
            <a:r>
              <a:rPr sz="1620" b="0">
                <a:solidFill>
                  <a:srgbClr val="17221B"/>
                </a:solidFill>
                <a:latin typeface="Noto Sans KR"/>
                <a:ea typeface="Noto Sans KR"/>
                <a:cs typeface="Noto Sans KR"/>
              </a:rPr>
              <a:t>물으면 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다섯 살에게 설명하듯(ELI5) 「가명처리」가 무엇"/>
          <p:cNvSpPr txBox="1"/>
          <p:nvPr/>
        </p:nvSpPr>
        <p:spPr>
          <a:xfrm>
            <a:off x="5303520" y="2468880"/>
            <a:ext cx="6080760" cy="1007363"/>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다섯 살에게 설명하듯(ELI5) 「가명처리」가 무엇인지 알려 줘.</a:t>
            </a:r>
          </a:p>
          <a:p>
            <a:pPr algn="l">
              <a:lnSpc>
                <a:spcPts val="2483"/>
              </a:lnSpc>
              <a:spcBef>
                <a:spcPts val="0"/>
              </a:spcBef>
              <a:spcAft>
                <a:spcPts val="0"/>
              </a:spcAft>
            </a:pPr>
            <a:r>
              <a:rPr sz="1800" b="0">
                <a:solidFill>
                  <a:srgbClr val="E4EFE6"/>
                </a:solidFill>
                <a:latin typeface="Noto Sans KR"/>
                <a:ea typeface="Noto Sans KR"/>
                <a:cs typeface="Noto Sans KR"/>
              </a:rPr>
              <a:t>비유 하나를 들고 세 문장 안으로.</a:t>
            </a:r>
          </a:p>
          <a:p>
            <a:pPr algn="l">
              <a:lnSpc>
                <a:spcPts val="2483"/>
              </a:lnSpc>
              <a:spcBef>
                <a:spcPts val="0"/>
              </a:spcBef>
              <a:spcAft>
                <a:spcPts val="0"/>
              </a:spcAft>
            </a:pPr>
            <a:r>
              <a:rPr sz="1800" b="0">
                <a:solidFill>
                  <a:srgbClr val="E4EFE6"/>
                </a:solidFill>
                <a:latin typeface="Noto Sans KR"/>
                <a:ea typeface="Noto Sans KR"/>
                <a:cs typeface="Noto Sans KR"/>
              </a:rPr>
              <a:t>그다음 「JOIN」도 같은 방식으로 설명해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처리」와 「JOIN」을 내 말로 한 줄씩 말할"/>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「가명처리」와 「JOIN」을 내 말로 한 줄씩 말할 수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하네스 확인 · 두 도구가 같은 규칙을 읽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본인 도구에 보내 보세요.&#10;두 도구가"/>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본인 도구에 보내 보세요.</a:t>
            </a:r>
          </a:p>
          <a:p>
            <a:pPr algn="l">
              <a:lnSpc>
                <a:spcPts val="2235"/>
              </a:lnSpc>
              <a:spcBef>
                <a:spcPts val="0"/>
              </a:spcBef>
              <a:spcAft>
                <a:spcPts val="0"/>
              </a:spcAft>
            </a:pPr>
            <a:r>
              <a:rPr sz="1620" b="0">
                <a:solidFill>
                  <a:srgbClr val="17221B"/>
                </a:solidFill>
                <a:latin typeface="Noto Sans KR"/>
                <a:ea typeface="Noto Sans KR"/>
                <a:cs typeface="Noto Sans KR"/>
              </a:rPr>
              <a:t>두 도구가 다 있으면 각각 보냅니다.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는 고치지 않기, 결과는 결과&#10;폴더에 같은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입력자료는 고치지 않기, 결과는 결과</a:t>
            </a:r>
          </a:p>
          <a:p>
            <a:pPr algn="l">
              <a:lnSpc>
                <a:spcPts val="2235"/>
              </a:lnSpc>
              <a:spcBef>
                <a:spcPts val="0"/>
              </a:spcBef>
              <a:spcAft>
                <a:spcPts val="0"/>
              </a:spcAft>
            </a:pPr>
            <a:r>
              <a:rPr sz="1620" b="0">
                <a:solidFill>
                  <a:srgbClr val="17221B"/>
                </a:solidFill>
                <a:latin typeface="Noto Sans KR"/>
                <a:ea typeface="Noto Sans KR"/>
                <a:cs typeface="Noto Sans KR"/>
              </a:rPr>
              <a:t>폴더에 같은 규칙을 말하는지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없는 프로그램은 적어 두기만 합니다. Python은"/>
          <p:cNvSpPr txBox="1"/>
          <p:nvPr/>
        </p:nvSpPr>
        <p:spPr>
          <a:xfrm>
            <a:off x="1219200" y="450385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없는 프로그램은 적어 두기만 합니다. Python은</a:t>
            </a:r>
          </a:p>
          <a:p>
            <a:pPr algn="l">
              <a:lnSpc>
                <a:spcPts val="1904"/>
              </a:lnSpc>
              <a:spcBef>
                <a:spcPts val="0"/>
              </a:spcBef>
              <a:spcAft>
                <a:spcPts val="0"/>
              </a:spcAft>
            </a:pPr>
            <a:r>
              <a:rPr sz="1380" b="0">
                <a:solidFill>
                  <a:srgbClr val="17221B"/>
                </a:solidFill>
                <a:latin typeface="Noto Sans KR"/>
                <a:ea typeface="Noto Sans KR"/>
                <a:cs typeface="Noto Sans KR"/>
              </a:rPr>
              <a:t>뒤의 챌린지에서 설치하고, Node.js는 선택 실습</a:t>
            </a:r>
          </a:p>
          <a:p>
            <a:pPr algn="l">
              <a:lnSpc>
                <a:spcPts val="1904"/>
              </a:lnSpc>
              <a:spcBef>
                <a:spcPts val="0"/>
              </a:spcBef>
              <a:spcAft>
                <a:spcPts val="0"/>
              </a:spcAft>
            </a:pPr>
            <a:r>
              <a:rPr sz="1380" b="0">
                <a:solidFill>
                  <a:srgbClr val="17221B"/>
                </a:solidFill>
                <a:latin typeface="Noto Sans KR"/>
                <a:ea typeface="Noto Sans KR"/>
                <a:cs typeface="Noto Sans KR"/>
              </a:rPr>
              <a:t>D(MCP)에서만 필요합니다.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68880"/>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 맨 위의 규칙 파일 AGENTS.md를 먼저 읽어 줘. Claude</a:t>
            </a:r>
          </a:p>
          <a:p>
            <a:pPr algn="l">
              <a:lnSpc>
                <a:spcPts val="2235"/>
              </a:lnSpc>
              <a:spcBef>
                <a:spcPts val="0"/>
              </a:spcBef>
              <a:spcAft>
                <a:spcPts val="0"/>
              </a:spcAft>
            </a:pPr>
            <a:r>
              <a:rPr sz="1620" b="0">
                <a:solidFill>
                  <a:srgbClr val="E4EFE6"/>
                </a:solidFill>
                <a:latin typeface="Noto Sans KR"/>
                <a:ea typeface="Noto Sans KR"/>
                <a:cs typeface="Noto Sans KR"/>
              </a:rPr>
              <a:t>Code와 Codex 모두 이 파일 하나를 읽으면 돼.</a:t>
            </a:r>
          </a:p>
          <a:p>
            <a:pPr algn="l">
              <a:lnSpc>
                <a:spcPts val="2235"/>
              </a:lnSpc>
              <a:spcBef>
                <a:spcPts val="0"/>
              </a:spcBef>
              <a:spcAft>
                <a:spcPts val="0"/>
              </a:spcAft>
            </a:pPr>
            <a:r>
              <a:rPr sz="1620" b="0">
                <a:solidFill>
                  <a:srgbClr val="E4EFE6"/>
                </a:solidFill>
                <a:latin typeface="Noto Sans KR"/>
                <a:ea typeface="Noto Sans KR"/>
                <a:cs typeface="Noto Sans KR"/>
              </a:rPr>
              <a:t>1. 이 폴더에서 지켜야 할 규칙 세 가지를 쉬운 말로 알려 줘.</a:t>
            </a:r>
          </a:p>
          <a:p>
            <a:pPr algn="l">
              <a:lnSpc>
                <a:spcPts val="2235"/>
              </a:lnSpc>
              <a:spcBef>
                <a:spcPts val="0"/>
              </a:spcBef>
              <a:spcAft>
                <a:spcPts val="0"/>
              </a:spcAft>
            </a:pPr>
            <a:r>
              <a:rPr sz="1620" b="0">
                <a:solidFill>
                  <a:srgbClr val="E4EFE6"/>
                </a:solidFill>
                <a:latin typeface="Noto Sans KR"/>
                <a:ea typeface="Noto Sans KR"/>
                <a:cs typeface="Noto Sans KR"/>
              </a:rPr>
              <a:t>2. Python과 openpyxl이 이 PC에 있는지 확인해 줘. 가명처리와 매출</a:t>
            </a:r>
          </a:p>
          <a:p>
            <a:pPr algn="l">
              <a:lnSpc>
                <a:spcPts val="2235"/>
              </a:lnSpc>
              <a:spcBef>
                <a:spcPts val="0"/>
              </a:spcBef>
              <a:spcAft>
                <a:spcPts val="0"/>
              </a:spcAft>
            </a:pPr>
            <a:r>
              <a:rPr sz="1620" b="0">
                <a:solidFill>
                  <a:srgbClr val="E4EFE6"/>
                </a:solidFill>
                <a:latin typeface="Noto Sans KR"/>
                <a:ea typeface="Noto Sans KR"/>
                <a:cs typeface="Noto Sans KR"/>
              </a:rPr>
              <a:t>정리에 필요해.</a:t>
            </a:r>
          </a:p>
          <a:p>
            <a:pPr algn="l">
              <a:lnSpc>
                <a:spcPts val="2235"/>
              </a:lnSpc>
              <a:spcBef>
                <a:spcPts val="0"/>
              </a:spcBef>
              <a:spcAft>
                <a:spcPts val="0"/>
              </a:spcAft>
            </a:pPr>
            <a:r>
              <a:rPr sz="1620" b="0">
                <a:solidFill>
                  <a:srgbClr val="E4EFE6"/>
                </a:solidFill>
                <a:latin typeface="Noto Sans KR"/>
                <a:ea typeface="Noto Sans KR"/>
                <a:cs typeface="Noto Sans KR"/>
              </a:rPr>
              <a:t>3. Node.js가 있는지도 확인해 줘. 선택 실습의 MCP를 할 때만 필요해.</a:t>
            </a:r>
          </a:p>
          <a:p>
            <a:pPr algn="l">
              <a:lnSpc>
                <a:spcPts val="2235"/>
              </a:lnSpc>
              <a:spcBef>
                <a:spcPts val="0"/>
              </a:spcBef>
              <a:spcAft>
                <a:spcPts val="0"/>
              </a:spcAft>
            </a:pPr>
            <a:r>
              <a:rPr sz="1620" b="0">
                <a:solidFill>
                  <a:srgbClr val="E4EFE6"/>
                </a:solidFill>
                <a:latin typeface="Noto Sans KR"/>
                <a:ea typeface="Noto Sans KR"/>
                <a:cs typeface="Noto Sans KR"/>
              </a:rPr>
              <a:t>4. 없는 것은 무엇이 없는지만 알려 줘. Python 설치는 뒤의 챌린지</a:t>
            </a:r>
          </a:p>
          <a:p>
            <a:pPr algn="l">
              <a:lnSpc>
                <a:spcPts val="2235"/>
              </a:lnSpc>
              <a:spcBef>
                <a:spcPts val="0"/>
              </a:spcBef>
              <a:spcAft>
                <a:spcPts val="0"/>
              </a:spcAft>
            </a:pPr>
            <a:r>
              <a:rPr sz="1620" b="0">
                <a:solidFill>
                  <a:srgbClr val="E4EFE6"/>
                </a:solidFill>
                <a:latin typeface="Noto Sans KR"/>
                <a:ea typeface="Noto Sans KR"/>
                <a:cs typeface="Noto Sans KR"/>
              </a:rPr>
              <a:t>단계에서 할게.</a:t>
            </a:r>
          </a:p>
          <a:p>
            <a:pPr algn="l">
              <a:lnSpc>
                <a:spcPts val="2235"/>
              </a:lnSpc>
              <a:spcBef>
                <a:spcPts val="0"/>
              </a:spcBef>
              <a:spcAft>
                <a:spcPts val="0"/>
              </a:spcAft>
            </a:pPr>
            <a:r>
              <a:rPr sz="1620"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규칙 세 가지를 말하면 됐습니다. 없는 프로그램은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규칙 세 가지를 말하면 됐습니다. 없는 프로그램은 이름만 적어 둡니다.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1 · 원본은 읽지 말고 열 정보로 코드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지우기: 휴대전화·이메일·메모 · 가명: 이름→M0"/>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지우기: 휴대전화·이메일·메모 · 가명: 이름→M01 · 범위 줄이기: 주소→시·구 · 가명 자료도 개인정보</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와 형태만 "/>
          <p:cNvSpPr txBox="1"/>
          <p:nvPr/>
        </p:nvSpPr>
        <p:spPr>
          <a:xfrm>
            <a:off x="838200" y="2514600"/>
            <a:ext cx="10515600" cy="335280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원본 파일은 절대 열거나 읽지 마. 경로와 형태만 알려 줄게.</a:t>
            </a:r>
          </a:p>
          <a:p>
            <a:pPr algn="l">
              <a:lnSpc>
                <a:spcPts val="2318"/>
              </a:lnSpc>
              <a:spcBef>
                <a:spcPts val="0"/>
              </a:spcBef>
              <a:spcAft>
                <a:spcPts val="0"/>
              </a:spcAft>
            </a:pPr>
            <a:r>
              <a:rPr sz="1680" b="0">
                <a:solidFill>
                  <a:srgbClr val="E4EFE6"/>
                </a:solidFill>
                <a:latin typeface="Noto Sans KR"/>
                <a:ea typeface="Noto Sans KR"/>
                <a:cs typeface="Noto Sans KR"/>
              </a:rPr>
              <a:t>원본 경로: 입력자료/00_가상_전처리원본.xlsx (시트: 거래와개인정보)</a:t>
            </a:r>
          </a:p>
          <a:p>
            <a:pPr algn="l">
              <a:lnSpc>
                <a:spcPts val="2318"/>
              </a:lnSpc>
              <a:spcBef>
                <a:spcPts val="0"/>
              </a:spcBef>
              <a:spcAft>
                <a:spcPts val="0"/>
              </a:spcAft>
            </a:pPr>
            <a:r>
              <a:rPr sz="168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318"/>
              </a:lnSpc>
              <a:spcBef>
                <a:spcPts val="0"/>
              </a:spcBef>
              <a:spcAft>
                <a:spcPts val="0"/>
              </a:spcAft>
            </a:pPr>
            <a:r>
              <a:rPr sz="1680" b="0">
                <a:solidFill>
                  <a:srgbClr val="E4EFE6"/>
                </a:solidFill>
                <a:latin typeface="Noto Sans KR"/>
                <a:ea typeface="Noto Sans KR"/>
                <a:cs typeface="Noto Sans KR"/>
              </a:rPr>
              <a:t>가짜 예시 한 줄: S00-TX-000 | 2026-09-01 | S00 | P00 | 1 | 1000 | 1000 | 홍길동 | 010-0000-0000 |</a:t>
            </a:r>
          </a:p>
          <a:p>
            <a:pPr algn="l">
              <a:lnSpc>
                <a:spcPts val="2318"/>
              </a:lnSpc>
              <a:spcBef>
                <a:spcPts val="0"/>
              </a:spcBef>
              <a:spcAft>
                <a:spcPts val="0"/>
              </a:spcAft>
            </a:pPr>
            <a:r>
              <a:rPr sz="1680" b="0">
                <a:solidFill>
                  <a:srgbClr val="E4EFE6"/>
                </a:solidFill>
                <a:latin typeface="Noto Sans KR"/>
                <a:ea typeface="Noto Sans KR"/>
                <a:cs typeface="Noto Sans KR"/>
              </a:rPr>
              <a:t>hong@example.com | 경기 용인시 기흥구 구갈동 | (빈칸)</a:t>
            </a:r>
          </a:p>
          <a:p>
            <a:pPr algn="l">
              <a:lnSpc>
                <a:spcPts val="2318"/>
              </a:lnSpc>
              <a:spcBef>
                <a:spcPts val="0"/>
              </a:spcBef>
              <a:spcAft>
                <a:spcPts val="0"/>
              </a:spcAft>
            </a:pPr>
            <a:r>
              <a:rPr sz="1680" b="0">
                <a:solidFill>
                  <a:srgbClr val="E4EFE6"/>
                </a:solidFill>
                <a:latin typeface="Noto Sans KR"/>
                <a:ea typeface="Noto Sans KR"/>
                <a:cs typeface="Noto Sans KR"/>
              </a:rPr>
              <a:t>이것만 보고 결과/가명처리.py를 만들어 줘. 아직 실행하지 마.</a:t>
            </a:r>
          </a:p>
          <a:p>
            <a:pPr algn="l">
              <a:lnSpc>
                <a:spcPts val="2318"/>
              </a:lnSpc>
              <a:spcBef>
                <a:spcPts val="0"/>
              </a:spcBef>
              <a:spcAft>
                <a:spcPts val="0"/>
              </a:spcAft>
            </a:pPr>
            <a:r>
              <a:rPr sz="1680" b="0">
                <a:solidFill>
                  <a:srgbClr val="E4EFE6"/>
                </a:solidFill>
                <a:latin typeface="Noto Sans KR"/>
                <a:ea typeface="Noto Sans KR"/>
                <a:cs typeface="Noto Sans KR"/>
              </a:rPr>
              <a:t>1. 이름·휴대전화가 같으면 같은 가명ID(M01부터)를 써.</a:t>
            </a:r>
          </a:p>
          <a:p>
            <a:pPr algn="l">
              <a:lnSpc>
                <a:spcPts val="2318"/>
              </a:lnSpc>
              <a:spcBef>
                <a:spcPts val="0"/>
              </a:spcBef>
              <a:spcAft>
                <a:spcPts val="0"/>
              </a:spcAft>
            </a:pPr>
            <a:r>
              <a:rPr sz="1680" b="0">
                <a:solidFill>
                  <a:srgbClr val="E4EFE6"/>
                </a:solidFill>
                <a:latin typeface="Noto Sans KR"/>
                <a:ea typeface="Noto Sans KR"/>
                <a:cs typeface="Noto Sans KR"/>
              </a:rPr>
              <a:t>2. 휴대전화·이메일·배송메모는 지우고, 주소는 「경기 용인시 기흥구」처럼 시·구까지만 지역 열로 남겨.</a:t>
            </a:r>
          </a:p>
          <a:p>
            <a:pPr algn="l">
              <a:lnSpc>
                <a:spcPts val="2318"/>
              </a:lnSpc>
              <a:spcBef>
                <a:spcPts val="0"/>
              </a:spcBef>
              <a:spcAft>
                <a:spcPts val="0"/>
              </a:spcAft>
            </a:pPr>
            <a:r>
              <a:rPr sz="1680" b="0">
                <a:solidFill>
                  <a:srgbClr val="E4EFE6"/>
                </a:solidFill>
                <a:latin typeface="Noto Sans KR"/>
                <a:ea typeface="Noto Sans KR"/>
                <a:cs typeface="Noto Sans KR"/>
              </a:rPr>
              <a:t>3. 가명 자료는 결과/가명자료/가명_자료.xlsx에 저장해. AI는 앞으로 이 폴더만 읽어.</a:t>
            </a:r>
          </a:p>
          <a:p>
            <a:pPr algn="l">
              <a:lnSpc>
                <a:spcPts val="2318"/>
              </a:lnSpc>
              <a:spcBef>
                <a:spcPts val="0"/>
              </a:spcBef>
              <a:spcAft>
                <a:spcPts val="0"/>
              </a:spcAft>
            </a:pPr>
            <a:r>
              <a:rPr sz="168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318"/>
              </a:lnSpc>
              <a:spcBef>
                <a:spcPts val="0"/>
              </a:spcBef>
              <a:spcAft>
                <a:spcPts val="0"/>
              </a:spcAft>
            </a:pPr>
            <a:r>
              <a:rPr sz="168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챌린지 · AI에게 파이썬 설치 맡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해도 될까요?」라고 물으면 명령에&#10;winget"/>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「설치해도 될까요?」라고 물으면 명령에</a:t>
            </a:r>
          </a:p>
          <a:p>
            <a:pPr algn="l">
              <a:lnSpc>
                <a:spcPts val="2070"/>
              </a:lnSpc>
              <a:spcBef>
                <a:spcPts val="0"/>
              </a:spcBef>
              <a:spcAft>
                <a:spcPts val="0"/>
              </a:spcAft>
            </a:pPr>
            <a:r>
              <a:rPr sz="1500" b="0">
                <a:solidFill>
                  <a:srgbClr val="17221B"/>
                </a:solidFill>
                <a:latin typeface="Noto Sans KR"/>
                <a:ea typeface="Noto Sans KR"/>
                <a:cs typeface="Noto Sans KR"/>
              </a:rPr>
              <a:t>winget과 Python.Python.3.12가 맞는지</a:t>
            </a:r>
          </a:p>
          <a:p>
            <a:pPr algn="l">
              <a:lnSpc>
                <a:spcPts val="2070"/>
              </a:lnSpc>
              <a:spcBef>
                <a:spcPts val="0"/>
              </a:spcBef>
              <a:spcAft>
                <a:spcPts val="0"/>
              </a:spcAft>
            </a:pPr>
            <a:r>
              <a:rPr sz="1500" b="0">
                <a:solidFill>
                  <a:srgbClr val="17221B"/>
                </a:solidFill>
                <a:latin typeface="Noto Sans KR"/>
                <a:ea typeface="Noto Sans KR"/>
                <a:cs typeface="Noto Sans KR"/>
              </a:rPr>
              <a:t>보고 「응, 설치해 줘」라고 답하세요.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openpyxl·python-pptx</a:t>
            </a:r>
          </a:p>
          <a:p>
            <a:pPr algn="l">
              <a:lnSpc>
                <a:spcPts val="2235"/>
              </a:lnSpc>
              <a:spcBef>
                <a:spcPts val="0"/>
              </a:spcBef>
              <a:spcAft>
                <a:spcPts val="0"/>
              </a:spcAft>
            </a:pPr>
            <a:r>
              <a:rPr sz="1620" b="0">
                <a:solidFill>
                  <a:srgbClr val="17221B"/>
                </a:solidFill>
                <a:latin typeface="Noto Sans KR"/>
                <a:ea typeface="Noto Sans KR"/>
                <a:cs typeface="Noto Sans KR"/>
              </a:rPr>
              <a:t>설치가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68880"/>
            <a:ext cx="6080760" cy="283707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가명처리.py를 실행하려면 Python이 필요해. 이 PC부터 확인해 줘.</a:t>
            </a:r>
          </a:p>
          <a:p>
            <a:pPr algn="l">
              <a:lnSpc>
                <a:spcPts val="1821"/>
              </a:lnSpc>
              <a:spcBef>
                <a:spcPts val="0"/>
              </a:spcBef>
              <a:spcAft>
                <a:spcPts val="0"/>
              </a:spcAft>
            </a:pPr>
            <a:r>
              <a:rPr sz="1320" b="0">
                <a:solidFill>
                  <a:srgbClr val="E4EFE6"/>
                </a:solidFill>
                <a:latin typeface="Noto Sans KR"/>
                <a:ea typeface="Noto Sans KR"/>
                <a:cs typeface="Noto Sans KR"/>
              </a:rPr>
              <a:t>1. python --version 과 py --version 으로 Python이 있는지 봐. (Mac은 python3</a:t>
            </a:r>
          </a:p>
          <a:p>
            <a:pPr algn="l">
              <a:lnSpc>
                <a:spcPts val="1821"/>
              </a:lnSpc>
              <a:spcBef>
                <a:spcPts val="0"/>
              </a:spcBef>
              <a:spcAft>
                <a:spcPts val="0"/>
              </a:spcAft>
            </a:pPr>
            <a:r>
              <a:rPr sz="1320" b="0">
                <a:solidFill>
                  <a:srgbClr val="E4EFE6"/>
                </a:solidFill>
                <a:latin typeface="Noto Sans KR"/>
                <a:ea typeface="Noto Sans KR"/>
                <a:cs typeface="Noto Sans KR"/>
              </a:rPr>
              <a:t>--version)</a:t>
            </a:r>
          </a:p>
          <a:p>
            <a:pPr algn="l">
              <a:lnSpc>
                <a:spcPts val="1821"/>
              </a:lnSpc>
              <a:spcBef>
                <a:spcPts val="0"/>
              </a:spcBef>
              <a:spcAft>
                <a:spcPts val="0"/>
              </a:spcAft>
            </a:pPr>
            <a:r>
              <a:rPr sz="1320" b="0">
                <a:solidFill>
                  <a:srgbClr val="E4EFE6"/>
                </a:solidFill>
                <a:latin typeface="Noto Sans KR"/>
                <a:ea typeface="Noto Sans KR"/>
                <a:cs typeface="Noto Sans KR"/>
              </a:rPr>
              <a:t>2. 없으면 Windows에서는 winget install -e --id Python.Python.3.12 로 설치하자.</a:t>
            </a:r>
          </a:p>
          <a:p>
            <a:pPr algn="l">
              <a:lnSpc>
                <a:spcPts val="1821"/>
              </a:lnSpc>
              <a:spcBef>
                <a:spcPts val="0"/>
              </a:spcBef>
              <a:spcAft>
                <a:spcPts val="0"/>
              </a:spcAft>
            </a:pPr>
            <a:r>
              <a:rPr sz="1320" b="0">
                <a:solidFill>
                  <a:srgbClr val="E4EFE6"/>
                </a:solidFill>
                <a:latin typeface="Noto Sans KR"/>
                <a:ea typeface="Noto Sans KR"/>
                <a:cs typeface="Noto Sans KR"/>
              </a:rPr>
              <a:t>명령을 먼저 보여 주고 내가 허락하면 실행해.</a:t>
            </a:r>
          </a:p>
          <a:p>
            <a:pPr algn="l">
              <a:lnSpc>
                <a:spcPts val="1821"/>
              </a:lnSpc>
              <a:spcBef>
                <a:spcPts val="0"/>
              </a:spcBef>
              <a:spcAft>
                <a:spcPts val="0"/>
              </a:spcAft>
            </a:pPr>
            <a:r>
              <a:rPr sz="1320" b="0">
                <a:solidFill>
                  <a:srgbClr val="E4EFE6"/>
                </a:solidFill>
                <a:latin typeface="Noto Sans KR"/>
                <a:ea typeface="Noto Sans KR"/>
                <a:cs typeface="Noto Sans KR"/>
              </a:rPr>
              <a:t>3. 설치가 끝나면 VS Code를 다시 열라고 알려 주고, 다시 연 뒤 버전을 확인해.</a:t>
            </a:r>
          </a:p>
          <a:p>
            <a:pPr algn="l">
              <a:lnSpc>
                <a:spcPts val="1821"/>
              </a:lnSpc>
              <a:spcBef>
                <a:spcPts val="0"/>
              </a:spcBef>
              <a:spcAft>
                <a:spcPts val="0"/>
              </a:spcAft>
            </a:pPr>
            <a:r>
              <a:rPr sz="1320" b="0">
                <a:solidFill>
                  <a:srgbClr val="E4EFE6"/>
                </a:solidFill>
                <a:latin typeface="Noto Sans KR"/>
                <a:ea typeface="Noto Sans KR"/>
                <a:cs typeface="Noto Sans KR"/>
              </a:rPr>
              <a:t>4. Python이 3.10 이상이면 새로 설치하지 마. 그다음 python -m pip install</a:t>
            </a:r>
          </a:p>
          <a:p>
            <a:pPr algn="l">
              <a:lnSpc>
                <a:spcPts val="1821"/>
              </a:lnSpc>
              <a:spcBef>
                <a:spcPts val="0"/>
              </a:spcBef>
              <a:spcAft>
                <a:spcPts val="0"/>
              </a:spcAft>
            </a:pPr>
            <a:r>
              <a:rPr sz="1320" b="0">
                <a:solidFill>
                  <a:srgbClr val="E4EFE6"/>
                </a:solidFill>
                <a:latin typeface="Noto Sans KR"/>
                <a:ea typeface="Noto Sans KR"/>
                <a:cs typeface="Noto Sans KR"/>
              </a:rPr>
              <a:t>openpyxl python-pptx 로 엑셀·PPT 도구를 설치해.</a:t>
            </a:r>
          </a:p>
          <a:p>
            <a:pPr algn="l">
              <a:lnSpc>
                <a:spcPts val="1821"/>
              </a:lnSpc>
              <a:spcBef>
                <a:spcPts val="0"/>
              </a:spcBef>
              <a:spcAft>
                <a:spcPts val="0"/>
              </a:spcAft>
            </a:pPr>
            <a:r>
              <a:rPr sz="1320" b="0">
                <a:solidFill>
                  <a:srgbClr val="E4EFE6"/>
                </a:solidFill>
                <a:latin typeface="Noto Sans KR"/>
                <a:ea typeface="Noto Sans KR"/>
                <a:cs typeface="Noto Sans KR"/>
              </a:rPr>
              <a:t>   마지막에 python -c "import openpyxl, pptx" 로 불러오기가 되는지 확인해.</a:t>
            </a:r>
          </a:p>
          <a:p>
            <a:pPr algn="l">
              <a:lnSpc>
                <a:spcPts val="1821"/>
              </a:lnSpc>
              <a:spcBef>
                <a:spcPts val="0"/>
              </a:spcBef>
              <a:spcAft>
                <a:spcPts val="0"/>
              </a:spcAft>
            </a:pPr>
            <a:r>
              <a:rPr sz="1320" b="0">
                <a:solidFill>
                  <a:srgbClr val="E4EFE6"/>
                </a:solidFill>
                <a:latin typeface="Noto Sans KR"/>
                <a:ea typeface="Noto Sans KR"/>
                <a:cs typeface="Noto Sans KR"/>
              </a:rPr>
              <a:t>5. Mac이라 pip 설치가 막히면 실습 폴더 밖에 이 실습 전용 가상환경을 만들어 그 안에</a:t>
            </a:r>
          </a:p>
          <a:p>
            <a:pPr algn="l">
              <a:lnSpc>
                <a:spcPts val="1821"/>
              </a:lnSpc>
              <a:spcBef>
                <a:spcPts val="0"/>
              </a:spcBef>
              <a:spcAft>
                <a:spcPts val="0"/>
              </a:spcAft>
            </a:pPr>
            <a:r>
              <a:rPr sz="1320" b="0">
                <a:solidFill>
                  <a:srgbClr val="E4EFE6"/>
                </a:solidFill>
                <a:latin typeface="Noto Sans KR"/>
                <a:ea typeface="Noto Sans KR"/>
                <a:cs typeface="Noto Sans KR"/>
              </a:rPr>
              <a:t>설치하고, 앞으로 그 Python을 써.</a:t>
            </a:r>
          </a:p>
          <a:p>
            <a:pPr algn="l">
              <a:lnSpc>
                <a:spcPts val="1821"/>
              </a:lnSpc>
              <a:spcBef>
                <a:spcPts val="0"/>
              </a:spcBef>
              <a:spcAft>
                <a:spcPts val="0"/>
              </a:spcAft>
            </a:pPr>
            <a:r>
              <a:rPr sz="1320" b="0">
                <a:solidFill>
                  <a:srgbClr val="E4EFE6"/>
                </a:solidFill>
                <a:latin typeface="Noto Sans KR"/>
                <a:ea typeface="Noto Sans KR"/>
                <a:cs typeface="Noto Sans KR"/>
              </a:rPr>
              <a:t>6.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버전이 나오고 openpyxl·pyth"/>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버전이 나오고 openpyxl·python-pptx 불러오기까지 되면 성공입니다. 이미 3.10 이상이 있으면 다시 설치하지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2 · 내 PC에서 실행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원본은 스크립트가 읽고 화면에는 숫자만 나오게 합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원본은 스크립트가 읽고 화면에는 숫자만 나오게 합니다 · 실제 업무에서는 승인된 PC와 접근 권한 분리가 필요합니다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 생겼는지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 스크립트가 직접</a:t>
            </a:r>
          </a:p>
          <a:p>
            <a:pPr algn="l">
              <a:lnSpc>
                <a:spcPts val="2483"/>
              </a:lnSpc>
              <a:spcBef>
                <a:spcPts val="0"/>
              </a:spcBef>
              <a:spcAft>
                <a:spcPts val="0"/>
              </a:spcAft>
            </a:pPr>
            <a:r>
              <a:rPr sz="1800" b="0">
                <a:solidFill>
                  <a:srgbClr val="E4EFE6"/>
                </a:solidFill>
                <a:latin typeface="Noto Sans KR"/>
                <a:ea typeface="Noto Sans KR"/>
                <a:cs typeface="Noto Sans KR"/>
              </a:rPr>
              <a:t>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3 · Codex에는 가명 자료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 칸을&#10;눌러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 칸을</a:t>
            </a:r>
          </a:p>
          <a:p>
            <a:pPr algn="l">
              <a:lnSpc>
                <a:spcPts val="2235"/>
              </a:lnSpc>
              <a:spcBef>
                <a:spcPts val="0"/>
              </a:spcBef>
              <a:spcAft>
                <a:spcPts val="0"/>
              </a:spcAft>
            </a:pPr>
            <a:r>
              <a:rPr sz="1620" b="0">
                <a:solidFill>
                  <a:srgbClr val="17221B"/>
                </a:solidFill>
                <a:latin typeface="Noto Sans KR"/>
                <a:ea typeface="Noto Sans KR"/>
                <a:cs typeface="Noto Sans KR"/>
              </a:rPr>
              <a:t>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350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 입력자료"/>
          <p:cNvSpPr txBox="1"/>
          <p:nvPr/>
        </p:nvSpPr>
        <p:spPr>
          <a:xfrm>
            <a:off x="5303520" y="2468880"/>
            <a:ext cx="6080760" cy="258470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 입력자료의 원본과 결과/비공개</a:t>
            </a:r>
          </a:p>
          <a:p>
            <a:pPr algn="l">
              <a:lnSpc>
                <a:spcPts val="1987"/>
              </a:lnSpc>
              <a:spcBef>
                <a:spcPts val="0"/>
              </a:spcBef>
              <a:spcAft>
                <a:spcPts val="0"/>
              </a:spcAft>
            </a:pPr>
            <a:r>
              <a:rPr sz="1439" b="0">
                <a:solidFill>
                  <a:srgbClr val="E4EFE6"/>
                </a:solidFill>
                <a:latin typeface="Noto Sans KR"/>
                <a:ea typeface="Noto Sans KR"/>
                <a:cs typeface="Noto Sans KR"/>
              </a:rPr>
              <a:t>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 결과/가명자료/결과_가명.xlsx를</a:t>
            </a:r>
          </a:p>
          <a:p>
            <a:pPr algn="l">
              <a:lnSpc>
                <a:spcPts val="1987"/>
              </a:lnSpc>
              <a:spcBef>
                <a:spcPts val="0"/>
              </a:spcBef>
              <a:spcAft>
                <a:spcPts val="0"/>
              </a:spcAft>
            </a:pPr>
            <a:r>
              <a:rPr sz="1439" b="0">
                <a:solidFill>
                  <a:srgbClr val="E4EFE6"/>
                </a:solidFill>
                <a:latin typeface="Noto Sans KR"/>
                <a:ea typeface="Noto Sans KR"/>
                <a:cs typeface="Noto Sans KR"/>
              </a:rPr>
              <a:t>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 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Rounded Rectangle 25"/>
          <p:cNvSpPr/>
          <p:nvPr/>
        </p:nvSpPr>
        <p:spPr>
          <a:xfrm>
            <a:off x="609600" y="6111240"/>
            <a:ext cx="750570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C"/>
          <p:cNvSpPr txBox="1"/>
          <p:nvPr/>
        </p:nvSpPr>
        <p:spPr>
          <a:xfrm>
            <a:off x="1082040" y="6216548"/>
            <a:ext cx="69265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Claude Code 패널에서 「스킬 준비」를 먼저 하세요.</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스킬 준비 · Claude와 Codex에 설치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45080"/>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Codex가 읽는 경로에</a:t>
            </a:r>
          </a:p>
          <a:p>
            <a:pPr algn="l">
              <a:lnSpc>
                <a:spcPts val="2235"/>
              </a:lnSpc>
              <a:spcBef>
                <a:spcPts val="0"/>
              </a:spcBef>
              <a:spcAft>
                <a:spcPts val="0"/>
              </a:spcAft>
            </a:pPr>
            <a:r>
              <a:rPr sz="1620" b="0">
                <a:solidFill>
                  <a:srgbClr val="E4EFE6"/>
                </a:solidFill>
                <a:latin typeface="Noto Sans KR"/>
                <a:ea typeface="Noto Sans KR"/>
                <a:cs typeface="Noto Sans KR"/>
              </a:rPr>
              <a:t>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 내장</a:t>
            </a:r>
          </a:p>
          <a:p>
            <a:pPr algn="l">
              <a:lnSpc>
                <a:spcPts val="2235"/>
              </a:lnSpc>
              <a:spcBef>
                <a:spcPts val="0"/>
              </a:spcBef>
              <a:spcAft>
                <a:spcPts val="0"/>
              </a:spcAft>
            </a:pPr>
            <a:r>
              <a:rPr sz="1620" b="0">
                <a:solidFill>
                  <a:srgbClr val="E4EFE6"/>
                </a:solidFill>
                <a:latin typeface="Noto Sans KR"/>
                <a:ea typeface="Noto Sans KR"/>
                <a:cs typeface="Noto Sans KR"/>
              </a:rPr>
              <a:t>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마지막 표에 xlsx · pptx · humaniz"/>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마지막 표에 xlsx · pptx · humanizer · skill-creator 네 개가 보이면 됐습니다. 안 보이면 새 대화를 열고 「스킬 목록 보여 줘」라고 물어보세요.</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1 · 계획부터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 그 자리에서&#10;물어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 그 자리에서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계획 확인 · 세 가지만 보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 처리규칙 파일과&#10;같나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 처리규칙 파일과</a:t>
            </a:r>
          </a:p>
          <a:p>
            <a:pPr algn="l">
              <a:lnSpc>
                <a:spcPts val="2235"/>
              </a:lnSpc>
              <a:spcBef>
                <a:spcPts val="0"/>
              </a:spcBef>
              <a:spcAft>
                <a:spcPts val="0"/>
              </a:spcAft>
            </a:pPr>
            <a:r>
              <a:rPr sz="1620" b="0">
                <a:solidFill>
                  <a:srgbClr val="17221B"/>
                </a:solidFill>
                <a:latin typeface="Noto Sans KR"/>
                <a:ea typeface="Noto Sans KR"/>
                <a:cs typeface="Noto Sans KR"/>
              </a:rPr>
              <a:t>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2 · 엑셀 스킬로 요약 엑셀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요약 엑셀 직접 열어 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 원본 행&#10;번호를 확인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 원본 행</a:t>
            </a:r>
          </a:p>
          <a:p>
            <a:pPr algn="l">
              <a:lnSpc>
                <a:spcPts val="2235"/>
              </a:lnSpc>
              <a:spcBef>
                <a:spcPts val="0"/>
              </a:spcBef>
              <a:spcAft>
                <a:spcPts val="0"/>
              </a:spcAft>
            </a:pPr>
            <a:r>
              <a:rPr sz="1620" b="0">
                <a:solidFill>
                  <a:srgbClr val="17221B"/>
                </a:solidFill>
                <a:latin typeface="Noto Sans KR"/>
                <a:ea typeface="Noto Sans KR"/>
                <a:cs typeface="Noto Sans KR"/>
              </a:rPr>
              <a:t>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1 · Codex가 처음부터 다시 세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기존 결과와 새로 센 결과를 나란히 놓은&#10;표가 나옵"/>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기존 결과와 새로 센 결과를 나란히 놓은</a:t>
            </a:r>
          </a:p>
          <a:p>
            <a:pPr algn="l">
              <a:lnSpc>
                <a:spcPts val="2235"/>
              </a:lnSpc>
              <a:spcBef>
                <a:spcPts val="0"/>
              </a:spcBef>
              <a:spcAft>
                <a:spcPts val="0"/>
              </a:spcAft>
            </a:pPr>
            <a:r>
              <a:rPr sz="1620" b="0">
                <a:solidFill>
                  <a:srgbClr val="17221B"/>
                </a:solidFill>
                <a:latin typeface="Noto Sans KR"/>
                <a:ea typeface="Noto Sans KR"/>
                <a:cs typeface="Noto Sans KR"/>
              </a:rPr>
              <a:t>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350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결과/요약.xlsx가 맞는지 독립적으로 검수해 줘.</a:t>
            </a:r>
          </a:p>
          <a:p>
            <a:pPr algn="l">
              <a:lnSpc>
                <a:spcPts val="2401"/>
              </a:lnSpc>
              <a:spcBef>
                <a:spcPts val="0"/>
              </a:spcBef>
              <a:spcAft>
                <a:spcPts val="0"/>
              </a:spcAft>
            </a:pPr>
            <a:r>
              <a:rPr sz="1739" b="0">
                <a:solidFill>
                  <a:srgbClr val="E4EFE6"/>
                </a:solidFill>
                <a:latin typeface="Noto Sans KR"/>
                <a:ea typeface="Noto Sans KR"/>
                <a:cs typeface="Noto Sans KR"/>
              </a:rPr>
              <a:t>결과/처리코드.py는 읽지 말고, 입력자료의 02·03·04 매장 엑셀,</a:t>
            </a:r>
          </a:p>
          <a:p>
            <a:pPr algn="l">
              <a:lnSpc>
                <a:spcPts val="2401"/>
              </a:lnSpc>
              <a:spcBef>
                <a:spcPts val="0"/>
              </a:spcBef>
              <a:spcAft>
                <a:spcPts val="0"/>
              </a:spcAft>
            </a:pPr>
            <a:r>
              <a:rPr sz="1739" b="0">
                <a:solidFill>
                  <a:srgbClr val="E4EFE6"/>
                </a:solidFill>
                <a:latin typeface="Noto Sans KR"/>
                <a:ea typeface="Noto Sans KR"/>
                <a:cs typeface="Noto Sans KR"/>
              </a:rPr>
              <a:t>05 기준표, 06 처리규칙만으로 새로 계산해.</a:t>
            </a:r>
          </a:p>
          <a:p>
            <a:pPr algn="l">
              <a:lnSpc>
                <a:spcPts val="2401"/>
              </a:lnSpc>
              <a:spcBef>
                <a:spcPts val="0"/>
              </a:spcBef>
              <a:spcAft>
                <a:spcPts val="0"/>
              </a:spcAft>
            </a:pPr>
            <a:r>
              <a:rPr sz="1739" b="0">
                <a:solidFill>
                  <a:srgbClr val="E4EFE6"/>
                </a:solidFill>
                <a:latin typeface="Noto Sans KR"/>
                <a:ea typeface="Noto Sans KR"/>
                <a:cs typeface="Noto Sans KR"/>
              </a:rPr>
              <a:t>00 전처리원본과 결과/비공개 폴더는 읽지 마.</a:t>
            </a:r>
          </a:p>
          <a:p>
            <a:pPr algn="l">
              <a:lnSpc>
                <a:spcPts val="2401"/>
              </a:lnSpc>
              <a:spcBef>
                <a:spcPts val="0"/>
              </a:spcBef>
              <a:spcAft>
                <a:spcPts val="0"/>
              </a:spcAft>
            </a:pPr>
            <a:r>
              <a:rPr sz="1739" b="0">
                <a:solidFill>
                  <a:srgbClr val="E4EFE6"/>
                </a:solidFill>
                <a:latin typeface="Noto Sans KR"/>
                <a:ea typeface="Noto Sans KR"/>
                <a:cs typeface="Noto Sans KR"/>
              </a:rPr>
              <a:t>원본·통과·제외 행 수, 매장별 매출, 장부 금액을 기존 결과와</a:t>
            </a:r>
          </a:p>
          <a:p>
            <a:pPr algn="l">
              <a:lnSpc>
                <a:spcPts val="2401"/>
              </a:lnSpc>
              <a:spcBef>
                <a:spcPts val="0"/>
              </a:spcBef>
              <a:spcAft>
                <a:spcPts val="0"/>
              </a:spcAft>
            </a:pPr>
            <a:r>
              <a:rPr sz="1739" b="0">
                <a:solidFill>
                  <a:srgbClr val="E4EFE6"/>
                </a:solidFill>
                <a:latin typeface="Noto Sans KR"/>
                <a:ea typeface="Noto Sans KR"/>
                <a:cs typeface="Noto Sans KR"/>
              </a:rPr>
              <a:t>나란히 비교해.</a:t>
            </a:r>
          </a:p>
          <a:p>
            <a:pPr algn="l">
              <a:lnSpc>
                <a:spcPts val="2401"/>
              </a:lnSpc>
              <a:spcBef>
                <a:spcPts val="0"/>
              </a:spcBef>
              <a:spcAft>
                <a:spcPts val="0"/>
              </a:spcAft>
            </a:pPr>
            <a:r>
              <a:rPr sz="1739" b="0">
                <a:solidFill>
                  <a:srgbClr val="E4EFE6"/>
                </a:solidFill>
                <a:latin typeface="Noto Sans KR"/>
                <a:ea typeface="Noto Sans KR"/>
                <a:cs typeface="Noto Sans KR"/>
              </a:rPr>
              <a:t>오류목록 모든 행의 원본 위치와 제외 사유도 확인해.</a:t>
            </a:r>
          </a:p>
          <a:p>
            <a:pPr algn="l">
              <a:lnSpc>
                <a:spcPts val="2401"/>
              </a:lnSpc>
              <a:spcBef>
                <a:spcPts val="0"/>
              </a:spcBef>
              <a:spcAft>
                <a:spcPts val="0"/>
              </a:spcAft>
            </a:pPr>
            <a:r>
              <a:rPr sz="1739"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 수·매장별 매출·장부 금액이 같고, 오류 10줄"/>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 수·매장별 매출·장부 금액이 같고, 오류 10줄의 원본 위치·사유가 맞고, 원본 파일이 그대로면 통과입니다.</a:t>
            </a:r>
          </a:p>
        </p:txBody>
      </p:sp>
      <p:sp>
        <p:nvSpPr>
          <p:cNvPr id="26" name="Rounded Rectangle 25"/>
          <p:cNvSpPr/>
          <p:nvPr/>
        </p:nvSpPr>
        <p:spPr>
          <a:xfrm>
            <a:off x="609600" y="6111240"/>
            <a:ext cx="920496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요"/>
          <p:cNvSpPr txBox="1"/>
          <p:nvPr/>
        </p:nvSpPr>
        <p:spPr>
          <a:xfrm>
            <a:off x="1082040" y="6216548"/>
            <a:ext cx="86258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요약.xlsx의 오류목록 시트를 직접 열어 보세요. 보고는 검수가 끝난 뒤에 씁니다.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2 · 숫자가 다를 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792480"/>
          </a:xfrm>
          <a:prstGeom prst="roundRect">
            <a:avLst>
              <a:gd name="adj" fmla="val 13461"/>
            </a:avLst>
          </a:prstGeom>
          <a:solidFill>
            <a:srgbClr val="F3F7F3"/>
          </a:solidFill>
          <a:ln>
            <a:noFill/>
          </a:ln>
          <a:effectLst/>
        </p:spPr>
        <p:txBody>
          <a:bodyPr rtlCol="0" anchor="ctr"/>
          <a:lstStyle/>
          <a:p>
            <a:pPr algn="ctr"/>
          </a:p>
        </p:txBody>
      </p:sp>
      <p:sp>
        <p:nvSpPr>
          <p:cNvPr id="7" name="Rounded Rectangle 6"/>
          <p:cNvSpPr/>
          <p:nvPr/>
        </p:nvSpPr>
        <p:spPr>
          <a:xfrm>
            <a:off x="746760" y="221742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2783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22023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2880360"/>
            <a:ext cx="4267200" cy="792480"/>
          </a:xfrm>
          <a:prstGeom prst="roundRect">
            <a:avLst>
              <a:gd name="adj" fmla="val 13461"/>
            </a:avLst>
          </a:prstGeom>
          <a:solidFill>
            <a:srgbClr val="F3F7F3"/>
          </a:solidFill>
          <a:ln>
            <a:noFill/>
          </a:ln>
          <a:effectLst/>
        </p:spPr>
        <p:txBody>
          <a:bodyPr rtlCol="0" anchor="ctr"/>
          <a:lstStyle/>
          <a:p>
            <a:pPr algn="ctr"/>
          </a:p>
        </p:txBody>
      </p:sp>
      <p:sp>
        <p:nvSpPr>
          <p:cNvPr id="11" name="Rounded Rectangle 10"/>
          <p:cNvSpPr/>
          <p:nvPr/>
        </p:nvSpPr>
        <p:spPr>
          <a:xfrm>
            <a:off x="746760" y="310134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1623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Codex에&#10;보내세요."/>
          <p:cNvSpPr txBox="1"/>
          <p:nvPr/>
        </p:nvSpPr>
        <p:spPr>
          <a:xfrm>
            <a:off x="1219200" y="29621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Codex에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4" name="Rounded Rectangle 13"/>
          <p:cNvSpPr/>
          <p:nvPr/>
        </p:nvSpPr>
        <p:spPr>
          <a:xfrm>
            <a:off x="609600" y="3764279"/>
            <a:ext cx="4267200" cy="792480"/>
          </a:xfrm>
          <a:prstGeom prst="roundRect">
            <a:avLst>
              <a:gd name="adj" fmla="val 13461"/>
            </a:avLst>
          </a:prstGeom>
          <a:solidFill>
            <a:srgbClr val="F3F7F3"/>
          </a:solidFill>
          <a:ln>
            <a:noFill/>
          </a:ln>
          <a:effectLst/>
        </p:spPr>
        <p:txBody>
          <a:bodyPr rtlCol="0" anchor="ctr"/>
          <a:lstStyle/>
          <a:p>
            <a:pPr algn="ctr"/>
          </a:p>
        </p:txBody>
      </p:sp>
      <p:sp>
        <p:nvSpPr>
          <p:cNvPr id="15" name="Rounded Rectangle 14"/>
          <p:cNvSpPr/>
          <p:nvPr/>
        </p:nvSpPr>
        <p:spPr>
          <a:xfrm>
            <a:off x="746760" y="39852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0462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 직접&#10;찾아보세요."/>
          <p:cNvSpPr txBox="1"/>
          <p:nvPr/>
        </p:nvSpPr>
        <p:spPr>
          <a:xfrm>
            <a:off x="1219200" y="38461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 직접</a:t>
            </a:r>
          </a:p>
          <a:p>
            <a:pPr algn="l">
              <a:lnSpc>
                <a:spcPts val="2235"/>
              </a:lnSpc>
              <a:spcBef>
                <a:spcPts val="0"/>
              </a:spcBef>
              <a:spcAft>
                <a:spcPts val="0"/>
              </a:spcAft>
            </a:pPr>
            <a:r>
              <a:rPr sz="1620" b="0">
                <a:solidFill>
                  <a:srgbClr val="17221B"/>
                </a:solidFill>
                <a:latin typeface="Noto Sans KR"/>
                <a:ea typeface="Noto Sans KR"/>
                <a:cs typeface="Noto Sans KR"/>
              </a:rPr>
              <a:t>찾아보세요.</a:t>
            </a:r>
          </a:p>
        </p:txBody>
      </p:sp>
      <p:sp>
        <p:nvSpPr>
          <p:cNvPr id="18" name="Rounded Rectangle 17"/>
          <p:cNvSpPr/>
          <p:nvPr/>
        </p:nvSpPr>
        <p:spPr>
          <a:xfrm>
            <a:off x="609600" y="4648200"/>
            <a:ext cx="4267200" cy="792480"/>
          </a:xfrm>
          <a:prstGeom prst="roundRect">
            <a:avLst>
              <a:gd name="adj" fmla="val 13461"/>
            </a:avLst>
          </a:prstGeom>
          <a:solidFill>
            <a:srgbClr val="F3F7F3"/>
          </a:solidFill>
          <a:ln>
            <a:noFill/>
          </a:ln>
          <a:effectLst/>
        </p:spPr>
        <p:txBody>
          <a:bodyPr rtlCol="0" anchor="ctr"/>
          <a:lstStyle/>
          <a:p>
            <a:pPr algn="ctr"/>
          </a:p>
        </p:txBody>
      </p:sp>
      <p:sp>
        <p:nvSpPr>
          <p:cNvPr id="19" name="Rounded Rectangle 18"/>
          <p:cNvSpPr/>
          <p:nvPr/>
        </p:nvSpPr>
        <p:spPr>
          <a:xfrm>
            <a:off x="746760" y="4869180"/>
            <a:ext cx="350520" cy="350520"/>
          </a:xfrm>
          <a:prstGeom prst="roundRect">
            <a:avLst>
              <a:gd name="adj" fmla="val 50000"/>
            </a:avLst>
          </a:prstGeom>
          <a:solidFill>
            <a:srgbClr val="2F7048"/>
          </a:solidFill>
          <a:ln>
            <a:noFill/>
          </a:ln>
          <a:effectLst/>
        </p:spPr>
        <p:txBody>
          <a:bodyPr rtlCol="0" anchor="ctr"/>
          <a:lstStyle/>
          <a:p>
            <a:pPr algn="ctr"/>
          </a:p>
        </p:txBody>
      </p:sp>
      <p:sp>
        <p:nvSpPr>
          <p:cNvPr id="20" name="label · 4"/>
          <p:cNvSpPr txBox="1"/>
          <p:nvPr/>
        </p:nvSpPr>
        <p:spPr>
          <a:xfrm>
            <a:off x="746760" y="49301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21" name="body · 요약_v2.xlsx가 생기면 검수 1 요청문의 요약"/>
          <p:cNvSpPr txBox="1"/>
          <p:nvPr/>
        </p:nvSpPr>
        <p:spPr>
          <a:xfrm>
            <a:off x="1219200" y="4698492"/>
            <a:ext cx="3505200" cy="691895"/>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요약_v2.xlsx가 생기면 검수 1 요청문의 요약.xlsx를</a:t>
            </a:r>
          </a:p>
          <a:p>
            <a:pPr algn="l">
              <a:lnSpc>
                <a:spcPts val="1655"/>
              </a:lnSpc>
              <a:spcBef>
                <a:spcPts val="0"/>
              </a:spcBef>
              <a:spcAft>
                <a:spcPts val="0"/>
              </a:spcAft>
            </a:pPr>
            <a:r>
              <a:rPr sz="1200" b="0">
                <a:solidFill>
                  <a:srgbClr val="17221B"/>
                </a:solidFill>
                <a:latin typeface="Noto Sans KR"/>
                <a:ea typeface="Noto Sans KR"/>
                <a:cs typeface="Noto Sans KR"/>
              </a:rPr>
              <a:t>요약_v2.xlsx로, 독립검수.txt를 독립검수_v2.txt로</a:t>
            </a:r>
          </a:p>
          <a:p>
            <a:pPr algn="l">
              <a:lnSpc>
                <a:spcPts val="1655"/>
              </a:lnSpc>
              <a:spcBef>
                <a:spcPts val="0"/>
              </a:spcBef>
              <a:spcAft>
                <a:spcPts val="0"/>
              </a:spcAft>
            </a:pPr>
            <a:r>
              <a:rPr sz="1200" b="0">
                <a:solidFill>
                  <a:srgbClr val="17221B"/>
                </a:solidFill>
                <a:latin typeface="Noto Sans KR"/>
                <a:ea typeface="Noto Sans KR"/>
                <a:cs typeface="Noto Sans KR"/>
              </a:rPr>
              <a:t>바꿔 한 번 더 보내세요.</a:t>
            </a:r>
          </a:p>
        </p:txBody>
      </p:sp>
      <p:sp>
        <p:nvSpPr>
          <p:cNvPr id="22" name="Rounded Rectangle 21"/>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3" name="Rounded Rectangle 22"/>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4" name="label · Codex"/>
          <p:cNvSpPr txBox="1"/>
          <p:nvPr/>
        </p:nvSpPr>
        <p:spPr>
          <a:xfrm>
            <a:off x="5242560" y="213360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5" name="label · 복사 · 프롬프트 P04"/>
          <p:cNvSpPr txBox="1"/>
          <p:nvPr/>
        </p:nvSpPr>
        <p:spPr>
          <a:xfrm>
            <a:off x="60350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6" name="body · 숫자가 다른 곳을 원본 파일·Excel 행·거래행I"/>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 행·거래행ID·처리규칙으로</a:t>
            </a:r>
          </a:p>
          <a:p>
            <a:pPr algn="l">
              <a:lnSpc>
                <a:spcPts val="2483"/>
              </a:lnSpc>
              <a:spcBef>
                <a:spcPts val="0"/>
              </a:spcBef>
              <a:spcAft>
                <a:spcPts val="0"/>
              </a:spcAft>
            </a:pPr>
            <a:r>
              <a:rPr sz="1800" b="0">
                <a:solidFill>
                  <a:srgbClr val="E4EFE6"/>
                </a:solidFill>
                <a:latin typeface="Noto Sans KR"/>
                <a:ea typeface="Noto Sans KR"/>
                <a:cs typeface="Noto Sans KR"/>
              </a:rPr>
              <a:t>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a:t>
            </a:r>
          </a:p>
          <a:p>
            <a:pPr algn="l">
              <a:lnSpc>
                <a:spcPts val="2483"/>
              </a:lnSpc>
              <a:spcBef>
                <a:spcPts val="0"/>
              </a:spcBef>
              <a:spcAft>
                <a:spcPts val="0"/>
              </a:spcAft>
            </a:pPr>
            <a:r>
              <a:rPr sz="1800" b="0">
                <a:solidFill>
                  <a:srgbClr val="E4EFE6"/>
                </a:solidFill>
                <a:latin typeface="Noto Sans KR"/>
                <a:ea typeface="Noto Sans KR"/>
                <a:cs typeface="Noto Sans KR"/>
              </a:rPr>
              <a:t>새 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7" name="Rounded Rectangle 26"/>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8" name="Picture 27"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9" name="body · 어느 행 때문에 달라졌는지 말할 수 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5:10–15:18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15:10–15:18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보고 1 · 1쪽 보고 만들기"/>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보고 1 · 1쪽 보고 만들기</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1 · 1쪽 보고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4611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2 · 휴머나이저로 AI 슬롭 지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 열어&#10;비교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 열어</a:t>
            </a:r>
          </a:p>
          <a:p>
            <a:pPr algn="l">
              <a:lnSpc>
                <a:spcPts val="2235"/>
              </a:lnSpc>
              <a:spcBef>
                <a:spcPts val="0"/>
              </a:spcBef>
              <a:spcAft>
                <a:spcPts val="0"/>
              </a:spcAft>
            </a:pPr>
            <a:r>
              <a:rPr sz="1620" b="0">
                <a:solidFill>
                  <a:srgbClr val="17221B"/>
                </a:solidFill>
                <a:latin typeface="Noto Sans KR"/>
                <a:ea typeface="Noto Sans KR"/>
                <a:cs typeface="Noto Sans KR"/>
              </a:rPr>
              <a:t>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 "/>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 AI 티 나는</a:t>
            </a:r>
          </a:p>
          <a:p>
            <a:pPr algn="l">
              <a:lnSpc>
                <a:spcPts val="2483"/>
              </a:lnSpc>
              <a:spcBef>
                <a:spcPts val="0"/>
              </a:spcBef>
              <a:spcAft>
                <a:spcPts val="0"/>
              </a:spcAft>
            </a:pPr>
            <a:r>
              <a:rPr sz="1800" b="0">
                <a:solidFill>
                  <a:srgbClr val="E4EFE6"/>
                </a:solidFill>
                <a:latin typeface="Noto Sans KR"/>
                <a:ea typeface="Noto Sans KR"/>
                <a:cs typeface="Noto Sans KR"/>
              </a:rPr>
              <a:t>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막힐 때 쓰는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 복사해서&#10;물어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 복사해서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 경로를&#10;물어보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 경로를</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 꼭 먼저 묻게&#10;하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 꼭 먼저 묻게</a:t>
            </a:r>
          </a:p>
          <a:p>
            <a:pPr algn="l">
              <a:lnSpc>
                <a:spcPts val="2235"/>
              </a:lnSpc>
              <a:spcBef>
                <a:spcPts val="0"/>
              </a:spcBef>
              <a:spcAft>
                <a:spcPts val="0"/>
              </a:spcAft>
            </a:pPr>
            <a:r>
              <a:rPr sz="1620" b="0">
                <a:solidFill>
                  <a:srgbClr val="17221B"/>
                </a:solidFill>
                <a:latin typeface="Noto Sans KR"/>
                <a:ea typeface="Noto Sans KR"/>
                <a:cs typeface="Noto Sans KR"/>
              </a:rPr>
              <a:t>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8819"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33600"/>
            <a:ext cx="1988819"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3806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1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실습 · 하나만 골라 20분"/>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실습 · 하나만 골라 20분</a:t>
            </a:r>
          </a:p>
        </p:txBody>
      </p:sp>
      <p:sp>
        <p:nvSpPr>
          <p:cNvPr id="5" name="subtitle · 공통 과정을 마친 분은 아래에서 하나를 고릅니다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공통 과정을 마친 분은 아래에서 하나를 고릅니다 · 못 끝낸 분은 공통 과정을 마저 합니다</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고를 것"/>
          <p:cNvSpPr txBox="1"/>
          <p:nvPr/>
        </p:nvSpPr>
        <p:spPr>
          <a:xfrm>
            <a:off x="762000" y="2188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고를 것</a:t>
            </a:r>
          </a:p>
        </p:txBody>
      </p:sp>
      <p:sp>
        <p:nvSpPr>
          <p:cNvPr id="10" name="body · 하는 일"/>
          <p:cNvSpPr txBox="1"/>
          <p:nvPr/>
        </p:nvSpPr>
        <p:spPr>
          <a:xfrm>
            <a:off x="2956560" y="21884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하는 일</a:t>
            </a:r>
          </a:p>
        </p:txBody>
      </p:sp>
      <p:sp>
        <p:nvSpPr>
          <p:cNvPr id="11" name="body · 이어지는 장"/>
          <p:cNvSpPr txBox="1"/>
          <p:nvPr/>
        </p:nvSpPr>
        <p:spPr>
          <a:xfrm>
            <a:off x="6248400" y="2188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이어지는 장</a:t>
            </a:r>
          </a:p>
        </p:txBody>
      </p:sp>
      <p:sp>
        <p:nvSpPr>
          <p:cNvPr id="12" name="body · 이런 분께"/>
          <p:cNvSpPr txBox="1"/>
          <p:nvPr/>
        </p:nvSpPr>
        <p:spPr>
          <a:xfrm>
            <a:off x="9101328" y="21884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이런 분께</a:t>
            </a:r>
          </a:p>
        </p:txBody>
      </p:sp>
      <p:sp>
        <p:nvSpPr>
          <p:cNvPr id="13" name="Rectangle 12"/>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4" name="body · A · 회의 자료(PPT)"/>
          <p:cNvSpPr txBox="1"/>
          <p:nvPr/>
        </p:nvSpPr>
        <p:spPr>
          <a:xfrm>
            <a:off x="762000" y="2721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 · 회의 자료(PPT)</a:t>
            </a:r>
          </a:p>
        </p:txBody>
      </p:sp>
      <p:sp>
        <p:nvSpPr>
          <p:cNvPr id="15" name="body · 1쪽 보고를 PPT 세 장으로"/>
          <p:cNvSpPr txBox="1"/>
          <p:nvPr/>
        </p:nvSpPr>
        <p:spPr>
          <a:xfrm>
            <a:off x="2956560" y="27218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1쪽 보고를 PPT 세 장으로</a:t>
            </a:r>
          </a:p>
        </p:txBody>
      </p:sp>
      <p:sp>
        <p:nvSpPr>
          <p:cNvPr id="16" name="body · 보고 3 준비 · 보고 3"/>
          <p:cNvSpPr txBox="1"/>
          <p:nvPr/>
        </p:nvSpPr>
        <p:spPr>
          <a:xfrm>
            <a:off x="6248400" y="2721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 3 준비 · 보고 3</a:t>
            </a:r>
          </a:p>
        </p:txBody>
      </p:sp>
      <p:sp>
        <p:nvSpPr>
          <p:cNvPr id="17" name="body · 보고서를 자주 쓰는 분"/>
          <p:cNvSpPr txBox="1"/>
          <p:nvPr/>
        </p:nvSpPr>
        <p:spPr>
          <a:xfrm>
            <a:off x="9101328" y="27218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보고서를 자주 쓰는 분</a:t>
            </a:r>
          </a:p>
        </p:txBody>
      </p:sp>
      <p:sp>
        <p:nvSpPr>
          <p:cNvPr id="18" name="Rectangle 17"/>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19" name="Rectangle 18"/>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0" name="body · B · 그림·전단지"/>
          <p:cNvSpPr txBox="1"/>
          <p:nvPr/>
        </p:nvSpPr>
        <p:spPr>
          <a:xfrm>
            <a:off x="762000" y="32552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 · 그림·전단지</a:t>
            </a:r>
          </a:p>
        </p:txBody>
      </p:sp>
      <p:sp>
        <p:nvSpPr>
          <p:cNvPr id="21" name="body · 그림 한 장과 전단지 웹페이지"/>
          <p:cNvSpPr txBox="1"/>
          <p:nvPr/>
        </p:nvSpPr>
        <p:spPr>
          <a:xfrm>
            <a:off x="2956560" y="32552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그림 한 장과 전단지 웹페이지</a:t>
            </a:r>
          </a:p>
        </p:txBody>
      </p:sp>
      <p:sp>
        <p:nvSpPr>
          <p:cNvPr id="22" name="body · 손풀기 3 · 5 · 4(검색)"/>
          <p:cNvSpPr txBox="1"/>
          <p:nvPr/>
        </p:nvSpPr>
        <p:spPr>
          <a:xfrm>
            <a:off x="6248400" y="32552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손풀기 3 · 5 · 4(검색)</a:t>
            </a:r>
          </a:p>
        </p:txBody>
      </p:sp>
      <p:sp>
        <p:nvSpPr>
          <p:cNvPr id="23" name="body · 홍보·안내를 맡은 분"/>
          <p:cNvSpPr txBox="1"/>
          <p:nvPr/>
        </p:nvSpPr>
        <p:spPr>
          <a:xfrm>
            <a:off x="9101328" y="32552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홍보·안내를 맡은 분</a:t>
            </a:r>
          </a:p>
        </p:txBody>
      </p:sp>
      <p:sp>
        <p:nvSpPr>
          <p:cNvPr id="24" name="Rectangle 23"/>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5" name="body · C · 다음 달에도 쓸 규칙"/>
          <p:cNvSpPr txBox="1"/>
          <p:nvPr/>
        </p:nvSpPr>
        <p:spPr>
          <a:xfrm>
            <a:off x="762000" y="37886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 · 다음 달에도 쓸 규칙</a:t>
            </a:r>
          </a:p>
        </p:txBody>
      </p:sp>
      <p:sp>
        <p:nvSpPr>
          <p:cNvPr id="26" name="body · 스킬 · AGENTS.md · 팀 공유"/>
          <p:cNvSpPr txBox="1"/>
          <p:nvPr/>
        </p:nvSpPr>
        <p:spPr>
          <a:xfrm>
            <a:off x="2956560" y="37886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 AGENTS.md · 팀 공유</a:t>
            </a:r>
          </a:p>
        </p:txBody>
      </p:sp>
      <p:sp>
        <p:nvSpPr>
          <p:cNvPr id="27" name="body · 재사용 1 ~ 4"/>
          <p:cNvSpPr txBox="1"/>
          <p:nvPr/>
        </p:nvSpPr>
        <p:spPr>
          <a:xfrm>
            <a:off x="6248400" y="37886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재사용 1 ~ 4</a:t>
            </a:r>
          </a:p>
        </p:txBody>
      </p:sp>
      <p:sp>
        <p:nvSpPr>
          <p:cNvPr id="28" name="body · 같은 일을 매달 하는 분"/>
          <p:cNvSpPr txBox="1"/>
          <p:nvPr/>
        </p:nvSpPr>
        <p:spPr>
          <a:xfrm>
            <a:off x="9101328" y="37886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같은 일을 매달 하는 분</a:t>
            </a:r>
          </a:p>
        </p:txBody>
      </p:sp>
      <p:sp>
        <p:nvSpPr>
          <p:cNvPr id="29" name="Rectangle 28"/>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0" name="Rectangle 29"/>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1" name="body · D · 지식 노트(MCP)"/>
          <p:cNvSpPr txBox="1"/>
          <p:nvPr/>
        </p:nvSpPr>
        <p:spPr>
          <a:xfrm>
            <a:off x="762000" y="43220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D · 지식 노트(MCP)</a:t>
            </a:r>
          </a:p>
        </p:txBody>
      </p:sp>
      <p:sp>
        <p:nvSpPr>
          <p:cNvPr id="32" name="body · Obsidian 노트에서 찾아 새 노트 저장"/>
          <p:cNvSpPr txBox="1"/>
          <p:nvPr/>
        </p:nvSpPr>
        <p:spPr>
          <a:xfrm>
            <a:off x="2956560" y="43220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노트에서 찾아 새 노트 저장</a:t>
            </a:r>
          </a:p>
        </p:txBody>
      </p:sp>
      <p:sp>
        <p:nvSpPr>
          <p:cNvPr id="33" name="body · Obsidian · MCP 실습 1 ~ 6"/>
          <p:cNvSpPr txBox="1"/>
          <p:nvPr/>
        </p:nvSpPr>
        <p:spPr>
          <a:xfrm>
            <a:off x="6248400" y="43220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 MCP 실습 1 ~ 6</a:t>
            </a:r>
          </a:p>
        </p:txBody>
      </p:sp>
      <p:sp>
        <p:nvSpPr>
          <p:cNvPr id="34" name="body · Node.js·연결을 미리 준비한 분"/>
          <p:cNvSpPr txBox="1"/>
          <p:nvPr/>
        </p:nvSpPr>
        <p:spPr>
          <a:xfrm>
            <a:off x="9101328" y="43220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Node.js·연결을 미리 준비한 분</a:t>
            </a:r>
          </a:p>
        </p:txBody>
      </p:sp>
      <p:sp>
        <p:nvSpPr>
          <p:cNvPr id="35" name="Rectangle 34"/>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36" name="body · E · 역할 나누기"/>
          <p:cNvSpPr txBox="1"/>
          <p:nvPr/>
        </p:nvSpPr>
        <p:spPr>
          <a:xfrm>
            <a:off x="762000" y="4855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E · 역할 나누기</a:t>
            </a:r>
          </a:p>
        </p:txBody>
      </p:sp>
      <p:sp>
        <p:nvSpPr>
          <p:cNvPr id="37" name="body · 다른 AI 검수 · 하위 에이전트"/>
          <p:cNvSpPr txBox="1"/>
          <p:nvPr/>
        </p:nvSpPr>
        <p:spPr>
          <a:xfrm>
            <a:off x="2956560" y="48554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다른 AI 검수 · 하위 에이전트</a:t>
            </a:r>
          </a:p>
        </p:txBody>
      </p:sp>
      <p:sp>
        <p:nvSpPr>
          <p:cNvPr id="38" name="body · 확장 1 · 2"/>
          <p:cNvSpPr txBox="1"/>
          <p:nvPr/>
        </p:nvSpPr>
        <p:spPr>
          <a:xfrm>
            <a:off x="6248400" y="4855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 1 · 2</a:t>
            </a:r>
          </a:p>
        </p:txBody>
      </p:sp>
      <p:sp>
        <p:nvSpPr>
          <p:cNvPr id="39" name="body · 두 도구를 다 쓰는 분"/>
          <p:cNvSpPr txBox="1"/>
          <p:nvPr/>
        </p:nvSpPr>
        <p:spPr>
          <a:xfrm>
            <a:off x="9101328" y="48554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두 도구를 다 쓰는 분</a:t>
            </a:r>
          </a:p>
        </p:txBody>
      </p:sp>
      <p:sp>
        <p:nvSpPr>
          <p:cNvPr id="40" name="Rectangle 39"/>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1" name="body · F · 컴퓨터 사용"/>
          <p:cNvSpPr txBox="1"/>
          <p:nvPr/>
        </p:nvSpPr>
        <p:spPr>
          <a:xfrm>
            <a:off x="762000" y="5388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F · 컴퓨터 사용</a:t>
            </a:r>
          </a:p>
        </p:txBody>
      </p:sp>
      <p:sp>
        <p:nvSpPr>
          <p:cNvPr id="42" name="body · 학습 설정 끄기 · 계산기"/>
          <p:cNvSpPr txBox="1"/>
          <p:nvPr/>
        </p:nvSpPr>
        <p:spPr>
          <a:xfrm>
            <a:off x="2956560" y="53888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학습 설정 끄기 · 계산기</a:t>
            </a:r>
          </a:p>
        </p:txBody>
      </p:sp>
      <p:sp>
        <p:nvSpPr>
          <p:cNvPr id="43" name="body · 컴퓨터 사용 1 · 몸풀기"/>
          <p:cNvSpPr txBox="1"/>
          <p:nvPr/>
        </p:nvSpPr>
        <p:spPr>
          <a:xfrm>
            <a:off x="6248400" y="5388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컴퓨터 사용 1 · 몸풀기</a:t>
            </a:r>
          </a:p>
        </p:txBody>
      </p:sp>
      <p:sp>
        <p:nvSpPr>
          <p:cNvPr id="44" name="body · 데스크톱 앱이 있는 분"/>
          <p:cNvSpPr txBox="1"/>
          <p:nvPr/>
        </p:nvSpPr>
        <p:spPr>
          <a:xfrm>
            <a:off x="9101328" y="53888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데스크톱 앱이 있는 분</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3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준비 · PPT 글꼴 설치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실습 ZIP에 글꼴이 함께 들어 있습니다 · PC에"/>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ZIP에 글꼴이 함께 들어 있습니다 · PC에 없을 때만 설치합니다</a:t>
            </a:r>
          </a:p>
        </p:txBody>
      </p:sp>
      <p:sp>
        <p:nvSpPr>
          <p:cNvPr id="6" name="label · Windows"/>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folder-open-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폴더 열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한살림_AI실습 안의 글꼴 폴더를 엽니다."/>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안의 글꼴 폴더를 엽니다.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글꼴 폴더를 엽니다."/>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글꼴 폴더를 엽니다.</a:t>
            </a:r>
          </a:p>
        </p:txBody>
      </p:sp>
      <p:sp>
        <p:nvSpPr>
          <p:cNvPr id="17" name="body · 별도 다운로드 없음"/>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별도 다운로드 없음</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file-text-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글꼴 확인"/>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글꼴 확인</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Regular·Bold 두 .ttf 파일을 확인합니"/>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Regular·Bold 두 .ttf 파일을 확인합니"/>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6" name="body · .ttf 파일 두 개"/>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설치"/>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 모두&#10;설치"/>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 모두</a:t>
            </a:r>
          </a:p>
          <a:p>
            <a:pPr algn="l">
              <a:lnSpc>
                <a:spcPts val="1655"/>
              </a:lnSpc>
              <a:spcBef>
                <a:spcPts val="0"/>
              </a:spcBef>
              <a:spcAft>
                <a:spcPts val="0"/>
              </a:spcAft>
            </a:pPr>
            <a:r>
              <a:rPr sz="1200" b="0">
                <a:solidFill>
                  <a:srgbClr val="7A5214"/>
                </a:solidFill>
                <a:latin typeface="Noto Sans KR"/>
                <a:ea typeface="Noto Sans KR"/>
                <a:cs typeface="Noto Sans KR"/>
              </a:rPr>
              <a:t>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다시 열기"/>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 PPT 스킬로 회의 자료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가 pptx 스킬과 AGENTS"/>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pptx 스킬과 AGENTS.md를</a:t>
            </a:r>
          </a:p>
          <a:p>
            <a:pPr algn="l">
              <a:lnSpc>
                <a:spcPts val="2235"/>
              </a:lnSpc>
              <a:spcBef>
                <a:spcPts val="0"/>
              </a:spcBef>
              <a:spcAft>
                <a:spcPts val="0"/>
              </a:spcAft>
            </a:pPr>
            <a:r>
              <a:rPr sz="1620" b="0">
                <a:solidFill>
                  <a:srgbClr val="17221B"/>
                </a:solidFill>
                <a:latin typeface="Noto Sans KR"/>
                <a:ea typeface="Noto Sans KR"/>
                <a:cs typeface="Noto Sans KR"/>
              </a:rPr>
              <a:t>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68880"/>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파워포인트 스킬(pptx)로 결과/1쪽보고_다듬음.txt와 검수한</a:t>
            </a:r>
          </a:p>
          <a:p>
            <a:pPr algn="l">
              <a:lnSpc>
                <a:spcPts val="2235"/>
              </a:lnSpc>
              <a:spcBef>
                <a:spcPts val="0"/>
              </a:spcBef>
              <a:spcAft>
                <a:spcPts val="0"/>
              </a:spcAft>
            </a:pPr>
            <a:r>
              <a:rPr sz="1620" b="0">
                <a:solidFill>
                  <a:srgbClr val="E4EFE6"/>
                </a:solidFill>
                <a:latin typeface="Noto Sans KR"/>
                <a:ea typeface="Noto Sans KR"/>
                <a:cs typeface="Noto Sans KR"/>
              </a:rPr>
              <a:t>결과/요약_v2.xlsx(없으면 결과/요약.xlsx)만 써서 회의 자료 3장을</a:t>
            </a:r>
          </a:p>
          <a:p>
            <a:pPr algn="l">
              <a:lnSpc>
                <a:spcPts val="2235"/>
              </a:lnSpc>
              <a:spcBef>
                <a:spcPts val="0"/>
              </a:spcBef>
              <a:spcAft>
                <a:spcPts val="0"/>
              </a:spcAft>
            </a:pPr>
            <a:r>
              <a:rPr sz="1620" b="0">
                <a:solidFill>
                  <a:srgbClr val="E4EFE6"/>
                </a:solidFill>
                <a:latin typeface="Noto Sans KR"/>
                <a:ea typeface="Noto Sans KR"/>
                <a:cs typeface="Noto Sans KR"/>
              </a:rPr>
              <a:t>만들어 줘.</a:t>
            </a:r>
          </a:p>
          <a:p>
            <a:pPr algn="l">
              <a:lnSpc>
                <a:spcPts val="2235"/>
              </a:lnSpc>
              <a:spcBef>
                <a:spcPts val="0"/>
              </a:spcBef>
              <a:spcAft>
                <a:spcPts val="0"/>
              </a:spcAft>
            </a:pPr>
            <a:r>
              <a:rPr sz="1620" b="0">
                <a:solidFill>
                  <a:srgbClr val="E4EFE6"/>
                </a:solidFill>
                <a:latin typeface="Noto Sans KR"/>
                <a:ea typeface="Noto Sans KR"/>
                <a:cs typeface="Noto Sans KR"/>
              </a:rPr>
              <a:t>1. 표지, 매장별 매출, 다음 할 일 순서로.</a:t>
            </a:r>
          </a:p>
          <a:p>
            <a:pPr algn="l">
              <a:lnSpc>
                <a:spcPts val="2235"/>
              </a:lnSpc>
              <a:spcBef>
                <a:spcPts val="0"/>
              </a:spcBef>
              <a:spcAft>
                <a:spcPts val="0"/>
              </a:spcAft>
            </a:pPr>
            <a:r>
              <a:rPr sz="1620" b="0">
                <a:solidFill>
                  <a:srgbClr val="E4EFE6"/>
                </a:solidFill>
                <a:latin typeface="Noto Sans KR"/>
                <a:ea typeface="Noto Sans KR"/>
                <a:cs typeface="Noto Sans KR"/>
              </a:rPr>
              <a:t>2. 막대그래프는 0부터 시작하고 가상 자료라고 적어.</a:t>
            </a:r>
          </a:p>
          <a:p>
            <a:pPr algn="l">
              <a:lnSpc>
                <a:spcPts val="2235"/>
              </a:lnSpc>
              <a:spcBef>
                <a:spcPts val="0"/>
              </a:spcBef>
              <a:spcAft>
                <a:spcPts val="0"/>
              </a:spcAft>
            </a:pPr>
            <a:r>
              <a:rPr sz="1620" b="0">
                <a:solidFill>
                  <a:srgbClr val="E4EFE6"/>
                </a:solidFill>
                <a:latin typeface="Noto Sans KR"/>
                <a:ea typeface="Noto Sans KR"/>
                <a:cs typeface="Noto Sans KR"/>
              </a:rPr>
              <a:t>3. 결과/회의자료.pptx로 저장하고 글자 잘림이 없는지 검사해 줘.</a:t>
            </a:r>
          </a:p>
          <a:p>
            <a:pPr algn="l">
              <a:lnSpc>
                <a:spcPts val="2235"/>
              </a:lnSpc>
              <a:spcBef>
                <a:spcPts val="0"/>
              </a:spcBef>
              <a:spcAft>
                <a:spcPts val="0"/>
              </a:spcAft>
            </a:pPr>
            <a:r>
              <a:rPr sz="1620" b="0">
                <a:solidFill>
                  <a:srgbClr val="E4EFE6"/>
                </a:solidFill>
                <a:latin typeface="Noto Sans KR"/>
                <a:ea typeface="Noto Sans KR"/>
                <a:cs typeface="Noto Sans KR"/>
              </a:rPr>
              <a:t>4. AGENTS.md의 「PPT를 만들 때」 규칙(글꼴 Noto Sans</a:t>
            </a:r>
          </a:p>
          <a:p>
            <a:pPr algn="l">
              <a:lnSpc>
                <a:spcPts val="2235"/>
              </a:lnSpc>
              <a:spcBef>
                <a:spcPts val="0"/>
              </a:spcBef>
              <a:spcAft>
                <a:spcPts val="0"/>
              </a:spcAft>
            </a:pPr>
            <a:r>
              <a:rPr sz="1620" b="0">
                <a:solidFill>
                  <a:srgbClr val="E4EFE6"/>
                </a:solidFill>
                <a:latin typeface="Noto Sans KR"/>
                <a:ea typeface="Noto Sans KR"/>
                <a:cs typeface="Noto Sans KR"/>
              </a:rPr>
              <a:t>KR·16:9·글자 크기)을 따라.</a:t>
            </a:r>
          </a:p>
          <a:p>
            <a:pPr algn="l">
              <a:lnSpc>
                <a:spcPts val="2235"/>
              </a:lnSpc>
              <a:spcBef>
                <a:spcPts val="0"/>
              </a:spcBef>
              <a:spcAft>
                <a:spcPts val="0"/>
              </a:spcAft>
            </a:pPr>
            <a:r>
              <a:rPr sz="1620" b="0">
                <a:solidFill>
                  <a:srgbClr val="E4EFE6"/>
                </a:solidFill>
                <a:latin typeface="Noto Sans KR"/>
                <a:ea typeface="Noto Sans KR"/>
                <a:cs typeface="Noto Sans KR"/>
              </a:rPr>
              <a:t>5. 새 프로그램을 설치하지 말고 앞에서 설치한 python-pptx로 만들어.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3 · 그림 한 장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3 · 그림 한 장 만들기</a:t>
            </a:r>
          </a:p>
        </p:txBody>
      </p:sp>
      <p:sp>
        <p:nvSpPr>
          <p:cNvPr id="5" name="subtitle · Codex는 그림 파일을 직접 만듭니다 · Clau"/>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Codex는 그림 파일을 직접 만듭니다 · Claude Code는 SVG 도형 그림으로 만듭니다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odex · 그림 파일"/>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 · 그림 파일</a:t>
            </a:r>
          </a:p>
        </p:txBody>
      </p:sp>
      <p:sp>
        <p:nvSpPr>
          <p:cNvPr id="8" name="body · 이미지 생성 기능으로 가상 생협의 「우리 먹거리 한"/>
          <p:cNvSpPr txBox="1"/>
          <p:nvPr/>
        </p:nvSpPr>
        <p:spPr>
          <a:xfrm>
            <a:off x="807720" y="2545080"/>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이미지 생성 기능으로 가상 생협의 「우리 먹거리 한입</a:t>
            </a:r>
          </a:p>
          <a:p>
            <a:pPr algn="l">
              <a:lnSpc>
                <a:spcPts val="2235"/>
              </a:lnSpc>
              <a:spcBef>
                <a:spcPts val="0"/>
              </a:spcBef>
              <a:spcAft>
                <a:spcPts val="0"/>
              </a:spcAft>
            </a:pPr>
            <a:r>
              <a:rPr sz="1620" b="0">
                <a:solidFill>
                  <a:srgbClr val="E4EFE6"/>
                </a:solidFill>
                <a:latin typeface="Noto Sans KR"/>
                <a:ea typeface="Noto Sans KR"/>
                <a:cs typeface="Noto Sans KR"/>
              </a:rPr>
              <a:t>시식회」 포스터 그림을 한 장 만들어 결과/포스터.png로</a:t>
            </a:r>
          </a:p>
          <a:p>
            <a:pPr algn="l">
              <a:lnSpc>
                <a:spcPts val="2235"/>
              </a:lnSpc>
              <a:spcBef>
                <a:spcPts val="0"/>
              </a:spcBef>
              <a:spcAft>
                <a:spcPts val="0"/>
              </a:spcAft>
            </a:pPr>
            <a:r>
              <a:rPr sz="1620" b="0">
                <a:solidFill>
                  <a:srgbClr val="E4EFE6"/>
                </a:solidFill>
                <a:latin typeface="Noto Sans KR"/>
                <a:ea typeface="Noto Sans KR"/>
                <a:cs typeface="Noto Sans KR"/>
              </a:rPr>
              <a:t>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 따뜻한 초록색. 그림 안에 글자는 넣지</a:t>
            </a:r>
          </a:p>
          <a:p>
            <a:pPr algn="l">
              <a:lnSpc>
                <a:spcPts val="2235"/>
              </a:lnSpc>
              <a:spcBef>
                <a:spcPts val="0"/>
              </a:spcBef>
              <a:spcAft>
                <a:spcPts val="0"/>
              </a:spcAft>
            </a:pPr>
            <a:r>
              <a:rPr sz="1620" b="0">
                <a:solidFill>
                  <a:srgbClr val="E4EFE6"/>
                </a:solidFill>
                <a:latin typeface="Noto Sans KR"/>
                <a:ea typeface="Noto Sans KR"/>
                <a:cs typeface="Noto Sans KR"/>
              </a:rPr>
              <a:t>말고 실제 로고나 사람 얼굴은 쓰지 마.</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laude Code · SVG 그림"/>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SVG 그림</a:t>
            </a:r>
          </a:p>
        </p:txBody>
      </p:sp>
      <p:sp>
        <p:nvSpPr>
          <p:cNvPr id="11" name="body · 가상 생협의 「우리 먹거리 한입 시식회」 포스터 그"/>
          <p:cNvSpPr txBox="1"/>
          <p:nvPr/>
        </p:nvSpPr>
        <p:spPr>
          <a:xfrm>
            <a:off x="6446520" y="2545080"/>
            <a:ext cx="4937760" cy="1196644"/>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가상 생협의 「우리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SVG로 그려 결과/포스터.svg로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콩나물을 단순한 도형으로, 따뜻한 초록색. 글자는</a:t>
            </a:r>
          </a:p>
          <a:p>
            <a:pPr algn="l">
              <a:lnSpc>
                <a:spcPts val="2235"/>
              </a:lnSpc>
              <a:spcBef>
                <a:spcPts val="0"/>
              </a:spcBef>
              <a:spcAft>
                <a:spcPts val="0"/>
              </a:spcAft>
            </a:pPr>
            <a:r>
              <a:rPr sz="1620" b="0">
                <a:solidFill>
                  <a:srgbClr val="E4EFE6"/>
                </a:solidFill>
                <a:latin typeface="Noto Sans KR"/>
                <a:ea typeface="Noto Sans KR"/>
                <a:cs typeface="Noto Sans KR"/>
              </a:rPr>
              <a:t>넣지 마.</a:t>
            </a:r>
          </a:p>
        </p:txBody>
      </p:sp>
      <p:sp>
        <p:nvSpPr>
          <p:cNvPr id="12" name="body · 그림이 열리면 됐습니다. 다음 단계 전단지에 이 그"/>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그림이 열리면 됐습니다. 다음 단계 전단지에 이 그림을 씁니다. AI로 만든 그림이라는 표시는 지우지 않습니다.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4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5 · 말로 웹페이지 만들기(바이브 코딩)"/>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5 · 말로 웹페이지 만들기(바이브 코딩)</a:t>
            </a:r>
          </a:p>
        </p:txBody>
      </p:sp>
      <p:sp>
        <p:nvSpPr>
          <p:cNvPr id="5" name="subtitle · 코드를 몰라도 부탁만으로 한 장짜리 전단지 웹페이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코드를 몰라도 부탁만으로 한 장짜리 전단지 웹페이지를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앞에서 만든&#10;그림을 맨 위"/>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앞에서 만든</a:t>
            </a:r>
          </a:p>
          <a:p>
            <a:pPr algn="l">
              <a:lnSpc>
                <a:spcPts val="2235"/>
              </a:lnSpc>
              <a:spcBef>
                <a:spcPts val="0"/>
              </a:spcBef>
              <a:spcAft>
                <a:spcPts val="0"/>
              </a:spcAft>
            </a:pPr>
            <a:r>
              <a:rPr sz="1620" b="0">
                <a:solidFill>
                  <a:srgbClr val="17221B"/>
                </a:solidFill>
                <a:latin typeface="Noto Sans KR"/>
                <a:ea typeface="Noto Sans KR"/>
                <a:cs typeface="Noto Sans KR"/>
              </a:rPr>
              <a:t>그림을 맨 위에 넣습니다.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전단지.html을 브라우저로 열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결과/전단지.html을 브라우저로 열어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마음에 안 드는 곳은 「제목을 더&#10;크게」처럼 한 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마음에 안 드는 곳은 「제목을 더</a:t>
            </a:r>
          </a:p>
          <a:p>
            <a:pPr algn="l">
              <a:lnSpc>
                <a:spcPts val="2235"/>
              </a:lnSpc>
              <a:spcBef>
                <a:spcPts val="0"/>
              </a:spcBef>
              <a:spcAft>
                <a:spcPts val="0"/>
              </a:spcAft>
            </a:pPr>
            <a:r>
              <a:rPr sz="1620" b="0">
                <a:solidFill>
                  <a:srgbClr val="17221B"/>
                </a:solidFill>
                <a:latin typeface="Noto Sans KR"/>
                <a:ea typeface="Noto Sans KR"/>
                <a:cs typeface="Noto Sans KR"/>
              </a:rPr>
              <a:t>크게」처럼 한 줄로 다시 부탁하세요.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지식보관함/행사/10월_시식행사_확정.md만 읽고 "/>
          <p:cNvSpPr txBox="1"/>
          <p:nvPr/>
        </p:nvSpPr>
        <p:spPr>
          <a:xfrm>
            <a:off x="5303520" y="2468880"/>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지식보관함/행사/10월_시식행사_확정.md만 읽고 가상 시식회</a:t>
            </a:r>
          </a:p>
          <a:p>
            <a:pPr algn="l">
              <a:lnSpc>
                <a:spcPts val="2483"/>
              </a:lnSpc>
              <a:spcBef>
                <a:spcPts val="0"/>
              </a:spcBef>
              <a:spcAft>
                <a:spcPts val="0"/>
              </a:spcAft>
            </a:pPr>
            <a:r>
              <a:rPr sz="1800" b="0">
                <a:solidFill>
                  <a:srgbClr val="E4EFE6"/>
                </a:solidFill>
                <a:latin typeface="Noto Sans KR"/>
                <a:ea typeface="Noto Sans KR"/>
                <a:cs typeface="Noto Sans KR"/>
              </a:rPr>
              <a:t>전단지 웹페이지를 결과/전단지.html로 만들어 줘.</a:t>
            </a:r>
          </a:p>
          <a:p>
            <a:pPr algn="l">
              <a:lnSpc>
                <a:spcPts val="2483"/>
              </a:lnSpc>
              <a:spcBef>
                <a:spcPts val="0"/>
              </a:spcBef>
              <a:spcAft>
                <a:spcPts val="0"/>
              </a:spcAft>
            </a:pPr>
            <a:r>
              <a:rPr sz="1800" b="0">
                <a:solidFill>
                  <a:srgbClr val="E4EFE6"/>
                </a:solidFill>
                <a:latin typeface="Noto Sans KR"/>
                <a:ea typeface="Noto Sans KR"/>
                <a:cs typeface="Noto Sans KR"/>
              </a:rPr>
              <a:t>AGENTS.md의 화면 규칙을 따르고, 결과/포스터.png나</a:t>
            </a:r>
          </a:p>
          <a:p>
            <a:pPr algn="l">
              <a:lnSpc>
                <a:spcPts val="2483"/>
              </a:lnSpc>
              <a:spcBef>
                <a:spcPts val="0"/>
              </a:spcBef>
              <a:spcAft>
                <a:spcPts val="0"/>
              </a:spcAft>
            </a:pPr>
            <a:r>
              <a:rPr sz="1800" b="0">
                <a:solidFill>
                  <a:srgbClr val="E4EFE6"/>
                </a:solidFill>
                <a:latin typeface="Noto Sans KR"/>
                <a:ea typeface="Noto Sans KR"/>
                <a:cs typeface="Noto Sans KR"/>
              </a:rPr>
              <a:t>결과/포스터.svg가 있으면 맨 위 그림으로 넣어.</a:t>
            </a:r>
          </a:p>
          <a:p>
            <a:pPr algn="l">
              <a:lnSpc>
                <a:spcPts val="2483"/>
              </a:lnSpc>
              <a:spcBef>
                <a:spcPts val="0"/>
              </a:spcBef>
              <a:spcAft>
                <a:spcPts val="0"/>
              </a:spcAft>
            </a:pPr>
            <a:r>
              <a:rPr sz="1800" b="0">
                <a:solidFill>
                  <a:srgbClr val="E4EFE6"/>
                </a:solidFill>
                <a:latin typeface="Noto Sans KR"/>
                <a:ea typeface="Noto Sans KR"/>
                <a:cs typeface="Noto Sans KR"/>
              </a:rPr>
              <a:t>확정 문서에 없는 내용은 [확인 필요]로 남기고, 다 만들면 파일</a:t>
            </a:r>
          </a:p>
          <a:p>
            <a:pPr algn="l">
              <a:lnSpc>
                <a:spcPts val="2483"/>
              </a:lnSpc>
              <a:spcBef>
                <a:spcPts val="0"/>
              </a:spcBef>
              <a:spcAft>
                <a:spcPts val="0"/>
              </a:spcAft>
            </a:pPr>
            <a:r>
              <a:rPr sz="1800" b="0">
                <a:solidFill>
                  <a:srgbClr val="E4EFE6"/>
                </a:solidFill>
                <a:latin typeface="Noto Sans KR"/>
                <a:ea typeface="Noto Sans KR"/>
                <a:cs typeface="Noto Sans KR"/>
              </a:rPr>
              <a:t>경로를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전단지가 열리고, 확정 문서에 없는 내용은 [확인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전단지가 열리고, 확정 문서에 없는 내용은 [확인 필요]로 남아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4 · 검색해서 출처와 함께 정리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4 · 검색해서 출처와 함께 정리하기</a:t>
            </a:r>
          </a:p>
        </p:txBody>
      </p:sp>
      <p:sp>
        <p:nvSpPr>
          <p:cNvPr id="5" name="subtitle · AI가 인터넷을 찾아 표로 정리합니다 · 출처 링크"/>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인터넷을 찾아 표로 정리합니다 · 출처 링크를 꼭 붙이게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검색해도&#10;되는지 물으면 허"/>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검색해도</a:t>
            </a:r>
          </a:p>
          <a:p>
            <a:pPr algn="l">
              <a:lnSpc>
                <a:spcPts val="2235"/>
              </a:lnSpc>
              <a:spcBef>
                <a:spcPts val="0"/>
              </a:spcBef>
              <a:spcAft>
                <a:spcPts val="0"/>
              </a:spcAft>
            </a:pPr>
            <a:r>
              <a:rPr sz="1620" b="0">
                <a:solidFill>
                  <a:srgbClr val="17221B"/>
                </a:solidFill>
                <a:latin typeface="Noto Sans KR"/>
                <a:ea typeface="Noto Sans KR"/>
                <a:cs typeface="Noto Sans KR"/>
              </a:rPr>
              <a:t>되는지 물으면 허락하세요.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검색정리.md를 열어 표와 출처&#10;링크를 확인해"/>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결과/검색정리.md를 열어 표와 출처</a:t>
            </a:r>
          </a:p>
          <a:p>
            <a:pPr algn="l">
              <a:lnSpc>
                <a:spcPts val="2235"/>
              </a:lnSpc>
              <a:spcBef>
                <a:spcPts val="0"/>
              </a:spcBef>
              <a:spcAft>
                <a:spcPts val="0"/>
              </a:spcAft>
            </a:pPr>
            <a:r>
              <a:rPr sz="1620" b="0">
                <a:solidFill>
                  <a:srgbClr val="17221B"/>
                </a:solidFill>
                <a:latin typeface="Noto Sans KR"/>
                <a:ea typeface="Noto Sans KR"/>
                <a:cs typeface="Noto Sans KR"/>
              </a:rPr>
              <a:t>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링크 하나를 눌러 실제로 그 내용이&#10;있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링크 하나를 눌러 실제로 그 내용이</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인터넷 검색으로 「생활협동조합(생협)」이 무엇인지와"/>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인터넷 검색으로 「생활협동조합(생협)」이 무엇인지와 국내</a:t>
            </a:r>
          </a:p>
          <a:p>
            <a:pPr algn="l">
              <a:lnSpc>
                <a:spcPts val="2483"/>
              </a:lnSpc>
              <a:spcBef>
                <a:spcPts val="0"/>
              </a:spcBef>
              <a:spcAft>
                <a:spcPts val="0"/>
              </a:spcAft>
            </a:pPr>
            <a:r>
              <a:rPr sz="1800" b="0">
                <a:solidFill>
                  <a:srgbClr val="E4EFE6"/>
                </a:solidFill>
                <a:latin typeface="Noto Sans KR"/>
                <a:ea typeface="Noto Sans KR"/>
                <a:cs typeface="Noto Sans KR"/>
              </a:rPr>
              <a:t>주요 생협 네 곳을 찾아 줘.</a:t>
            </a:r>
          </a:p>
          <a:p>
            <a:pPr algn="l">
              <a:lnSpc>
                <a:spcPts val="2483"/>
              </a:lnSpc>
              <a:spcBef>
                <a:spcPts val="0"/>
              </a:spcBef>
              <a:spcAft>
                <a:spcPts val="0"/>
              </a:spcAft>
            </a:pPr>
            <a:r>
              <a:rPr sz="1800" b="0">
                <a:solidFill>
                  <a:srgbClr val="E4EFE6"/>
                </a:solidFill>
                <a:latin typeface="Noto Sans KR"/>
                <a:ea typeface="Noto Sans KR"/>
                <a:cs typeface="Noto Sans KR"/>
              </a:rPr>
              <a:t>결과/검색정리.md에 표로 정리해. 열은 이름·특징 한 줄·출처</a:t>
            </a:r>
          </a:p>
          <a:p>
            <a:pPr algn="l">
              <a:lnSpc>
                <a:spcPts val="2483"/>
              </a:lnSpc>
              <a:spcBef>
                <a:spcPts val="0"/>
              </a:spcBef>
              <a:spcAft>
                <a:spcPts val="0"/>
              </a:spcAft>
            </a:pPr>
            <a:r>
              <a:rPr sz="1800" b="0">
                <a:solidFill>
                  <a:srgbClr val="E4EFE6"/>
                </a:solidFill>
                <a:latin typeface="Noto Sans KR"/>
                <a:ea typeface="Noto Sans KR"/>
                <a:cs typeface="Noto Sans KR"/>
              </a:rPr>
              <a:t>링크.</a:t>
            </a:r>
          </a:p>
          <a:p>
            <a:pPr algn="l">
              <a:lnSpc>
                <a:spcPts val="2483"/>
              </a:lnSpc>
              <a:spcBef>
                <a:spcPts val="0"/>
              </a:spcBef>
              <a:spcAft>
                <a:spcPts val="0"/>
              </a:spcAft>
            </a:pPr>
            <a:r>
              <a:rPr sz="1800" b="0">
                <a:solidFill>
                  <a:srgbClr val="E4EFE6"/>
                </a:solidFill>
                <a:latin typeface="Noto Sans KR"/>
                <a:ea typeface="Noto Sans KR"/>
                <a:cs typeface="Noto Sans KR"/>
              </a:rPr>
              <a:t>출처가 없는 말은 쓰지 말고, 찾은 날짜를 맨 위에 적어.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표의 각 줄에 출처 링크가 있고, 하나 눌러 본 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표의 각 줄에 출처 링크가 있고, 하나 눌러 본 내용이 맞으면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1 · 스킬 만들기로 「매출검수」 스킬 만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 순서를&#10;그대로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 순서를</a:t>
            </a:r>
          </a:p>
          <a:p>
            <a:pPr algn="l">
              <a:lnSpc>
                <a:spcPts val="2235"/>
              </a:lnSpc>
              <a:spcBef>
                <a:spcPts val="0"/>
              </a:spcBef>
              <a:spcAft>
                <a:spcPts val="0"/>
              </a:spcAft>
            </a:pPr>
            <a:r>
              <a:rPr sz="1620" b="0">
                <a:solidFill>
                  <a:srgbClr val="17221B"/>
                </a:solidFill>
                <a:latin typeface="Noto Sans KR"/>
                <a:ea typeface="Noto Sans KR"/>
                <a:cs typeface="Noto Sans KR"/>
              </a:rPr>
              <a:t>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생기고, 새 대화에서 「매출검수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생기고, 새 대화에서 「매출검수 스킬로 해 줘」라고 했을 때 그 스킬을 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2 · AGENTS.md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 바로&#10;읽습니다."/>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 바로</a:t>
            </a:r>
          </a:p>
          <a:p>
            <a:pPr algn="l">
              <a:lnSpc>
                <a:spcPts val="2235"/>
              </a:lnSpc>
              <a:spcBef>
                <a:spcPts val="0"/>
              </a:spcBef>
              <a:spcAft>
                <a:spcPts val="0"/>
              </a:spcAft>
            </a:pPr>
            <a:r>
              <a:rPr sz="1620" b="0">
                <a:solidFill>
                  <a:srgbClr val="17221B"/>
                </a:solidFill>
                <a:latin typeface="Noto Sans KR"/>
                <a:ea typeface="Noto Sans KR"/>
                <a:cs typeface="Noto Sans KR"/>
              </a:rPr>
              <a:t>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68880"/>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 Claude Code도 AGENTS.md를</a:t>
            </a:r>
          </a:p>
          <a:p>
            <a:pPr algn="l">
              <a:lnSpc>
                <a:spcPts val="2483"/>
              </a:lnSpc>
              <a:spcBef>
                <a:spcPts val="0"/>
              </a:spcBef>
              <a:spcAft>
                <a:spcPts val="0"/>
              </a:spcAft>
            </a:pPr>
            <a:r>
              <a:rPr sz="1800" b="0">
                <a:solidFill>
                  <a:srgbClr val="E4EFE6"/>
                </a:solidFill>
                <a:latin typeface="Noto Sans KR"/>
                <a:ea typeface="Noto Sans KR"/>
                <a:cs typeface="Noto Sans KR"/>
              </a:rPr>
              <a:t>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3 · 만든 스킬을 팀과 나누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68880"/>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 팀에 나눠 줄 수 있게</a:t>
            </a:r>
          </a:p>
          <a:p>
            <a:pPr algn="l">
              <a:lnSpc>
                <a:spcPts val="2318"/>
              </a:lnSpc>
              <a:spcBef>
                <a:spcPts val="0"/>
              </a:spcBef>
              <a:spcAft>
                <a:spcPts val="0"/>
              </a:spcAft>
            </a:pPr>
            <a:r>
              <a:rPr sz="1680" b="0">
                <a:solidFill>
                  <a:srgbClr val="E4EFE6"/>
                </a:solidFill>
                <a:latin typeface="Noto Sans KR"/>
                <a:ea typeface="Noto Sans KR"/>
                <a:cs typeface="Noto Sans KR"/>
              </a:rPr>
              <a:t>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 ZIP 맨 위에 매출검수 폴더가</a:t>
            </a:r>
          </a:p>
          <a:p>
            <a:pPr algn="l">
              <a:lnSpc>
                <a:spcPts val="2318"/>
              </a:lnSpc>
              <a:spcBef>
                <a:spcPts val="0"/>
              </a:spcBef>
              <a:spcAft>
                <a:spcPts val="0"/>
              </a:spcAft>
            </a:pPr>
            <a:r>
              <a:rPr sz="1680" b="0">
                <a:solidFill>
                  <a:srgbClr val="E4EFE6"/>
                </a:solidFill>
                <a:latin typeface="Noto Sans KR"/>
                <a:ea typeface="Noto Sans KR"/>
                <a:cs typeface="Noto Sans KR"/>
              </a:rPr>
              <a:t>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 스킬에 필요한 파일만</a:t>
            </a:r>
          </a:p>
          <a:p>
            <a:pPr algn="l">
              <a:lnSpc>
                <a:spcPts val="2318"/>
              </a:lnSpc>
              <a:spcBef>
                <a:spcPts val="0"/>
              </a:spcBef>
              <a:spcAft>
                <a:spcPts val="0"/>
              </a:spcAft>
            </a:pPr>
            <a:r>
              <a:rPr sz="1680" b="0">
                <a:solidFill>
                  <a:srgbClr val="E4EFE6"/>
                </a:solidFill>
                <a:latin typeface="Noto Sans KR"/>
                <a:ea typeface="Noto Sans KR"/>
                <a:cs typeface="Noto Sans KR"/>
              </a:rPr>
              <a:t>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 줘.</a:t>
            </a:r>
          </a:p>
          <a:p>
            <a:pPr algn="l">
              <a:lnSpc>
                <a:spcPts val="2318"/>
              </a:lnSpc>
              <a:spcBef>
                <a:spcPts val="0"/>
              </a:spcBef>
              <a:spcAft>
                <a:spcPts val="0"/>
              </a:spcAft>
            </a:pPr>
            <a:r>
              <a:rPr sz="1680" b="0">
                <a:solidFill>
                  <a:srgbClr val="E4EFE6"/>
                </a:solidFill>
                <a:latin typeface="Noto Sans KR"/>
                <a:ea typeface="Noto Sans KR"/>
                <a:cs typeface="Noto Sans KR"/>
              </a:rPr>
              <a:t>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4 · 팀 전체가 같은 규칙과 스킬을 쓰게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재사용 4 · 팀 전체가 같은 규칙과 스킬을 쓰게 나누기</a:t>
            </a:r>
          </a:p>
        </p:txBody>
      </p:sp>
      <p:sp>
        <p:nvSpPr>
          <p:cNvPr id="5" name="subtitle · 한 사람만 쓰면 결과가 사람마다 달라집니다 · 같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사람만 쓰면 결과가 사람마다 달라집니다 · 같은 AGENTS.md와 같은 스킬을 일괄로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 보내세요.&#10;결"/>
          <p:cNvSpPr txBox="1"/>
          <p:nvPr/>
        </p:nvSpPr>
        <p:spPr>
          <a:xfrm>
            <a:off x="1219200" y="2099411"/>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아래 요청문을 Claude Code에 보내세요.</a:t>
            </a:r>
          </a:p>
          <a:p>
            <a:pPr algn="l">
              <a:lnSpc>
                <a:spcPts val="2152"/>
              </a:lnSpc>
              <a:spcBef>
                <a:spcPts val="0"/>
              </a:spcBef>
              <a:spcAft>
                <a:spcPts val="0"/>
              </a:spcAft>
            </a:pPr>
            <a:r>
              <a:rPr sz="1560" b="0">
                <a:solidFill>
                  <a:srgbClr val="17221B"/>
                </a:solidFill>
                <a:latin typeface="Noto Sans KR"/>
                <a:ea typeface="Noto Sans KR"/>
                <a:cs typeface="Noto Sans KR"/>
              </a:rPr>
              <a:t>결과에 ZIP 하나, 결과/팀공유에 안내 글</a:t>
            </a:r>
          </a:p>
          <a:p>
            <a:pPr algn="l">
              <a:lnSpc>
                <a:spcPts val="2152"/>
              </a:lnSpc>
              <a:spcBef>
                <a:spcPts val="0"/>
              </a:spcBef>
              <a:spcAft>
                <a:spcPts val="0"/>
              </a:spcAft>
            </a:pPr>
            <a:r>
              <a:rPr sz="1560" b="0">
                <a:solidFill>
                  <a:srgbClr val="17221B"/>
                </a:solidFill>
                <a:latin typeface="Noto Sans KR"/>
                <a:ea typeface="Noto Sans KR"/>
                <a:cs typeface="Noto Sans KR"/>
              </a:rPr>
              <a:t>두 개가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ZIP과 메신저_안내.txt는 사내 메신저&#10;팀방에,"/>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ZIP과 메신저_안내.txt는 사내 메신저</a:t>
            </a:r>
          </a:p>
          <a:p>
            <a:pPr algn="l">
              <a:lnSpc>
                <a:spcPts val="2235"/>
              </a:lnSpc>
              <a:spcBef>
                <a:spcPts val="0"/>
              </a:spcBef>
              <a:spcAft>
                <a:spcPts val="0"/>
              </a:spcAft>
            </a:pPr>
            <a:r>
              <a:rPr sz="1620" b="0">
                <a:solidFill>
                  <a:srgbClr val="17221B"/>
                </a:solidFill>
                <a:latin typeface="Noto Sans KR"/>
                <a:ea typeface="Noto Sans KR"/>
                <a:cs typeface="Noto Sans KR"/>
              </a:rPr>
              <a:t>팀방에, 팀페이지_안내.md는 노션이나</a:t>
            </a:r>
          </a:p>
          <a:p>
            <a:pPr algn="l">
              <a:lnSpc>
                <a:spcPts val="2235"/>
              </a:lnSpc>
              <a:spcBef>
                <a:spcPts val="0"/>
              </a:spcBef>
              <a:spcAft>
                <a:spcPts val="0"/>
              </a:spcAft>
            </a:pPr>
            <a:r>
              <a:rPr sz="1620" b="0">
                <a:solidFill>
                  <a:srgbClr val="17221B"/>
                </a:solidFill>
                <a:latin typeface="Noto Sans KR"/>
                <a:ea typeface="Noto Sans KR"/>
                <a:cs typeface="Noto Sans KR"/>
              </a:rPr>
              <a:t>컨플루언스 팀 페이지에 올립니다.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때는 담당자 한 사람이 원본을&#10;고치고 v2로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때는 담당자 한 사람이 원본을</a:t>
            </a:r>
          </a:p>
          <a:p>
            <a:pPr algn="l">
              <a:lnSpc>
                <a:spcPts val="2235"/>
              </a:lnSpc>
              <a:spcBef>
                <a:spcPts val="0"/>
              </a:spcBef>
              <a:spcAft>
                <a:spcPts val="0"/>
              </a:spcAft>
            </a:pPr>
            <a:r>
              <a:rPr sz="1620" b="0">
                <a:solidFill>
                  <a:srgbClr val="17221B"/>
                </a:solidFill>
                <a:latin typeface="Noto Sans KR"/>
                <a:ea typeface="Noto Sans KR"/>
                <a:cs typeface="Noto Sans KR"/>
              </a:rPr>
              <a:t>고치고 v2로 다시 올립니다. 각자 고쳐</a:t>
            </a:r>
          </a:p>
          <a:p>
            <a:pPr algn="l">
              <a:lnSpc>
                <a:spcPts val="2235"/>
              </a:lnSpc>
              <a:spcBef>
                <a:spcPts val="0"/>
              </a:spcBef>
              <a:spcAft>
                <a:spcPts val="0"/>
              </a:spcAft>
            </a:pPr>
            <a:r>
              <a:rPr sz="1620" b="0">
                <a:solidFill>
                  <a:srgbClr val="17221B"/>
                </a:solidFill>
                <a:latin typeface="Noto Sans KR"/>
                <a:ea typeface="Noto Sans KR"/>
                <a:cs typeface="Noto Sans KR"/>
              </a:rPr>
              <a:t>쓰지 않습니다.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팀원이 똑같이 쓰도록 오늘 만든 규칙과 스킬을 공유"/>
          <p:cNvSpPr txBox="1"/>
          <p:nvPr/>
        </p:nvSpPr>
        <p:spPr>
          <a:xfrm>
            <a:off x="5303520" y="2468880"/>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팀원이 똑같이 쓰도록 오늘 만든 규칙과 스킬을 공유용으로 묶어 줘.</a:t>
            </a:r>
          </a:p>
          <a:p>
            <a:pPr algn="l">
              <a:lnSpc>
                <a:spcPts val="1987"/>
              </a:lnSpc>
              <a:spcBef>
                <a:spcPts val="0"/>
              </a:spcBef>
              <a:spcAft>
                <a:spcPts val="0"/>
              </a:spcAft>
            </a:pPr>
            <a:r>
              <a:rPr sz="1439" b="0">
                <a:solidFill>
                  <a:srgbClr val="E4EFE6"/>
                </a:solidFill>
                <a:latin typeface="Noto Sans KR"/>
                <a:ea typeface="Noto Sans KR"/>
                <a:cs typeface="Noto Sans KR"/>
              </a:rPr>
              <a:t>1. 결과/팀공유 폴더에 폴더 맨 위의 AGENTS.md, .claude/skills/매출검수,</a:t>
            </a:r>
          </a:p>
          <a:p>
            <a:pPr algn="l">
              <a:lnSpc>
                <a:spcPts val="1987"/>
              </a:lnSpc>
              <a:spcBef>
                <a:spcPts val="0"/>
              </a:spcBef>
              <a:spcAft>
                <a:spcPts val="0"/>
              </a:spcAft>
            </a:pPr>
            <a:r>
              <a:rPr sz="1439" b="0">
                <a:solidFill>
                  <a:srgbClr val="E4EFE6"/>
                </a:solidFill>
                <a:latin typeface="Noto Sans KR"/>
                <a:ea typeface="Noto Sans KR"/>
                <a:cs typeface="Noto Sans KR"/>
              </a:rPr>
              <a:t>.agents/skills/매출검수만 복사해. 입력자료, 결과 파일, 개인정보는 넣지 마.</a:t>
            </a:r>
          </a:p>
          <a:p>
            <a:pPr algn="l">
              <a:lnSpc>
                <a:spcPts val="1987"/>
              </a:lnSpc>
              <a:spcBef>
                <a:spcPts val="0"/>
              </a:spcBef>
              <a:spcAft>
                <a:spcPts val="0"/>
              </a:spcAft>
            </a:pPr>
            <a:r>
              <a:rPr sz="1439" b="0">
                <a:solidFill>
                  <a:srgbClr val="E4EFE6"/>
                </a:solidFill>
                <a:latin typeface="Noto Sans KR"/>
                <a:ea typeface="Noto Sans KR"/>
                <a:cs typeface="Noto Sans KR"/>
              </a:rPr>
              <a:t>2. 사내 메신저에 붙일 안내를 결과/팀공유/메신저_안내.txt에 세 줄로 써 줘.</a:t>
            </a:r>
          </a:p>
          <a:p>
            <a:pPr algn="l">
              <a:lnSpc>
                <a:spcPts val="1987"/>
              </a:lnSpc>
              <a:spcBef>
                <a:spcPts val="0"/>
              </a:spcBef>
              <a:spcAft>
                <a:spcPts val="0"/>
              </a:spcAft>
            </a:pPr>
            <a:r>
              <a:rPr sz="1439" b="0">
                <a:solidFill>
                  <a:srgbClr val="E4EFE6"/>
                </a:solidFill>
                <a:latin typeface="Noto Sans KR"/>
                <a:ea typeface="Noto Sans KR"/>
                <a:cs typeface="Noto Sans KR"/>
              </a:rPr>
              <a:t>무엇인지, 어디에 풀면 되는지, 고칠 때는 누구에게 말하는지.</a:t>
            </a:r>
          </a:p>
          <a:p>
            <a:pPr algn="l">
              <a:lnSpc>
                <a:spcPts val="1987"/>
              </a:lnSpc>
              <a:spcBef>
                <a:spcPts val="0"/>
              </a:spcBef>
              <a:spcAft>
                <a:spcPts val="0"/>
              </a:spcAft>
            </a:pPr>
            <a:r>
              <a:rPr sz="1439" b="0">
                <a:solidFill>
                  <a:srgbClr val="E4EFE6"/>
                </a:solidFill>
                <a:latin typeface="Noto Sans KR"/>
                <a:ea typeface="Noto Sans KR"/>
                <a:cs typeface="Noto Sans KR"/>
              </a:rPr>
              <a:t>3. 노션이나 컨플루언스 팀 페이지에 붙일 글을</a:t>
            </a:r>
          </a:p>
          <a:p>
            <a:pPr algn="l">
              <a:lnSpc>
                <a:spcPts val="1987"/>
              </a:lnSpc>
              <a:spcBef>
                <a:spcPts val="0"/>
              </a:spcBef>
              <a:spcAft>
                <a:spcPts val="0"/>
              </a:spcAft>
            </a:pPr>
            <a:r>
              <a:rPr sz="1439" b="0">
                <a:solidFill>
                  <a:srgbClr val="E4EFE6"/>
                </a:solidFill>
                <a:latin typeface="Noto Sans KR"/>
                <a:ea typeface="Noto Sans KR"/>
                <a:cs typeface="Noto Sans KR"/>
              </a:rPr>
              <a:t>결과/팀공유/팀페이지_안내.md로 써 줘. 쓰는 법, 바뀐 내용 기록, 담당자 칸을</a:t>
            </a:r>
          </a:p>
          <a:p>
            <a:pPr algn="l">
              <a:lnSpc>
                <a:spcPts val="1987"/>
              </a:lnSpc>
              <a:spcBef>
                <a:spcPts val="0"/>
              </a:spcBef>
              <a:spcAft>
                <a:spcPts val="0"/>
              </a:spcAft>
            </a:pPr>
            <a:r>
              <a:rPr sz="1439" b="0">
                <a:solidFill>
                  <a:srgbClr val="E4EFE6"/>
                </a:solidFill>
                <a:latin typeface="Noto Sans KR"/>
                <a:ea typeface="Noto Sans KR"/>
                <a:cs typeface="Noto Sans KR"/>
              </a:rPr>
              <a:t>넣어.</a:t>
            </a:r>
          </a:p>
          <a:p>
            <a:pPr algn="l">
              <a:lnSpc>
                <a:spcPts val="1987"/>
              </a:lnSpc>
              <a:spcBef>
                <a:spcPts val="0"/>
              </a:spcBef>
              <a:spcAft>
                <a:spcPts val="0"/>
              </a:spcAft>
            </a:pPr>
            <a:r>
              <a:rPr sz="1439" b="0">
                <a:solidFill>
                  <a:srgbClr val="E4EFE6"/>
                </a:solidFill>
                <a:latin typeface="Noto Sans KR"/>
                <a:ea typeface="Noto Sans KR"/>
                <a:cs typeface="Noto Sans KR"/>
              </a:rPr>
              <a:t>4. 이 폴더를 결과/팀공유_매출검수_v1.zip 하나로 묶고, 결과/팀공유 안의</a:t>
            </a:r>
          </a:p>
          <a:p>
            <a:pPr algn="l">
              <a:lnSpc>
                <a:spcPts val="1987"/>
              </a:lnSpc>
              <a:spcBef>
                <a:spcPts val="0"/>
              </a:spcBef>
              <a:spcAft>
                <a:spcPts val="0"/>
              </a:spcAft>
            </a:pPr>
            <a:r>
              <a:rPr sz="1439" b="0">
                <a:solidFill>
                  <a:srgbClr val="E4EFE6"/>
                </a:solidFill>
                <a:latin typeface="Noto Sans KR"/>
                <a:ea typeface="Noto Sans KR"/>
                <a:cs typeface="Noto Sans KR"/>
              </a:rPr>
              <a:t>.claude·.agents 사본은 지워 줘. 스킬이 목록에 두 번 뜨지 않게.</a:t>
            </a:r>
          </a:p>
          <a:p>
            <a:pPr algn="l">
              <a:lnSpc>
                <a:spcPts val="1987"/>
              </a:lnSpc>
              <a:spcBef>
                <a:spcPts val="0"/>
              </a:spcBef>
              <a:spcAft>
                <a:spcPts val="0"/>
              </a:spcAft>
            </a:pPr>
            <a:r>
              <a:rPr sz="1439" b="0">
                <a:solidFill>
                  <a:srgbClr val="E4EFE6"/>
                </a:solidFill>
                <a:latin typeface="Noto Sans KR"/>
                <a:ea typeface="Noto Sans KR"/>
                <a:cs typeface="Noto Sans KR"/>
              </a:rPr>
              <a:t>5. 실제로 보내거나 올리지는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팀공유_매출검수_v1.zip, 메신저_안내.t"/>
          <p:cNvSpPr txBox="1"/>
          <p:nvPr/>
        </p:nvSpPr>
        <p:spPr>
          <a:xfrm>
            <a:off x="1097280" y="5657392"/>
            <a:ext cx="10287000" cy="3048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결과/팀공유_매출검수_v1.zip, 메신저_안내.txt, 팀페이지_안내.md가 생기면 됐습니다. 개발 팀이 있다면 같은 묶음을 GitHub 저장소에 둬도 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Obsidian · 내 PC 폴더에 쌓는 메모장,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Obsidian · 내 PC 폴더에 쌓는 메모장, AI가 바로 읽습니다</a:t>
            </a:r>
          </a:p>
        </p:txBody>
      </p:sp>
      <p:sp>
        <p:nvSpPr>
          <p:cNvPr id="5" name="Rounded Rectangle 4"/>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6" name="Rounded Rectangle 5"/>
          <p:cNvSpPr/>
          <p:nvPr/>
        </p:nvSpPr>
        <p:spPr>
          <a:xfrm>
            <a:off x="746760" y="1354226"/>
            <a:ext cx="441960" cy="228600"/>
          </a:xfrm>
          <a:prstGeom prst="roundRect">
            <a:avLst>
              <a:gd name="adj" fmla="val 50000"/>
            </a:avLst>
          </a:prstGeom>
          <a:solidFill>
            <a:srgbClr val="8A5A12"/>
          </a:solidFill>
          <a:ln>
            <a:noFill/>
          </a:ln>
          <a:effectLst/>
        </p:spPr>
        <p:txBody>
          <a:bodyPr rtlCol="0" anchor="ctr"/>
          <a:lstStyle/>
          <a:p>
            <a:pPr algn="ctr"/>
          </a:p>
        </p:txBody>
      </p:sp>
      <p:sp>
        <p:nvSpPr>
          <p:cNvPr id="7" name="label · 용어"/>
          <p:cNvSpPr txBox="1"/>
          <p:nvPr/>
        </p:nvSpPr>
        <p:spPr>
          <a:xfrm>
            <a:off x="750570" y="1364894"/>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8" name="body · Obsidian"/>
          <p:cNvSpPr txBox="1"/>
          <p:nvPr/>
        </p:nvSpPr>
        <p:spPr>
          <a:xfrm>
            <a:off x="1295400" y="1324051"/>
            <a:ext cx="93725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Obsidian</a:t>
            </a:r>
          </a:p>
        </p:txBody>
      </p:sp>
      <p:sp>
        <p:nvSpPr>
          <p:cNvPr id="9" name="body · 옵시디언 · 노트 앱"/>
          <p:cNvSpPr txBox="1"/>
          <p:nvPr/>
        </p:nvSpPr>
        <p:spPr>
          <a:xfrm>
            <a:off x="2324100" y="1354150"/>
            <a:ext cx="91059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옵시디언 · 노트 앱</a:t>
            </a:r>
          </a:p>
        </p:txBody>
      </p:sp>
      <p:sp>
        <p:nvSpPr>
          <p:cNvPr id="10" name="body · 메모를 내 PC 폴더에 Markdown(.md) 파"/>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메모를 내 PC 폴더에 Markdown(.md) 파일로 저장하는 무료 노트 앱</a:t>
            </a:r>
          </a:p>
        </p:txBody>
      </p:sp>
      <p:sp>
        <p:nvSpPr>
          <p:cNvPr id="11" name="Rounded Rectangle 10"/>
          <p:cNvSpPr/>
          <p:nvPr/>
        </p:nvSpPr>
        <p:spPr>
          <a:xfrm>
            <a:off x="609600" y="1965960"/>
            <a:ext cx="6858000" cy="3222991"/>
          </a:xfrm>
          <a:prstGeom prst="roundRect">
            <a:avLst>
              <a:gd name="adj" fmla="val 3782"/>
            </a:avLst>
          </a:prstGeom>
          <a:solidFill>
            <a:srgbClr val="202123"/>
          </a:solidFill>
          <a:ln>
            <a:noFill/>
          </a:ln>
          <a:effectLst/>
        </p:spPr>
        <p:txBody>
          <a:bodyPr rtlCol="0" anchor="ctr"/>
          <a:lstStyle/>
          <a:p>
            <a:pPr algn="ctr"/>
          </a:p>
        </p:txBody>
      </p:sp>
      <p:pic>
        <p:nvPicPr>
          <p:cNvPr id="12" name="Picture 11" descr="obsidian-official.png"/>
          <p:cNvPicPr>
            <a:picLocks noChangeAspect="1"/>
          </p:cNvPicPr>
          <p:nvPr/>
        </p:nvPicPr>
        <p:blipFill>
          <a:blip r:embed="rId2"/>
          <a:srcRect/>
          <a:stretch>
            <a:fillRect/>
          </a:stretch>
        </p:blipFill>
        <p:spPr>
          <a:xfrm>
            <a:off x="716280" y="2072640"/>
            <a:ext cx="6644640" cy="3009631"/>
          </a:xfrm>
          <a:prstGeom prst="rect">
            <a:avLst/>
          </a:prstGeom>
        </p:spPr>
      </p:pic>
      <p:pic>
        <p:nvPicPr>
          <p:cNvPr id="13" name="Picture 12" descr="monitor-5E6B62.png"/>
          <p:cNvPicPr>
            <a:picLocks noChangeAspect="1"/>
          </p:cNvPicPr>
          <p:nvPr/>
        </p:nvPicPr>
        <p:blipFill>
          <a:blip r:embed="rId3"/>
          <a:srcRect/>
          <a:stretch>
            <a:fillRect/>
          </a:stretch>
        </p:blipFill>
        <p:spPr>
          <a:xfrm>
            <a:off x="624840" y="5265151"/>
            <a:ext cx="152400" cy="152400"/>
          </a:xfrm>
          <a:prstGeom prst="rect">
            <a:avLst/>
          </a:prstGeom>
        </p:spPr>
      </p:pic>
      <p:sp>
        <p:nvSpPr>
          <p:cNvPr id="14" name="caption · Obsidian 공식 사이트 화면 · 왼쪽 폴더, "/>
          <p:cNvSpPr txBox="1"/>
          <p:nvPr/>
        </p:nvSpPr>
        <p:spPr>
          <a:xfrm>
            <a:off x="838200" y="52346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Obsidian 공식 사이트 화면 · 왼쪽 폴더, 가운데 노트, 오른쪽 휴대폰</a:t>
            </a:r>
          </a:p>
        </p:txBody>
      </p:sp>
      <p:sp>
        <p:nvSpPr>
          <p:cNvPr id="15" name="Rounded Rectangle 14"/>
          <p:cNvSpPr/>
          <p:nvPr/>
        </p:nvSpPr>
        <p:spPr>
          <a:xfrm>
            <a:off x="7772400" y="1965960"/>
            <a:ext cx="3809999" cy="1143000"/>
          </a:xfrm>
          <a:prstGeom prst="roundRect">
            <a:avLst>
              <a:gd name="adj" fmla="val 9333"/>
            </a:avLst>
          </a:prstGeom>
          <a:solidFill>
            <a:srgbClr val="F3F7F3"/>
          </a:solidFill>
          <a:ln>
            <a:noFill/>
          </a:ln>
          <a:effectLst/>
        </p:spPr>
        <p:txBody>
          <a:bodyPr rtlCol="0" anchor="ctr"/>
          <a:lstStyle/>
          <a:p>
            <a:pPr algn="ctr"/>
          </a:p>
        </p:txBody>
      </p:sp>
      <p:sp>
        <p:nvSpPr>
          <p:cNvPr id="16" name="Rounded Rectangle 15"/>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7"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8" name="body · 내 PC의 폴더 그대로"/>
          <p:cNvSpPr txBox="1"/>
          <p:nvPr/>
        </p:nvSpPr>
        <p:spPr>
          <a:xfrm>
            <a:off x="8305800" y="2087880"/>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내 PC의 폴더 그대로</a:t>
            </a:r>
          </a:p>
        </p:txBody>
      </p:sp>
      <p:sp>
        <p:nvSpPr>
          <p:cNvPr id="19" name="body · 노트 하나가 .md 파일 하나 · 앱을 지워도&#10;메모"/>
          <p:cNvSpPr txBox="1"/>
          <p:nvPr/>
        </p:nvSpPr>
        <p:spPr>
          <a:xfrm>
            <a:off x="8305800" y="2377440"/>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하나가 .md 파일 하나 · 앱을 지워도</a:t>
            </a:r>
          </a:p>
          <a:p>
            <a:pPr algn="l">
              <a:lnSpc>
                <a:spcPts val="1738"/>
              </a:lnSpc>
              <a:spcBef>
                <a:spcPts val="0"/>
              </a:spcBef>
              <a:spcAft>
                <a:spcPts val="0"/>
              </a:spcAft>
            </a:pPr>
            <a:r>
              <a:rPr sz="1260" b="0">
                <a:solidFill>
                  <a:srgbClr val="17221B"/>
                </a:solidFill>
                <a:latin typeface="Noto Sans KR"/>
                <a:ea typeface="Noto Sans KR"/>
                <a:cs typeface="Noto Sans KR"/>
              </a:rPr>
              <a:t>메모는 폴더에 남습니다</a:t>
            </a:r>
          </a:p>
        </p:txBody>
      </p:sp>
      <p:sp>
        <p:nvSpPr>
          <p:cNvPr id="20" name="Rounded Rectangle 19"/>
          <p:cNvSpPr/>
          <p:nvPr/>
        </p:nvSpPr>
        <p:spPr>
          <a:xfrm>
            <a:off x="7772400" y="3215640"/>
            <a:ext cx="3809999" cy="1143000"/>
          </a:xfrm>
          <a:prstGeom prst="roundRect">
            <a:avLst>
              <a:gd name="adj" fmla="val 9333"/>
            </a:avLst>
          </a:prstGeom>
          <a:solidFill>
            <a:srgbClr val="F3F7F3"/>
          </a:solidFill>
          <a:ln>
            <a:noFill/>
          </a:ln>
          <a:effectLst/>
        </p:spPr>
        <p:txBody>
          <a:bodyPr rtlCol="0" anchor="ctr"/>
          <a:lstStyle/>
          <a:p>
            <a:pPr algn="ctr"/>
          </a:p>
        </p:txBody>
      </p:sp>
      <p:sp>
        <p:nvSpPr>
          <p:cNvPr id="21" name="Rounded Rectangle 20"/>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2"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3" name="body · 링크와 태그로 연결"/>
          <p:cNvSpPr txBox="1"/>
          <p:nvPr/>
        </p:nvSpPr>
        <p:spPr>
          <a:xfrm>
            <a:off x="8305800" y="3337560"/>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링크와 태그로 연결</a:t>
            </a:r>
          </a:p>
        </p:txBody>
      </p:sp>
      <p:sp>
        <p:nvSpPr>
          <p:cNvPr id="24" name="body · [[노트 이름]]으로 노트끼리 잇고 #태그로 묶어&#10;"/>
          <p:cNvSpPr txBox="1"/>
          <p:nvPr/>
        </p:nvSpPr>
        <p:spPr>
          <a:xfrm>
            <a:off x="8305800" y="3627120"/>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이름]]으로 노트끼리 잇고 #태그로 묶어</a:t>
            </a:r>
          </a:p>
          <a:p>
            <a:pPr algn="l">
              <a:lnSpc>
                <a:spcPts val="1738"/>
              </a:lnSpc>
              <a:spcBef>
                <a:spcPts val="0"/>
              </a:spcBef>
              <a:spcAft>
                <a:spcPts val="0"/>
              </a:spcAft>
            </a:pPr>
            <a:r>
              <a:rPr sz="1260" b="0">
                <a:solidFill>
                  <a:srgbClr val="17221B"/>
                </a:solidFill>
                <a:latin typeface="Noto Sans KR"/>
                <a:ea typeface="Noto Sans KR"/>
                <a:cs typeface="Noto Sans KR"/>
              </a:rPr>
              <a:t>찾습니다</a:t>
            </a:r>
          </a:p>
        </p:txBody>
      </p:sp>
      <p:sp>
        <p:nvSpPr>
          <p:cNvPr id="25" name="Rounded Rectangle 24"/>
          <p:cNvSpPr/>
          <p:nvPr/>
        </p:nvSpPr>
        <p:spPr>
          <a:xfrm>
            <a:off x="7772400" y="4465320"/>
            <a:ext cx="3809999" cy="1143000"/>
          </a:xfrm>
          <a:prstGeom prst="roundRect">
            <a:avLst>
              <a:gd name="adj" fmla="val 9333"/>
            </a:avLst>
          </a:prstGeom>
          <a:solidFill>
            <a:srgbClr val="F3F7F3"/>
          </a:solidFill>
          <a:ln>
            <a:noFill/>
          </a:ln>
          <a:effectLst/>
        </p:spPr>
        <p:txBody>
          <a:bodyPr rtlCol="0" anchor="ctr"/>
          <a:lstStyle/>
          <a:p>
            <a:pPr algn="ctr"/>
          </a:p>
        </p:txBody>
      </p:sp>
      <p:sp>
        <p:nvSpPr>
          <p:cNvPr id="26" name="Rounded Rectangle 25"/>
          <p:cNvSpPr/>
          <p:nvPr/>
        </p:nvSpPr>
        <p:spPr>
          <a:xfrm>
            <a:off x="7894320"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27" name="Picture 26" descr="sparkles-FFFFFF.png"/>
          <p:cNvPicPr>
            <a:picLocks noChangeAspect="1"/>
          </p:cNvPicPr>
          <p:nvPr/>
        </p:nvPicPr>
        <p:blipFill>
          <a:blip r:embed="rId4"/>
          <a:srcRect/>
          <a:stretch>
            <a:fillRect/>
          </a:stretch>
        </p:blipFill>
        <p:spPr>
          <a:xfrm>
            <a:off x="7966710" y="4644390"/>
            <a:ext cx="160020" cy="160020"/>
          </a:xfrm>
          <a:prstGeom prst="rect">
            <a:avLst/>
          </a:prstGeom>
        </p:spPr>
      </p:pic>
      <p:sp>
        <p:nvSpPr>
          <p:cNvPr id="28" name="body · AI와 잘 맞는 이유"/>
          <p:cNvSpPr txBox="1"/>
          <p:nvPr/>
        </p:nvSpPr>
        <p:spPr>
          <a:xfrm>
            <a:off x="8305800" y="4587240"/>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AI와 잘 맞는 이유</a:t>
            </a:r>
          </a:p>
        </p:txBody>
      </p:sp>
      <p:sp>
        <p:nvSpPr>
          <p:cNvPr id="29" name="body · 이 폴더를 AI에 연결(MCP)하면 쌓인 노트가&#10;그"/>
          <p:cNvSpPr txBox="1"/>
          <p:nvPr/>
        </p:nvSpPr>
        <p:spPr>
          <a:xfrm>
            <a:off x="8305800" y="4876800"/>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 폴더를 AI에 연결(MCP)하면 쌓인 노트가</a:t>
            </a:r>
          </a:p>
          <a:p>
            <a:pPr algn="l">
              <a:lnSpc>
                <a:spcPts val="1738"/>
              </a:lnSpc>
              <a:spcBef>
                <a:spcPts val="0"/>
              </a:spcBef>
              <a:spcAft>
                <a:spcPts val="0"/>
              </a:spcAft>
            </a:pPr>
            <a:r>
              <a:rPr sz="1260" b="0">
                <a:solidFill>
                  <a:srgbClr val="17221B"/>
                </a:solidFill>
                <a:latin typeface="Noto Sans KR"/>
                <a:ea typeface="Noto Sans KR"/>
                <a:cs typeface="Noto Sans KR"/>
              </a:rPr>
              <a:t>그대로 검색 증강(RAG) 자료가 됩니다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1 · Obsidian에 가상 노트 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4673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2 · 본인 AI에 연결 준비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선택 D · Node.js와 연결을 미리 준비한 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선택 D · Node.js와 연결을 미리 준비한 분만 · 본인 도구 하나만 연결합니다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 성공은</a:t>
            </a:r>
          </a:p>
          <a:p>
            <a:pPr algn="l">
              <a:lnSpc>
                <a:spcPts val="2235"/>
              </a:lnSpc>
              <a:spcBef>
                <a:spcPts val="0"/>
              </a:spcBef>
              <a:spcAft>
                <a:spcPts val="0"/>
              </a:spcAft>
            </a:pPr>
            <a:r>
              <a:rPr sz="1620" b="0">
                <a:solidFill>
                  <a:srgbClr val="E4EFE6"/>
                </a:solidFill>
                <a:latin typeface="Noto Sans KR"/>
                <a:ea typeface="Noto Sans KR"/>
                <a:cs typeface="Noto Sans KR"/>
              </a:rPr>
              <a:t>실제 도구 호출로 확인할 거야.</a:t>
            </a:r>
          </a:p>
        </p:txBody>
      </p:sp>
      <p:sp>
        <p:nvSpPr>
          <p:cNvPr id="12" name="body · 설정 후 재연결합니다. 연결 성공 여부는 다음 장에"/>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3 · 실제 연결과 범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 다르거나</a:t>
            </a:r>
          </a:p>
          <a:p>
            <a:pPr algn="l">
              <a:lnSpc>
                <a:spcPts val="2401"/>
              </a:lnSpc>
              <a:spcBef>
                <a:spcPts val="0"/>
              </a:spcBef>
              <a:spcAft>
                <a:spcPts val="0"/>
              </a:spcAft>
            </a:pPr>
            <a:r>
              <a:rPr sz="1739" b="0">
                <a:solidFill>
                  <a:srgbClr val="E4EFE6"/>
                </a:solidFill>
                <a:latin typeface="Noto Sans KR"/>
                <a:ea typeface="Noto Sans KR"/>
                <a:cs typeface="Noto Sans KR"/>
              </a:rPr>
              <a:t>더 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 대신하지 말고, 재연결</a:t>
            </a:r>
          </a:p>
          <a:p>
            <a:pPr algn="l">
              <a:lnSpc>
                <a:spcPts val="2401"/>
              </a:lnSpc>
              <a:spcBef>
                <a:spcPts val="0"/>
              </a:spcBef>
              <a:spcAft>
                <a:spcPts val="0"/>
              </a:spcAft>
            </a:pPr>
            <a:r>
              <a:rPr sz="1739" b="0">
                <a:solidFill>
                  <a:srgbClr val="E4EFE6"/>
                </a:solidFill>
                <a:latin typeface="Noto Sans KR"/>
                <a:ea typeface="Noto Sans KR"/>
                <a:cs typeface="Noto Sans KR"/>
              </a:rPr>
              <a:t>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4 · 변경된 행사 정보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 있는지&#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 다섯 항목을&#10;대조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 다섯 항목을</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a:t>
            </a:r>
          </a:p>
          <a:p>
            <a:pPr algn="l">
              <a:lnSpc>
                <a:spcPts val="2401"/>
              </a:lnSpc>
              <a:spcBef>
                <a:spcPts val="0"/>
              </a:spcBef>
              <a:spcAft>
                <a:spcPts val="0"/>
              </a:spcAft>
            </a:pPr>
            <a:r>
              <a:rPr sz="1739" b="0">
                <a:solidFill>
                  <a:srgbClr val="E4EFE6"/>
                </a:solidFill>
                <a:latin typeface="Noto Sans KR"/>
                <a:ea typeface="Noto Sans KR"/>
                <a:cs typeface="Noto Sans KR"/>
              </a:rPr>
              <a:t>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 신청 마감을 표로</a:t>
            </a:r>
          </a:p>
          <a:p>
            <a:pPr algn="l">
              <a:lnSpc>
                <a:spcPts val="2401"/>
              </a:lnSpc>
              <a:spcBef>
                <a:spcPts val="0"/>
              </a:spcBef>
              <a:spcAft>
                <a:spcPts val="0"/>
              </a:spcAft>
            </a:pPr>
            <a:r>
              <a:rPr sz="1739" b="0">
                <a:solidFill>
                  <a:srgbClr val="E4EFE6"/>
                </a:solidFill>
                <a:latin typeface="Noto Sans KR"/>
                <a:ea typeface="Noto Sans KR"/>
                <a:cs typeface="Noto Sans KR"/>
              </a:rPr>
              <a:t>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 바뀐</a:t>
            </a:r>
          </a:p>
          <a:p>
            <a:pPr algn="l">
              <a:lnSpc>
                <a:spcPts val="2401"/>
              </a:lnSpc>
              <a:spcBef>
                <a:spcPts val="0"/>
              </a:spcBef>
              <a:spcAft>
                <a:spcPts val="0"/>
              </a:spcAft>
            </a:pPr>
            <a:r>
              <a:rPr sz="1739" b="0">
                <a:solidFill>
                  <a:srgbClr val="E4EFE6"/>
                </a:solidFill>
                <a:latin typeface="Noto Sans KR"/>
                <a:ea typeface="Noto Sans KR"/>
                <a:cs typeface="Noto Sans KR"/>
              </a:rPr>
              <a:t>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5 · 공지 초안을 새 노트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 새 공지&#10;초안을 여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 새 공지</a:t>
            </a:r>
          </a:p>
          <a:p>
            <a:pPr algn="l">
              <a:lnSpc>
                <a:spcPts val="2235"/>
              </a:lnSpc>
              <a:spcBef>
                <a:spcPts val="0"/>
              </a:spcBef>
              <a:spcAft>
                <a:spcPts val="0"/>
              </a:spcAft>
            </a:pPr>
            <a:r>
              <a:rPr sz="1620" b="0">
                <a:solidFill>
                  <a:srgbClr val="17221B"/>
                </a:solidFill>
                <a:latin typeface="Noto Sans KR"/>
                <a:ea typeface="Noto Sans KR"/>
                <a:cs typeface="Noto Sans KR"/>
              </a:rPr>
              <a:t>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 원문과&#10;대조해 보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 원문과</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802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 바탕으"/>
          <p:cNvSpPr txBox="1"/>
          <p:nvPr/>
        </p:nvSpPr>
        <p:spPr>
          <a:xfrm>
            <a:off x="5303520" y="2468880"/>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 바탕으로 안내문 초안을</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 가상 실습</a:t>
            </a:r>
          </a:p>
          <a:p>
            <a:pPr algn="l">
              <a:lnSpc>
                <a:spcPts val="2152"/>
              </a:lnSpc>
              <a:spcBef>
                <a:spcPts val="0"/>
              </a:spcBef>
              <a:spcAft>
                <a:spcPts val="0"/>
              </a:spcAft>
            </a:pPr>
            <a:r>
              <a:rPr sz="1560" b="0">
                <a:solidFill>
                  <a:srgbClr val="E4EFE6"/>
                </a:solidFill>
                <a:latin typeface="Noto Sans KR"/>
                <a:ea typeface="Noto Sans KR"/>
                <a:cs typeface="Noto Sans KR"/>
              </a:rPr>
              <a:t>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 근거와 같은지</a:t>
            </a:r>
          </a:p>
          <a:p>
            <a:pPr algn="l">
              <a:lnSpc>
                <a:spcPts val="2152"/>
              </a:lnSpc>
              <a:spcBef>
                <a:spcPts val="0"/>
              </a:spcBef>
              <a:spcAft>
                <a:spcPts val="0"/>
              </a:spcAft>
            </a:pPr>
            <a:r>
              <a:rPr sz="1560" b="0">
                <a:solidFill>
                  <a:srgbClr val="E4EFE6"/>
                </a:solidFill>
                <a:latin typeface="Noto Sans KR"/>
                <a:ea typeface="Noto Sans KR"/>
                <a:cs typeface="Noto Sans KR"/>
              </a:rPr>
              <a:t>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6 · Notion·Confluence"/>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 본인&#10;계정"/>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 본인</a:t>
            </a:r>
          </a:p>
          <a:p>
            <a:pPr algn="l">
              <a:lnSpc>
                <a:spcPts val="2235"/>
              </a:lnSpc>
              <a:spcBef>
                <a:spcPts val="0"/>
              </a:spcBef>
              <a:spcAft>
                <a:spcPts val="0"/>
              </a:spcAft>
            </a:pPr>
            <a:r>
              <a:rPr sz="1620" b="0">
                <a:solidFill>
                  <a:srgbClr val="17221B"/>
                </a:solidFill>
                <a:latin typeface="Noto Sans KR"/>
                <a:ea typeface="Noto Sans KR"/>
                <a:cs typeface="Noto Sans KR"/>
              </a:rPr>
              <a:t>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 Atlassian Rovo M"/>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 Atlassian Rovo MCP에</a:t>
            </a:r>
          </a:p>
          <a:p>
            <a:pPr algn="l">
              <a:lnSpc>
                <a:spcPts val="2235"/>
              </a:lnSpc>
              <a:spcBef>
                <a:spcPts val="0"/>
              </a:spcBef>
              <a:spcAft>
                <a:spcPts val="0"/>
              </a:spcAft>
            </a:pPr>
            <a:r>
              <a:rPr sz="1620" b="0">
                <a:solidFill>
                  <a:srgbClr val="17221B"/>
                </a:solidFill>
                <a:latin typeface="Noto Sans KR"/>
                <a:ea typeface="Noto Sans KR"/>
                <a:cs typeface="Noto Sans KR"/>
              </a:rPr>
              <a:t>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1 · 그래프: 작성·검수·수정을 다른 AI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1 · 그래프: 작성·검수·수정을 다른 AI에게 나눠 맡기기</a:t>
            </a:r>
          </a:p>
        </p:txBody>
      </p:sp>
      <p:sp>
        <p:nvSpPr>
          <p:cNvPr id="5" name="subtitle · 한 AI가 다 하지 않고 역할을 잇습니다 · Cl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AI가 다 하지 않고 역할을 잇습니다 · Claude Code 작성 → Codex 검수 → Claude Code 수정</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① Claude Code · 작성"/>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① Claude Code · 작성</a:t>
            </a:r>
          </a:p>
        </p:txBody>
      </p:sp>
      <p:sp>
        <p:nvSpPr>
          <p:cNvPr id="8" name="body · 지식보관함/행사 폴더의 10월_시식행사_확정.md만"/>
          <p:cNvSpPr txBox="1"/>
          <p:nvPr/>
        </p:nvSpPr>
        <p:spPr>
          <a:xfrm>
            <a:off x="807720" y="2545080"/>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지식보관함/행사 폴더의 10월_시식행사_확정.md만</a:t>
            </a:r>
          </a:p>
          <a:p>
            <a:pPr algn="l">
              <a:lnSpc>
                <a:spcPts val="2235"/>
              </a:lnSpc>
              <a:spcBef>
                <a:spcPts val="0"/>
              </a:spcBef>
              <a:spcAft>
                <a:spcPts val="0"/>
              </a:spcAft>
            </a:pPr>
            <a:r>
              <a:rPr sz="1620" b="0">
                <a:solidFill>
                  <a:srgbClr val="E4EFE6"/>
                </a:solidFill>
                <a:latin typeface="Noto Sans KR"/>
                <a:ea typeface="Noto Sans KR"/>
                <a:cs typeface="Noto Sans KR"/>
              </a:rPr>
              <a:t>읽고 조합원 공지 초안을 써 줘.</a:t>
            </a:r>
          </a:p>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결과/그래프_공지_v1.md로 저장해. 확정 문서에 없는</a:t>
            </a:r>
          </a:p>
          <a:p>
            <a:pPr algn="l">
              <a:lnSpc>
                <a:spcPts val="2235"/>
              </a:lnSpc>
              <a:spcBef>
                <a:spcPts val="0"/>
              </a:spcBef>
              <a:spcAft>
                <a:spcPts val="0"/>
              </a:spcAft>
            </a:pPr>
            <a:r>
              <a:rPr sz="1620" b="0">
                <a:solidFill>
                  <a:srgbClr val="E4EFE6"/>
                </a:solidFill>
                <a:latin typeface="Noto Sans KR"/>
                <a:ea typeface="Noto Sans KR"/>
                <a:cs typeface="Noto Sans KR"/>
              </a:rPr>
              <a:t>시간·장소·신청 방법은 [확인 필요]로 남겨.</a:t>
            </a:r>
          </a:p>
          <a:p>
            <a:pPr algn="l">
              <a:lnSpc>
                <a:spcPts val="2235"/>
              </a:lnSpc>
              <a:spcBef>
                <a:spcPts val="0"/>
              </a:spcBef>
              <a:spcAft>
                <a:spcPts val="0"/>
              </a:spcAft>
            </a:pPr>
            <a:r>
              <a:rPr sz="1620" b="0">
                <a:solidFill>
                  <a:srgbClr val="E4EFE6"/>
                </a:solidFill>
                <a:latin typeface="Noto Sans KR"/>
                <a:ea typeface="Noto Sans KR"/>
                <a:cs typeface="Noto Sans KR"/>
              </a:rPr>
              <a:t>다 쓰면 「Codex 검수 차례」라고만 알려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② Codex · 검수"/>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② Codex · 검수</a:t>
            </a:r>
          </a:p>
        </p:txBody>
      </p:sp>
      <p:sp>
        <p:nvSpPr>
          <p:cNvPr id="11" name="body · 결과/그래프_공지_v1.md를&#10;지식보관함/행사/10"/>
          <p:cNvSpPr txBox="1"/>
          <p:nvPr/>
        </p:nvSpPr>
        <p:spPr>
          <a:xfrm>
            <a:off x="64465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결과/그래프_공지_v1.md를</a:t>
            </a:r>
          </a:p>
          <a:p>
            <a:pPr algn="l">
              <a:lnSpc>
                <a:spcPts val="2235"/>
              </a:lnSpc>
              <a:spcBef>
                <a:spcPts val="0"/>
              </a:spcBef>
              <a:spcAft>
                <a:spcPts val="0"/>
              </a:spcAft>
            </a:pPr>
            <a:r>
              <a:rPr sz="1620" b="0">
                <a:solidFill>
                  <a:srgbClr val="E4EFE6"/>
                </a:solidFill>
                <a:latin typeface="Noto Sans KR"/>
                <a:ea typeface="Noto Sans KR"/>
                <a:cs typeface="Noto Sans KR"/>
              </a:rPr>
              <a:t>지식보관함/행사/10월_시식행사_확정.md와 한 줄씩</a:t>
            </a:r>
          </a:p>
          <a:p>
            <a:pPr algn="l">
              <a:lnSpc>
                <a:spcPts val="2235"/>
              </a:lnSpc>
              <a:spcBef>
                <a:spcPts val="0"/>
              </a:spcBef>
              <a:spcAft>
                <a:spcPts val="0"/>
              </a:spcAft>
            </a:pPr>
            <a:r>
              <a:rPr sz="1620" b="0">
                <a:solidFill>
                  <a:srgbClr val="E4EFE6"/>
                </a:solidFill>
                <a:latin typeface="Noto Sans KR"/>
                <a:ea typeface="Noto Sans KR"/>
                <a:cs typeface="Noto Sans KR"/>
              </a:rPr>
              <a:t>대조해 줘.</a:t>
            </a:r>
          </a:p>
          <a:p>
            <a:pPr algn="l">
              <a:lnSpc>
                <a:spcPts val="2235"/>
              </a:lnSpc>
              <a:spcBef>
                <a:spcPts val="0"/>
              </a:spcBef>
              <a:spcAft>
                <a:spcPts val="0"/>
              </a:spcAft>
            </a:pPr>
            <a:r>
              <a:rPr sz="1620" b="0">
                <a:solidFill>
                  <a:srgbClr val="E4EFE6"/>
                </a:solidFill>
                <a:latin typeface="Noto Sans KR"/>
                <a:ea typeface="Noto Sans KR"/>
                <a:cs typeface="Noto Sans KR"/>
              </a:rPr>
              <a:t>틀린 곳, 빠진 곳, 확정 문서에 없는데 들어간 말을</a:t>
            </a:r>
          </a:p>
          <a:p>
            <a:pPr algn="l">
              <a:lnSpc>
                <a:spcPts val="2235"/>
              </a:lnSpc>
              <a:spcBef>
                <a:spcPts val="0"/>
              </a:spcBef>
              <a:spcAft>
                <a:spcPts val="0"/>
              </a:spcAft>
            </a:pPr>
            <a:r>
              <a:rPr sz="1620" b="0">
                <a:solidFill>
                  <a:srgbClr val="E4EFE6"/>
                </a:solidFill>
                <a:latin typeface="Noto Sans KR"/>
                <a:ea typeface="Noto Sans KR"/>
                <a:cs typeface="Noto Sans KR"/>
              </a:rPr>
              <a:t>결과/그래프_검수표.md에 표로 적어 줘. 열은</a:t>
            </a:r>
          </a:p>
          <a:p>
            <a:pPr algn="l">
              <a:lnSpc>
                <a:spcPts val="2235"/>
              </a:lnSpc>
              <a:spcBef>
                <a:spcPts val="0"/>
              </a:spcBef>
              <a:spcAft>
                <a:spcPts val="0"/>
              </a:spcAft>
            </a:pPr>
            <a:r>
              <a:rPr sz="1620" b="0">
                <a:solidFill>
                  <a:srgbClr val="E4EFE6"/>
                </a:solidFill>
                <a:latin typeface="Noto Sans KR"/>
                <a:ea typeface="Noto Sans KR"/>
                <a:cs typeface="Noto Sans KR"/>
              </a:rPr>
              <a:t>위치·문제·확정 문서 근거·고칠 말.</a:t>
            </a:r>
          </a:p>
          <a:p>
            <a:pPr algn="l">
              <a:lnSpc>
                <a:spcPts val="2235"/>
              </a:lnSpc>
              <a:spcBef>
                <a:spcPts val="0"/>
              </a:spcBef>
              <a:spcAft>
                <a:spcPts val="0"/>
              </a:spcAft>
            </a:pPr>
            <a:r>
              <a:rPr sz="1620" b="0">
                <a:solidFill>
                  <a:srgbClr val="E4EFE6"/>
                </a:solidFill>
                <a:latin typeface="Noto Sans KR"/>
                <a:ea typeface="Noto Sans KR"/>
                <a:cs typeface="Noto Sans KR"/>
              </a:rPr>
              <a:t>공지 파일은 고치지 마. 검수만 해.</a:t>
            </a:r>
          </a:p>
        </p:txBody>
      </p:sp>
      <p:sp>
        <p:nvSpPr>
          <p:cNvPr id="12" name="body · ③ 검수표가 생기면 Claude Code에 「결과/"/>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③ 검수표가 생기면 Claude Code에 「결과/그래프_검수표.md대로 고친 공지를 결과/그래프_공지_v2.md로 저장해 줘」(P21-C)를 보내세요.</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2 · 하위 에이전트에게 매장 파일을 나눠 맡"/>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2 · 하위 에이전트에게 매장 파일을 나눠 맡기기</a:t>
            </a:r>
          </a:p>
        </p:txBody>
      </p:sp>
      <p:sp>
        <p:nvSpPr>
          <p:cNvPr id="5" name="subtitle · Claude Code가 일을 쪼개 하위 에이전트 세"/>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일을 쪼개 하위 에이전트 세 개에 동시에 맡기고, 결과를 합쳐 다시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화"/>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화면에 하위 에이전트 세 개가</a:t>
            </a:r>
          </a:p>
          <a:p>
            <a:pPr algn="l">
              <a:lnSpc>
                <a:spcPts val="2235"/>
              </a:lnSpc>
              <a:spcBef>
                <a:spcPts val="0"/>
              </a:spcBef>
              <a:spcAft>
                <a:spcPts val="0"/>
              </a:spcAft>
            </a:pPr>
            <a:r>
              <a:rPr sz="1620" b="0">
                <a:solidFill>
                  <a:srgbClr val="17221B"/>
                </a:solidFill>
                <a:latin typeface="Noto Sans KR"/>
                <a:ea typeface="Noto Sans KR"/>
                <a:cs typeface="Noto Sans KR"/>
              </a:rPr>
              <a:t>나란히 일하는 모습이 보입니다.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하위에이전트_오류.md를 열어 세&#10;매장의 제외"/>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결과/하위에이전트_오류.md를 열어 세</a:t>
            </a:r>
          </a:p>
          <a:p>
            <a:pPr algn="l">
              <a:lnSpc>
                <a:spcPts val="2235"/>
              </a:lnSpc>
              <a:spcBef>
                <a:spcPts val="0"/>
              </a:spcBef>
              <a:spcAft>
                <a:spcPts val="0"/>
              </a:spcAft>
            </a:pPr>
            <a:r>
              <a:rPr sz="1620" b="0">
                <a:solidFill>
                  <a:srgbClr val="17221B"/>
                </a:solidFill>
                <a:latin typeface="Noto Sans KR"/>
                <a:ea typeface="Noto Sans KR"/>
                <a:cs typeface="Noto Sans KR"/>
              </a:rPr>
              <a:t>매장의 제외 줄이 모두 들어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요약.xlsx 오류목록과 같다고 나오면&#10;됐습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요약.xlsx 오류목록과 같다고 나오면</a:t>
            </a:r>
          </a:p>
          <a:p>
            <a:pPr algn="l">
              <a:lnSpc>
                <a:spcPts val="2235"/>
              </a:lnSpc>
              <a:spcBef>
                <a:spcPts val="0"/>
              </a:spcBef>
              <a:spcAft>
                <a:spcPts val="0"/>
              </a:spcAft>
            </a:pPr>
            <a:r>
              <a:rPr sz="1620" b="0">
                <a:solidFill>
                  <a:srgbClr val="17221B"/>
                </a:solidFill>
                <a:latin typeface="Noto Sans KR"/>
                <a:ea typeface="Noto Sans KR"/>
                <a:cs typeface="Noto Sans KR"/>
              </a:rPr>
              <a:t>됐습니다. 다르면 어느 줄인지 보고를</a:t>
            </a:r>
          </a:p>
          <a:p>
            <a:pPr algn="l">
              <a:lnSpc>
                <a:spcPts val="2235"/>
              </a:lnSpc>
              <a:spcBef>
                <a:spcPts val="0"/>
              </a:spcBef>
              <a:spcAft>
                <a:spcPts val="0"/>
              </a:spcAft>
            </a:pPr>
            <a:r>
              <a:rPr sz="1620" b="0">
                <a:solidFill>
                  <a:srgbClr val="17221B"/>
                </a:solidFill>
                <a:latin typeface="Noto Sans KR"/>
                <a:ea typeface="Noto Sans KR"/>
                <a:cs typeface="Noto Sans KR"/>
              </a:rPr>
              <a:t>읽어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하위 에이전트(서브에이전트) 세 개를 만들어 02·"/>
          <p:cNvSpPr txBox="1"/>
          <p:nvPr/>
        </p:nvSpPr>
        <p:spPr>
          <a:xfrm>
            <a:off x="5303520" y="2468880"/>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하위 에이전트(서브에이전트) 세 개를 만들어 02·03·04 매장 파일을</a:t>
            </a:r>
          </a:p>
          <a:p>
            <a:pPr algn="l">
              <a:lnSpc>
                <a:spcPts val="2152"/>
              </a:lnSpc>
              <a:spcBef>
                <a:spcPts val="0"/>
              </a:spcBef>
              <a:spcAft>
                <a:spcPts val="0"/>
              </a:spcAft>
            </a:pPr>
            <a:r>
              <a:rPr sz="1560" b="0">
                <a:solidFill>
                  <a:srgbClr val="E4EFE6"/>
                </a:solidFill>
                <a:latin typeface="Noto Sans KR"/>
                <a:ea typeface="Noto Sans KR"/>
                <a:cs typeface="Noto Sans KR"/>
              </a:rPr>
              <a:t>하나씩 맡겨 줘.</a:t>
            </a:r>
          </a:p>
          <a:p>
            <a:pPr algn="l">
              <a:lnSpc>
                <a:spcPts val="2152"/>
              </a:lnSpc>
              <a:spcBef>
                <a:spcPts val="0"/>
              </a:spcBef>
              <a:spcAft>
                <a:spcPts val="0"/>
              </a:spcAft>
            </a:pPr>
            <a:r>
              <a:rPr sz="1560" b="0">
                <a:solidFill>
                  <a:srgbClr val="E4EFE6"/>
                </a:solidFill>
                <a:latin typeface="Noto Sans KR"/>
                <a:ea typeface="Noto Sans KR"/>
                <a:cs typeface="Noto Sans KR"/>
              </a:rPr>
              <a:t>1. 나누기 전에 세 파일 전체에서 거래행ID가 겹치는지 먼저 한 번 확인해.</a:t>
            </a:r>
          </a:p>
          <a:p>
            <a:pPr algn="l">
              <a:lnSpc>
                <a:spcPts val="2152"/>
              </a:lnSpc>
              <a:spcBef>
                <a:spcPts val="0"/>
              </a:spcBef>
              <a:spcAft>
                <a:spcPts val="0"/>
              </a:spcAft>
            </a:pPr>
            <a:r>
              <a:rPr sz="1560" b="0">
                <a:solidFill>
                  <a:srgbClr val="E4EFE6"/>
                </a:solidFill>
                <a:latin typeface="Noto Sans KR"/>
                <a:ea typeface="Noto Sans KR"/>
                <a:cs typeface="Noto Sans KR"/>
              </a:rPr>
              <a:t>2. 각 하위 에이전트는 06_처리규칙.txt대로 제외할 줄만 찾아 파일·Excel</a:t>
            </a:r>
          </a:p>
          <a:p>
            <a:pPr algn="l">
              <a:lnSpc>
                <a:spcPts val="2152"/>
              </a:lnSpc>
              <a:spcBef>
                <a:spcPts val="0"/>
              </a:spcBef>
              <a:spcAft>
                <a:spcPts val="0"/>
              </a:spcAft>
            </a:pPr>
            <a:r>
              <a:rPr sz="1560" b="0">
                <a:solidFill>
                  <a:srgbClr val="E4EFE6"/>
                </a:solidFill>
                <a:latin typeface="Noto Sans KR"/>
                <a:ea typeface="Noto Sans KR"/>
                <a:cs typeface="Noto Sans KR"/>
              </a:rPr>
              <a:t>행·거래행ID·사유를 보고해.</a:t>
            </a:r>
          </a:p>
          <a:p>
            <a:pPr algn="l">
              <a:lnSpc>
                <a:spcPts val="2152"/>
              </a:lnSpc>
              <a:spcBef>
                <a:spcPts val="0"/>
              </a:spcBef>
              <a:spcAft>
                <a:spcPts val="0"/>
              </a:spcAft>
            </a:pPr>
            <a:r>
              <a:rPr sz="1560" b="0">
                <a:solidFill>
                  <a:srgbClr val="E4EFE6"/>
                </a:solidFill>
                <a:latin typeface="Noto Sans KR"/>
                <a:ea typeface="Noto Sans KR"/>
                <a:cs typeface="Noto Sans KR"/>
              </a:rPr>
              <a:t>3. 세 보고를 합쳐 결과/하위에이전트_오류.md에 표로 정리하고,</a:t>
            </a:r>
          </a:p>
          <a:p>
            <a:pPr algn="l">
              <a:lnSpc>
                <a:spcPts val="2152"/>
              </a:lnSpc>
              <a:spcBef>
                <a:spcPts val="0"/>
              </a:spcBef>
              <a:spcAft>
                <a:spcPts val="0"/>
              </a:spcAft>
            </a:pPr>
            <a:r>
              <a:rPr sz="1560" b="0">
                <a:solidFill>
                  <a:srgbClr val="E4EFE6"/>
                </a:solidFill>
                <a:latin typeface="Noto Sans KR"/>
                <a:ea typeface="Noto Sans KR"/>
                <a:cs typeface="Noto Sans KR"/>
              </a:rPr>
              <a:t>요약.xlsx 오류목록과 대조해.</a:t>
            </a:r>
          </a:p>
          <a:p>
            <a:pPr algn="l">
              <a:lnSpc>
                <a:spcPts val="2152"/>
              </a:lnSpc>
              <a:spcBef>
                <a:spcPts val="0"/>
              </a:spcBef>
              <a:spcAft>
                <a:spcPts val="0"/>
              </a:spcAft>
            </a:pPr>
            <a:r>
              <a:rPr sz="1560" b="0">
                <a:solidFill>
                  <a:srgbClr val="E4EFE6"/>
                </a:solidFill>
                <a:latin typeface="Noto Sans KR"/>
                <a:ea typeface="Noto Sans KR"/>
                <a:cs typeface="Noto Sans KR"/>
              </a:rPr>
              <a:t>4. 하위 에이전트를 쓸 수 없으면 없다고 말하고 한 번에 처리해.</a:t>
            </a:r>
          </a:p>
          <a:p>
            <a:pPr algn="l">
              <a:lnSpc>
                <a:spcPts val="2152"/>
              </a:lnSpc>
              <a:spcBef>
                <a:spcPts val="0"/>
              </a:spcBef>
              <a:spcAft>
                <a:spcPts val="0"/>
              </a:spcAft>
            </a:pPr>
            <a:r>
              <a:rPr sz="1560" b="0">
                <a:solidFill>
                  <a:srgbClr val="E4EFE6"/>
                </a:solidFill>
                <a:latin typeface="Noto Sans KR"/>
                <a:ea typeface="Noto Sans KR"/>
                <a:cs typeface="Noto Sans KR"/>
              </a:rPr>
              <a:t>입력자료와 기존 결과는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매장의 제외 줄이 한 표에 모이고 오류목록과 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매장의 제외 줄이 한 표에 모이고 오류목록과 대조한 결과가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실습 준비 · 컴퓨터 사용은 VS Code 확장만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준비 · 컴퓨터 사용은 VS Code 확장만으로는 안 됩니다</a:t>
            </a:r>
          </a:p>
        </p:txBody>
      </p:sp>
      <p:sp>
        <p:nvSpPr>
          <p:cNvPr id="5" name="subtitle · 화면 조작은 데스크톱 앱에서 설정으로 켭니다 · 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조작은 데스크톱 앱에서 설정으로 켭니다 · 요청문으로는 켜지지 않습니다 · Windows 기준</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88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
            </a:r>
          </a:p>
        </p:txBody>
      </p:sp>
      <p:sp>
        <p:nvSpPr>
          <p:cNvPr id="10" name="body · Claude 데스크톱 앱"/>
          <p:cNvSpPr txBox="1"/>
          <p:nvPr/>
        </p:nvSpPr>
        <p:spPr>
          <a:xfrm>
            <a:off x="2078735" y="21884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Claude 데스크톱 앱</a:t>
            </a:r>
          </a:p>
        </p:txBody>
      </p:sp>
      <p:sp>
        <p:nvSpPr>
          <p:cNvPr id="11" name="body · ChatGPT 데스크톱 앱"/>
          <p:cNvSpPr txBox="1"/>
          <p:nvPr/>
        </p:nvSpPr>
        <p:spPr>
          <a:xfrm>
            <a:off x="4383024" y="21884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ChatGPT 데스크톱 앱</a:t>
            </a:r>
          </a:p>
        </p:txBody>
      </p:sp>
      <p:sp>
        <p:nvSpPr>
          <p:cNvPr id="12" name="body · VS Code · Claude Code"/>
          <p:cNvSpPr txBox="1"/>
          <p:nvPr/>
        </p:nvSpPr>
        <p:spPr>
          <a:xfrm>
            <a:off x="6797040" y="2188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 Code</a:t>
            </a:r>
          </a:p>
        </p:txBody>
      </p:sp>
      <p:sp>
        <p:nvSpPr>
          <p:cNvPr id="13" name="body · VS Code · Codex"/>
          <p:cNvSpPr txBox="1"/>
          <p:nvPr/>
        </p:nvSpPr>
        <p:spPr>
          <a:xfrm>
            <a:off x="9649968" y="21884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설치"/>
          <p:cNvSpPr txBox="1"/>
          <p:nvPr/>
        </p:nvSpPr>
        <p:spPr>
          <a:xfrm>
            <a:off x="762000" y="2721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설치</a:t>
            </a:r>
          </a:p>
        </p:txBody>
      </p:sp>
      <p:sp>
        <p:nvSpPr>
          <p:cNvPr id="16" name="body · claude.ai/download"/>
          <p:cNvSpPr txBox="1"/>
          <p:nvPr/>
        </p:nvSpPr>
        <p:spPr>
          <a:xfrm>
            <a:off x="2078735" y="27218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claude.ai/download</a:t>
            </a:r>
          </a:p>
        </p:txBody>
      </p:sp>
      <p:sp>
        <p:nvSpPr>
          <p:cNvPr id="17" name="body · chatgpt.com/download"/>
          <p:cNvSpPr txBox="1"/>
          <p:nvPr/>
        </p:nvSpPr>
        <p:spPr>
          <a:xfrm>
            <a:off x="4383024" y="27218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chatgpt.com/download</a:t>
            </a:r>
          </a:p>
        </p:txBody>
      </p:sp>
      <p:sp>
        <p:nvSpPr>
          <p:cNvPr id="18" name="body · 확장만 설치"/>
          <p:cNvSpPr txBox="1"/>
          <p:nvPr/>
        </p:nvSpPr>
        <p:spPr>
          <a:xfrm>
            <a:off x="6797040" y="2721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19" name="body · 확장만 설치"/>
          <p:cNvSpPr txBox="1"/>
          <p:nvPr/>
        </p:nvSpPr>
        <p:spPr>
          <a:xfrm>
            <a:off x="9649968" y="27218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화면 조작"/>
          <p:cNvSpPr txBox="1"/>
          <p:nvPr/>
        </p:nvSpPr>
        <p:spPr>
          <a:xfrm>
            <a:off x="762000" y="32552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화면 조작</a:t>
            </a:r>
          </a:p>
        </p:txBody>
      </p:sp>
      <p:sp>
        <p:nvSpPr>
          <p:cNvPr id="23" name="body · ○ (Pro·Max)"/>
          <p:cNvSpPr txBox="1"/>
          <p:nvPr/>
        </p:nvSpPr>
        <p:spPr>
          <a:xfrm>
            <a:off x="2078735" y="32552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(Pro·Max)</a:t>
            </a:r>
          </a:p>
        </p:txBody>
      </p:sp>
      <p:sp>
        <p:nvSpPr>
          <p:cNvPr id="24" name="body · ○ Work·Codex에서"/>
          <p:cNvSpPr txBox="1"/>
          <p:nvPr/>
        </p:nvSpPr>
        <p:spPr>
          <a:xfrm>
            <a:off x="4383024" y="32552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Work·Codex에서</a:t>
            </a:r>
          </a:p>
        </p:txBody>
      </p:sp>
      <p:sp>
        <p:nvSpPr>
          <p:cNvPr id="25" name="body · 브라우저만 · Chrome 확장 +&#10;@browser"/>
          <p:cNvSpPr txBox="1"/>
          <p:nvPr/>
        </p:nvSpPr>
        <p:spPr>
          <a:xfrm>
            <a:off x="6797040" y="3150108"/>
            <a:ext cx="2593848"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브라우저만 · Chrome 확장 +</a:t>
            </a:r>
          </a:p>
          <a:p>
            <a:pPr algn="l">
              <a:lnSpc>
                <a:spcPts val="1655"/>
              </a:lnSpc>
              <a:spcBef>
                <a:spcPts val="0"/>
              </a:spcBef>
              <a:spcAft>
                <a:spcPts val="0"/>
              </a:spcAft>
            </a:pPr>
            <a:r>
              <a:rPr sz="1200" b="0">
                <a:solidFill>
                  <a:srgbClr val="17221B"/>
                </a:solidFill>
                <a:latin typeface="Noto Sans KR"/>
                <a:ea typeface="Noto Sans KR"/>
                <a:cs typeface="Noto Sans KR"/>
              </a:rPr>
              <a:t>@browser</a:t>
            </a:r>
          </a:p>
        </p:txBody>
      </p:sp>
      <p:sp>
        <p:nvSpPr>
          <p:cNvPr id="26" name="body · 공식 자료에 없음"/>
          <p:cNvSpPr txBox="1"/>
          <p:nvPr/>
        </p:nvSpPr>
        <p:spPr>
          <a:xfrm>
            <a:off x="9649968" y="32552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공식 자료에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켜는 곳"/>
          <p:cNvSpPr txBox="1"/>
          <p:nvPr/>
        </p:nvSpPr>
        <p:spPr>
          <a:xfrm>
            <a:off x="762000" y="37886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켜는 곳</a:t>
            </a:r>
          </a:p>
        </p:txBody>
      </p:sp>
      <p:sp>
        <p:nvSpPr>
          <p:cNvPr id="29" name="body · 설정 › 이 컴퓨터 › 시스템"/>
          <p:cNvSpPr txBox="1"/>
          <p:nvPr/>
        </p:nvSpPr>
        <p:spPr>
          <a:xfrm>
            <a:off x="2078735" y="37886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설정 › 이 컴퓨터 › 시스템</a:t>
            </a:r>
          </a:p>
        </p:txBody>
      </p:sp>
      <p:sp>
        <p:nvSpPr>
          <p:cNvPr id="30" name="body · 플러그인 › Computer Use 설치"/>
          <p:cNvSpPr txBox="1"/>
          <p:nvPr/>
        </p:nvSpPr>
        <p:spPr>
          <a:xfrm>
            <a:off x="4383024" y="37886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플러그인 › Computer Use 설치</a:t>
            </a:r>
          </a:p>
        </p:txBody>
      </p:sp>
      <p:sp>
        <p:nvSpPr>
          <p:cNvPr id="31" name="body · Claude in Chrome 확장 설치"/>
          <p:cNvSpPr txBox="1"/>
          <p:nvPr/>
        </p:nvSpPr>
        <p:spPr>
          <a:xfrm>
            <a:off x="6797040" y="37886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 in Chrome 확장 설치</a:t>
            </a:r>
          </a:p>
        </p:txBody>
      </p:sp>
      <p:sp>
        <p:nvSpPr>
          <p:cNvPr id="32" name="body · 해당 없음"/>
          <p:cNvSpPr txBox="1"/>
          <p:nvPr/>
        </p:nvSpPr>
        <p:spPr>
          <a:xfrm>
            <a:off x="9649968" y="37886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부르는 법"/>
          <p:cNvSpPr txBox="1"/>
          <p:nvPr/>
        </p:nvSpPr>
        <p:spPr>
          <a:xfrm>
            <a:off x="762000" y="43220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부르는 법</a:t>
            </a:r>
          </a:p>
        </p:txBody>
      </p:sp>
      <p:sp>
        <p:nvSpPr>
          <p:cNvPr id="36" name="body · 그냥 부탁하기"/>
          <p:cNvSpPr txBox="1"/>
          <p:nvPr/>
        </p:nvSpPr>
        <p:spPr>
          <a:xfrm>
            <a:off x="2078735" y="43220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그냥 부탁하기</a:t>
            </a:r>
          </a:p>
        </p:txBody>
      </p:sp>
      <p:sp>
        <p:nvSpPr>
          <p:cNvPr id="37" name="body · 입력창에 @Computer"/>
          <p:cNvSpPr txBox="1"/>
          <p:nvPr/>
        </p:nvSpPr>
        <p:spPr>
          <a:xfrm>
            <a:off x="4383024" y="43220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@Computer</a:t>
            </a:r>
          </a:p>
        </p:txBody>
      </p:sp>
      <p:sp>
        <p:nvSpPr>
          <p:cNvPr id="38" name="body · 입력창에 @browser"/>
          <p:cNvSpPr txBox="1"/>
          <p:nvPr/>
        </p:nvSpPr>
        <p:spPr>
          <a:xfrm>
            <a:off x="6797040" y="43220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@browser</a:t>
            </a:r>
          </a:p>
        </p:txBody>
      </p:sp>
      <p:sp>
        <p:nvSpPr>
          <p:cNvPr id="39" name="body · 해당 없음"/>
          <p:cNvSpPr txBox="1"/>
          <p:nvPr/>
        </p:nvSpPr>
        <p:spPr>
          <a:xfrm>
            <a:off x="9649968" y="43220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0" name="Rectangle 39"/>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1" name="body · Mac에서 더"/>
          <p:cNvSpPr txBox="1"/>
          <p:nvPr/>
        </p:nvSpPr>
        <p:spPr>
          <a:xfrm>
            <a:off x="762000" y="4855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Mac에서 더</a:t>
            </a:r>
          </a:p>
        </p:txBody>
      </p:sp>
      <p:sp>
        <p:nvSpPr>
          <p:cNvPr id="42" name="body · 손쉬운 사용 · 화면 기록 허용"/>
          <p:cNvSpPr txBox="1"/>
          <p:nvPr/>
        </p:nvSpPr>
        <p:spPr>
          <a:xfrm>
            <a:off x="2078735" y="48554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3" name="body · 손쉬운 사용 · 화면 기록 허용"/>
          <p:cNvSpPr txBox="1"/>
          <p:nvPr/>
        </p:nvSpPr>
        <p:spPr>
          <a:xfrm>
            <a:off x="4383024" y="48554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4" name="body · 터미널 claude › /mcp (선택)"/>
          <p:cNvSpPr txBox="1"/>
          <p:nvPr/>
        </p:nvSpPr>
        <p:spPr>
          <a:xfrm>
            <a:off x="6797040" y="4855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 (선택)</a:t>
            </a:r>
          </a:p>
        </p:txBody>
      </p:sp>
      <p:sp>
        <p:nvSpPr>
          <p:cNvPr id="45" name="body · 해당 없음"/>
          <p:cNvSpPr txBox="1"/>
          <p:nvPr/>
        </p:nvSpPr>
        <p:spPr>
          <a:xfrm>
            <a:off x="9649968" y="48554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6" name="Rectangle 45"/>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7" name="body · 오늘 하는 일"/>
          <p:cNvSpPr txBox="1"/>
          <p:nvPr/>
        </p:nvSpPr>
        <p:spPr>
          <a:xfrm>
            <a:off x="762000" y="5388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오늘 하는 일</a:t>
            </a:r>
          </a:p>
        </p:txBody>
      </p:sp>
      <p:sp>
        <p:nvSpPr>
          <p:cNvPr id="48" name="body · 선택 · 학습 끄기·계산기"/>
          <p:cNvSpPr txBox="1"/>
          <p:nvPr/>
        </p:nvSpPr>
        <p:spPr>
          <a:xfrm>
            <a:off x="2078735" y="53888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49" name="body · 선택 · 학습 끄기·계산기"/>
          <p:cNvSpPr txBox="1"/>
          <p:nvPr/>
        </p:nvSpPr>
        <p:spPr>
          <a:xfrm>
            <a:off x="4383024" y="53888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50" name="body · 폴더 안의 파일 실습"/>
          <p:cNvSpPr txBox="1"/>
          <p:nvPr/>
        </p:nvSpPr>
        <p:spPr>
          <a:xfrm>
            <a:off x="6797040" y="5388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1" name="body · 폴더 안의 파일 실습"/>
          <p:cNvSpPr txBox="1"/>
          <p:nvPr/>
        </p:nvSpPr>
        <p:spPr>
          <a:xfrm>
            <a:off x="9649968" y="53888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1 · 내 브라우저에서 학습 설정부터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컴퓨터 사용 1 · 내 브라우저에서 학습 설정부터 끄기</a:t>
            </a:r>
          </a:p>
        </p:txBody>
      </p:sp>
      <p:sp>
        <p:nvSpPr>
          <p:cNvPr id="5" name="subtitle · 컴퓨터 사용이 되면 이것부터 · 안 되면 오전에 본"/>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컴퓨터 사용이 되면 이것부터 · 안 되면 오전에 본 세 화면을 직접 열어 끕니다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평소 쓰는 브라우저만 허용합니다.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냅니다. 끄기 전에 AI가&#10;화면을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보냅니다. 끄기 전에 AI가</a:t>
            </a:r>
          </a:p>
          <a:p>
            <a:pPr algn="l">
              <a:lnSpc>
                <a:spcPts val="2235"/>
              </a:lnSpc>
              <a:spcBef>
                <a:spcPts val="0"/>
              </a:spcBef>
              <a:spcAft>
                <a:spcPts val="0"/>
              </a:spcAft>
            </a:pPr>
            <a:r>
              <a:rPr sz="1620" b="0">
                <a:solidFill>
                  <a:srgbClr val="17221B"/>
                </a:solidFill>
                <a:latin typeface="Noto Sans KR"/>
                <a:ea typeface="Noto Sans KR"/>
                <a:cs typeface="Noto Sans KR"/>
              </a:rPr>
              <a:t>화면을 보여 주면 확인하고 「응, 꺼</a:t>
            </a:r>
          </a:p>
          <a:p>
            <a:pPr algn="l">
              <a:lnSpc>
                <a:spcPts val="2235"/>
              </a:lnSpc>
              <a:spcBef>
                <a:spcPts val="0"/>
              </a:spcBef>
              <a:spcAft>
                <a:spcPts val="0"/>
              </a:spcAft>
            </a:pPr>
            <a:r>
              <a:rPr sz="1620" b="0">
                <a:solidFill>
                  <a:srgbClr val="17221B"/>
                </a:solidFill>
                <a:latin typeface="Noto Sans KR"/>
                <a:ea typeface="Noto Sans KR"/>
                <a:cs typeface="Noto Sans KR"/>
              </a:rPr>
              <a:t>줘」라고 답합니다.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표를 받은 뒤 각 화면을 직접 열어 꺼져&#10;있는지 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표를 받은 뒤 각 화면을 직접 열어 꺼져</a:t>
            </a:r>
          </a:p>
          <a:p>
            <a:pPr algn="l">
              <a:lnSpc>
                <a:spcPts val="2235"/>
              </a:lnSpc>
              <a:spcBef>
                <a:spcPts val="0"/>
              </a:spcBef>
              <a:spcAft>
                <a:spcPts val="0"/>
              </a:spcAft>
            </a:pPr>
            <a:r>
              <a:rPr sz="1620" b="0">
                <a:solidFill>
                  <a:srgbClr val="17221B"/>
                </a:solidFill>
                <a:latin typeface="Noto Sans KR"/>
                <a:ea typeface="Noto Sans KR"/>
                <a:cs typeface="Noto Sans KR"/>
              </a:rPr>
              <a:t>있는지 눈으로 봅니다.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0"/>
          <p:cNvSpPr txBox="1"/>
          <p:nvPr/>
        </p:nvSpPr>
        <p:spPr>
          <a:xfrm>
            <a:off x="768096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P00-0</a:t>
            </a:r>
          </a:p>
        </p:txBody>
      </p:sp>
      <p:sp>
        <p:nvSpPr>
          <p:cNvPr id="22" name="body · 컴퓨터 사용 기능으로 내가 지금 쓰는 웹 브라우저를"/>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 기능으로 내가 지금 쓰는 웹 브라우저를 열어 줘.</a:t>
            </a:r>
          </a:p>
          <a:p>
            <a:pPr algn="l">
              <a:lnSpc>
                <a:spcPts val="2401"/>
              </a:lnSpc>
              <a:spcBef>
                <a:spcPts val="0"/>
              </a:spcBef>
              <a:spcAft>
                <a:spcPts val="0"/>
              </a:spcAft>
            </a:pPr>
            <a:r>
              <a:rPr sz="1739" b="0">
                <a:solidFill>
                  <a:srgbClr val="E4EFE6"/>
                </a:solidFill>
                <a:latin typeface="Noto Sans KR"/>
                <a:ea typeface="Noto Sans KR"/>
                <a:cs typeface="Noto Sans KR"/>
              </a:rPr>
              <a:t>1. 아래 세 화면을 차례로 열어. 로그인 안 된 곳은 건너뛰어.</a:t>
            </a:r>
          </a:p>
          <a:p>
            <a:pPr algn="l">
              <a:lnSpc>
                <a:spcPts val="2401"/>
              </a:lnSpc>
              <a:spcBef>
                <a:spcPts val="0"/>
              </a:spcBef>
              <a:spcAft>
                <a:spcPts val="0"/>
              </a:spcAft>
            </a:pPr>
            <a:r>
              <a:rPr sz="1739" b="0">
                <a:solidFill>
                  <a:srgbClr val="E4EFE6"/>
                </a:solidFill>
                <a:latin typeface="Noto Sans KR"/>
                <a:ea typeface="Noto Sans KR"/>
                <a:cs typeface="Noto Sans KR"/>
              </a:rPr>
              <a:t>   ChatGPT: chatgpt.com/settings/data-controls</a:t>
            </a:r>
          </a:p>
          <a:p>
            <a:pPr algn="l">
              <a:lnSpc>
                <a:spcPts val="2401"/>
              </a:lnSpc>
              <a:spcBef>
                <a:spcPts val="0"/>
              </a:spcBef>
              <a:spcAft>
                <a:spcPts val="0"/>
              </a:spcAft>
            </a:pPr>
            <a:r>
              <a:rPr sz="1739" b="0">
                <a:solidFill>
                  <a:srgbClr val="E4EFE6"/>
                </a:solidFill>
                <a:latin typeface="Noto Sans KR"/>
                <a:ea typeface="Noto Sans KR"/>
                <a:cs typeface="Noto Sans KR"/>
              </a:rPr>
              <a:t>   Claude: claude.ai/settings/data-privacy-controls</a:t>
            </a:r>
          </a:p>
          <a:p>
            <a:pPr algn="l">
              <a:lnSpc>
                <a:spcPts val="2401"/>
              </a:lnSpc>
              <a:spcBef>
                <a:spcPts val="0"/>
              </a:spcBef>
              <a:spcAft>
                <a:spcPts val="0"/>
              </a:spcAft>
            </a:pPr>
            <a:r>
              <a:rPr sz="1739" b="0">
                <a:solidFill>
                  <a:srgbClr val="E4EFE6"/>
                </a:solidFill>
                <a:latin typeface="Noto Sans KR"/>
                <a:ea typeface="Noto Sans KR"/>
                <a:cs typeface="Noto Sans KR"/>
              </a:rPr>
              <a:t>   Gemini: myactivity.google.com/product/gemini</a:t>
            </a:r>
          </a:p>
          <a:p>
            <a:pPr algn="l">
              <a:lnSpc>
                <a:spcPts val="2401"/>
              </a:lnSpc>
              <a:spcBef>
                <a:spcPts val="0"/>
              </a:spcBef>
              <a:spcAft>
                <a:spcPts val="0"/>
              </a:spcAft>
            </a:pPr>
            <a:r>
              <a:rPr sz="1739" b="0">
                <a:solidFill>
                  <a:srgbClr val="E4EFE6"/>
                </a:solidFill>
                <a:latin typeface="Noto Sans KR"/>
                <a:ea typeface="Noto Sans KR"/>
                <a:cs typeface="Noto Sans KR"/>
              </a:rPr>
              <a:t>2. 학습 설정이 켜져 있으면 화면을 보여 주고 내 확인을 받은 뒤 꺼</a:t>
            </a:r>
          </a:p>
          <a:p>
            <a:pPr algn="l">
              <a:lnSpc>
                <a:spcPts val="2401"/>
              </a:lnSpc>
              <a:spcBef>
                <a:spcPts val="0"/>
              </a:spcBef>
              <a:spcAft>
                <a:spcPts val="0"/>
              </a:spcAft>
            </a:pPr>
            <a:r>
              <a:rPr sz="1739" b="0">
                <a:solidFill>
                  <a:srgbClr val="E4EFE6"/>
                </a:solidFill>
                <a:latin typeface="Noto Sans KR"/>
                <a:ea typeface="Noto Sans KR"/>
                <a:cs typeface="Noto Sans KR"/>
              </a:rPr>
              <a:t>줘.</a:t>
            </a:r>
          </a:p>
          <a:p>
            <a:pPr algn="l">
              <a:lnSpc>
                <a:spcPts val="2401"/>
              </a:lnSpc>
              <a:spcBef>
                <a:spcPts val="0"/>
              </a:spcBef>
              <a:spcAft>
                <a:spcPts val="0"/>
              </a:spcAft>
            </a:pPr>
            <a:r>
              <a:rPr sz="1739" b="0">
                <a:solidFill>
                  <a:srgbClr val="E4EFE6"/>
                </a:solidFill>
                <a:latin typeface="Noto Sans KR"/>
                <a:ea typeface="Noto Sans KR"/>
                <a:cs typeface="Noto Sans KR"/>
              </a:rPr>
              <a:t>3. 비밀번호 입력, 결제, 다른 설정은 건드리지 마.</a:t>
            </a:r>
          </a:p>
          <a:p>
            <a:pPr algn="l">
              <a:lnSpc>
                <a:spcPts val="2401"/>
              </a:lnSpc>
              <a:spcBef>
                <a:spcPts val="0"/>
              </a:spcBef>
              <a:spcAft>
                <a:spcPts val="0"/>
              </a:spcAft>
            </a:pPr>
            <a:r>
              <a:rPr sz="1739" b="0">
                <a:solidFill>
                  <a:srgbClr val="E4EFE6"/>
                </a:solidFill>
                <a:latin typeface="Noto Sans KR"/>
                <a:ea typeface="Noto Sans KR"/>
                <a:cs typeface="Noto Sans KR"/>
              </a:rPr>
              <a:t>4. 서비스별로 켜져 있었음·껐음·로그인 안 됨을 표로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화면에서 학습 설정이 꺼져 있으면 됐습니다. 로"/>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화면에서 학습 설정이 꺼져 있으면 됐습니다. 로그인 안 된 곳은 건너뛴 게 맞습니다.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몸풀기 (선택) · 계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 켜져</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 계산기만&#10;허용하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 계산기만</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 이상하면 중지&#10;버튼을 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 이상하면 중지</a:t>
            </a:r>
          </a:p>
          <a:p>
            <a:pPr algn="l">
              <a:lnSpc>
                <a:spcPts val="2235"/>
              </a:lnSpc>
              <a:spcBef>
                <a:spcPts val="0"/>
              </a:spcBef>
              <a:spcAft>
                <a:spcPts val="0"/>
              </a:spcAft>
            </a:pPr>
            <a:r>
              <a:rPr sz="1620" b="0">
                <a:solidFill>
                  <a:srgbClr val="17221B"/>
                </a:solidFill>
                <a:latin typeface="Noto Sans KR"/>
                <a:ea typeface="Noto Sans KR"/>
                <a:cs typeface="Noto Sans KR"/>
              </a:rPr>
              <a:t>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8096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간"/>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 계산기 버튼을</a:t>
            </a:r>
          </a:p>
          <a:p>
            <a:pPr algn="l">
              <a:lnSpc>
                <a:spcPts val="2483"/>
              </a:lnSpc>
              <a:spcBef>
                <a:spcPts val="0"/>
              </a:spcBef>
              <a:spcAft>
                <a:spcPts val="0"/>
              </a:spcAft>
            </a:pPr>
            <a:r>
              <a:rPr sz="1800" b="0">
                <a:solidFill>
                  <a:srgbClr val="E4EFE6"/>
                </a:solidFill>
                <a:latin typeface="Noto Sans KR"/>
                <a:ea typeface="Noto Sans KR"/>
                <a:cs typeface="Noto Sans KR"/>
              </a:rPr>
              <a:t>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a:t>
            </a:r>
          </a:p>
          <a:p>
            <a:pPr algn="l">
              <a:lnSpc>
                <a:spcPts val="2483"/>
              </a:lnSpc>
              <a:spcBef>
                <a:spcPts val="0"/>
              </a:spcBef>
              <a:spcAft>
                <a:spcPts val="0"/>
              </a:spcAft>
            </a:pPr>
            <a:r>
              <a:rPr sz="1800" b="0">
                <a:solidFill>
                  <a:srgbClr val="E4EFE6"/>
                </a:solidFill>
                <a:latin typeface="Noto Sans KR"/>
                <a:ea typeface="Noto Sans KR"/>
                <a:cs typeface="Noto Sans KR"/>
              </a:rPr>
              <a:t>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 어디서</a:t>
            </a:r>
          </a:p>
          <a:p>
            <a:pPr algn="l">
              <a:lnSpc>
                <a:spcPts val="2483"/>
              </a:lnSpc>
              <a:spcBef>
                <a:spcPts val="0"/>
              </a:spcBef>
              <a:spcAft>
                <a:spcPts val="0"/>
              </a:spcAft>
            </a:pPr>
            <a:r>
              <a:rPr sz="1800" b="0">
                <a:solidFill>
                  <a:srgbClr val="E4EFE6"/>
                </a:solidFill>
                <a:latin typeface="Noto Sans KR"/>
                <a:ea typeface="Noto Sans KR"/>
                <a:cs typeface="Noto Sans KR"/>
              </a:rPr>
              <a:t>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 메모장에 가상 안내문 쓰게 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 Mac용 파일을</a:t>
            </a:r>
          </a:p>
          <a:p>
            <a:pPr algn="l">
              <a:lnSpc>
                <a:spcPts val="2235"/>
              </a:lnSpc>
              <a:spcBef>
                <a:spcPts val="0"/>
              </a:spcBef>
              <a:spcAft>
                <a:spcPts val="0"/>
              </a:spcAft>
            </a:pPr>
            <a:r>
              <a:rPr sz="1620" b="0">
                <a:solidFill>
                  <a:srgbClr val="17221B"/>
                </a:solidFill>
                <a:latin typeface="Noto Sans KR"/>
                <a:ea typeface="Noto Sans KR"/>
                <a:cs typeface="Noto Sans KR"/>
              </a:rPr>
              <a:t>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 멈췄는지&#10;확인해 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 멈췄는지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8096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 열고 아래 세 "/>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 열고 아래 세 줄을 입력해</a:t>
            </a:r>
          </a:p>
          <a:p>
            <a:pPr algn="l">
              <a:lnSpc>
                <a:spcPts val="2401"/>
              </a:lnSpc>
              <a:spcBef>
                <a:spcPts val="0"/>
              </a:spcBef>
              <a:spcAft>
                <a:spcPts val="0"/>
              </a:spcAft>
            </a:pPr>
            <a:r>
              <a:rPr sz="1739" b="0">
                <a:solidFill>
                  <a:srgbClr val="E4EFE6"/>
                </a:solidFill>
                <a:latin typeface="Noto Sans KR"/>
                <a:ea typeface="Noto Sans KR"/>
                <a:cs typeface="Noto Sans KR"/>
              </a:rPr>
              <a:t>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 새 문서를 만들 수 없으면</a:t>
            </a:r>
          </a:p>
          <a:p>
            <a:pPr algn="l">
              <a:lnSpc>
                <a:spcPts val="2401"/>
              </a:lnSpc>
              <a:spcBef>
                <a:spcPts val="0"/>
              </a:spcBef>
              <a:spcAft>
                <a:spcPts val="0"/>
              </a:spcAft>
            </a:pPr>
            <a:r>
              <a:rPr sz="1739" b="0">
                <a:solidFill>
                  <a:srgbClr val="E4EFE6"/>
                </a:solidFill>
                <a:latin typeface="Noto Sans KR"/>
                <a:ea typeface="Noto Sans KR"/>
                <a:cs typeface="Noto Sans KR"/>
              </a:rPr>
              <a:t>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막혔을 때 · 연결 점검하고 파일 실습으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 Windows는 그&#10;앱이 화"/>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 Windows는 그</a:t>
            </a:r>
          </a:p>
          <a:p>
            <a:pPr algn="l">
              <a:lnSpc>
                <a:spcPts val="2235"/>
              </a:lnSpc>
              <a:spcBef>
                <a:spcPts val="0"/>
              </a:spcBef>
              <a:spcAft>
                <a:spcPts val="0"/>
              </a:spcAft>
            </a:pPr>
            <a:r>
              <a:rPr sz="1620" b="0">
                <a:solidFill>
                  <a:srgbClr val="17221B"/>
                </a:solidFill>
                <a:latin typeface="Noto Sans KR"/>
                <a:ea typeface="Noto Sans KR"/>
                <a:cs typeface="Noto Sans KR"/>
              </a:rPr>
              <a:t>앱이 화면 앞에 있는지, Mac은 권한을</a:t>
            </a:r>
          </a:p>
          <a:p>
            <a:pPr algn="l">
              <a:lnSpc>
                <a:spcPts val="2235"/>
              </a:lnSpc>
              <a:spcBef>
                <a:spcPts val="0"/>
              </a:spcBef>
              <a:spcAft>
                <a:spcPts val="0"/>
              </a:spcAft>
            </a:pPr>
            <a:r>
              <a:rPr sz="1620" b="0">
                <a:solidFill>
                  <a:srgbClr val="17221B"/>
                </a:solidFill>
                <a:latin typeface="Noto Sans KR"/>
                <a:ea typeface="Noto Sans KR"/>
                <a:cs typeface="Noto Sans KR"/>
              </a:rPr>
              <a:t>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 상태만&#10;확인하고 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 상태만</a:t>
            </a:r>
          </a:p>
          <a:p>
            <a:pPr algn="l">
              <a:lnSpc>
                <a:spcPts val="2235"/>
              </a:lnSpc>
              <a:spcBef>
                <a:spcPts val="0"/>
              </a:spcBef>
              <a:spcAft>
                <a:spcPts val="0"/>
              </a:spcAft>
            </a:pPr>
            <a:r>
              <a:rPr sz="1620" b="0">
                <a:solidFill>
                  <a:srgbClr val="17221B"/>
                </a:solidFill>
                <a:latin typeface="Noto Sans KR"/>
                <a:ea typeface="Noto Sans KR"/>
                <a:cs typeface="Noto Sans KR"/>
              </a:rPr>
              <a:t>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86840"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33600"/>
            <a:ext cx="13868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3608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 못 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 못 한 단계를</a:t>
            </a:r>
          </a:p>
          <a:p>
            <a:pPr algn="l">
              <a:lnSpc>
                <a:spcPts val="2483"/>
              </a:lnSpc>
              <a:spcBef>
                <a:spcPts val="0"/>
              </a:spcBef>
              <a:spcAft>
                <a:spcPts val="0"/>
              </a:spcAft>
            </a:pPr>
            <a:r>
              <a:rPr sz="1800" b="0">
                <a:solidFill>
                  <a:srgbClr val="E4EFE6"/>
                </a:solidFill>
                <a:latin typeface="Noto Sans KR"/>
                <a:ea typeface="Noto Sans KR"/>
                <a:cs typeface="Noto Sans KR"/>
              </a:rPr>
              <a:t>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 화면에서 보이는 메뉴</a:t>
            </a:r>
          </a:p>
          <a:p>
            <a:pPr algn="l">
              <a:lnSpc>
                <a:spcPts val="2483"/>
              </a:lnSpc>
              <a:spcBef>
                <a:spcPts val="0"/>
              </a:spcBef>
              <a:spcAft>
                <a:spcPts val="0"/>
              </a:spcAft>
            </a:pPr>
            <a:r>
              <a:rPr sz="1800" b="0">
                <a:solidFill>
                  <a:srgbClr val="E4EFE6"/>
                </a:solidFill>
                <a:latin typeface="Noto Sans KR"/>
                <a:ea typeface="Noto Sans KR"/>
                <a:cs typeface="Noto Sans KR"/>
              </a:rPr>
              <a:t>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 보안 설정을 대신 바꾸지는</a:t>
            </a:r>
          </a:p>
          <a:p>
            <a:pPr algn="l">
              <a:lnSpc>
                <a:spcPts val="2483"/>
              </a:lnSpc>
              <a:spcBef>
                <a:spcPts val="0"/>
              </a:spcBef>
              <a:spcAft>
                <a:spcPts val="0"/>
              </a:spcAft>
            </a:pPr>
            <a:r>
              <a:rPr sz="1800" b="0">
                <a:solidFill>
                  <a:srgbClr val="E4EFE6"/>
                </a:solidFill>
                <a:latin typeface="Noto Sans KR"/>
                <a:ea typeface="Noto Sans KR"/>
                <a:cs typeface="Noto Sans KR"/>
              </a:rPr>
              <a:t>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 말하지 말고 여기서 멈춰</a:t>
            </a:r>
          </a:p>
          <a:p>
            <a:pPr algn="l">
              <a:lnSpc>
                <a:spcPts val="2483"/>
              </a:lnSpc>
              <a:spcBef>
                <a:spcPts val="0"/>
              </a:spcBef>
              <a:spcAft>
                <a:spcPts val="0"/>
              </a:spcAft>
            </a:pPr>
            <a:r>
              <a:rPr sz="1800" b="0">
                <a:solidFill>
                  <a:srgbClr val="E4EFE6"/>
                </a:solidFill>
                <a:latin typeface="Noto Sans KR"/>
                <a:ea typeface="Noto Sans KR"/>
                <a:cs typeface="Noto Sans KR"/>
              </a:rPr>
              <a:t>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311581"/>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결과 폴더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 1쪽 보고를&#10;열어 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 1쪽 보고를</a:t>
            </a:r>
          </a:p>
          <a:p>
            <a:pPr algn="l">
              <a:lnSpc>
                <a:spcPts val="2235"/>
              </a:lnSpc>
              <a:spcBef>
                <a:spcPts val="0"/>
              </a:spcBef>
              <a:spcAft>
                <a:spcPts val="0"/>
              </a:spcAft>
            </a:pPr>
            <a:r>
              <a:rPr sz="1620" b="0">
                <a:solidFill>
                  <a:srgbClr val="17221B"/>
                </a:solidFill>
                <a:latin typeface="Noto Sans KR"/>
                <a:ea typeface="Noto Sans KR"/>
                <a:cs typeface="Noto Sans KR"/>
              </a:rPr>
              <a:t>열어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선택 실습 D(MCP)를 한 분만:&#10;지식보관함/결과"/>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선택 실습 D(MCP)를 한 분만:</a:t>
            </a:r>
          </a:p>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지식보관함/결과노트의 새 공지를 열고,</a:t>
            </a:r>
          </a:p>
          <a:p>
            <a:pPr algn="l">
              <a:lnSpc>
                <a:spcPts val="2235"/>
              </a:lnSpc>
              <a:spcBef>
                <a:spcPts val="0"/>
              </a:spcBef>
              <a:spcAft>
                <a:spcPts val="0"/>
              </a:spcAft>
            </a:pPr>
            <a:r>
              <a:rPr sz="1620" b="0">
                <a:solidFill>
                  <a:srgbClr val="17221B"/>
                </a:solidFill>
                <a:latin typeface="Noto Sans KR"/>
                <a:ea typeface="Noto Sans KR"/>
                <a:cs typeface="Noto Sans KR"/>
              </a:rPr>
              <a:t>P12 요청문으로 연결을 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못 끝낸 단계와 다음에 해 볼 일 하나를&#10;메모해 두"/>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못 끝낸 단계와 다음에 해 볼 일 하나를</a:t>
            </a:r>
          </a:p>
          <a:p>
            <a:pPr algn="l">
              <a:lnSpc>
                <a:spcPts val="2235"/>
              </a:lnSpc>
              <a:spcBef>
                <a:spcPts val="0"/>
              </a:spcBef>
              <a:spcAft>
                <a:spcPts val="0"/>
              </a:spcAft>
            </a:pPr>
            <a:r>
              <a:rPr sz="1620" b="0">
                <a:solidFill>
                  <a:srgbClr val="17221B"/>
                </a:solidFill>
                <a:latin typeface="Noto Sans KR"/>
                <a:ea typeface="Noto Sans KR"/>
                <a:cs typeface="Noto Sans KR"/>
              </a:rPr>
              <a:t>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를 직접 확인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숫자를 직접 확인했으면 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311581"/>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수고하셨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 해 볼 일 하나만 정해&#10;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 해 볼 일 하나만 정해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 넣지&#10;마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 넣지</a:t>
            </a:r>
          </a:p>
          <a:p>
            <a:pPr algn="l">
              <a:lnSpc>
                <a:spcPts val="2235"/>
              </a:lnSpc>
              <a:spcBef>
                <a:spcPts val="0"/>
              </a:spcBef>
              <a:spcAft>
                <a:spcPts val="0"/>
              </a:spcAft>
            </a:pPr>
            <a:r>
              <a:rPr sz="1620" b="0">
                <a:solidFill>
                  <a:srgbClr val="17221B"/>
                </a:solidFill>
                <a:latin typeface="Noto Sans KR"/>
                <a:ea typeface="Noto Sans KR"/>
                <a:cs typeface="Noto Sans KR"/>
              </a:rPr>
              <a:t>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 언제든&#10;물어보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 언제든</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